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4"/>
    <p:sldMasterId id="214748366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y="5143500" cx="9144000"/>
  <p:notesSz cx="6858000" cy="9144000"/>
  <p:embeddedFontLst>
    <p:embeddedFont>
      <p:font typeface="Roboto Mono"/>
      <p:regular r:id="rId22"/>
      <p:bold r:id="rId23"/>
      <p:italic r:id="rId24"/>
      <p:boldItalic r:id="rId2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font" Target="fonts/RobotoMono-regular.fntdata"/><Relationship Id="rId21" Type="http://schemas.openxmlformats.org/officeDocument/2006/relationships/slide" Target="slides/slide15.xml"/><Relationship Id="rId24" Type="http://schemas.openxmlformats.org/officeDocument/2006/relationships/font" Target="fonts/RobotoMono-italic.fntdata"/><Relationship Id="rId23" Type="http://schemas.openxmlformats.org/officeDocument/2006/relationships/font" Target="fonts/RobotoMono-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5" Type="http://schemas.openxmlformats.org/officeDocument/2006/relationships/font" Target="fonts/RobotoMono-boldItalic.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g3ce709c0a8d_2_2: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 name="Google Shape;54;g3ce709c0a8d_2_2: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“Hi everyone. This presentation looks at NBA clutch performance in the 2024–25 regular season. In basketball, people often describe teams as clutch, but that idea is usually based on reputation or memorable moments, so, we wanted to study it statistically using team level data.</a:t>
            </a:r>
            <a:endParaRPr/>
          </a:p>
        </p:txBody>
      </p:sp>
      <p:sp>
        <p:nvSpPr>
          <p:cNvPr id="55" name="Google Shape;55;g3ce709c0a8d_2_2: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ce709c0a8d_2_29: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 name="Google Shape;70;g3ce709c0a8d_2_29: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“We are big NBA fans. What interested us about this topic is to see if overall team quality correlates to high-pressure performance. Over a full season, a team’s record tells us how good they are in general, but close late-game situations can feel very different from normal game flow. In clutch moments, a few metrics become more valuable. That makes clutch performance an interesting question statistically: are the teams that succeed late simply the best teams overall, or do some teams perform differently when the pressure increases? This project is built around that idea. Instead of treating clutch play as just a narrative, we analyze it as a measurable team-level phenomenon and look for patterns that help explain it.”</a:t>
            </a:r>
            <a:endParaRPr/>
          </a:p>
        </p:txBody>
      </p:sp>
      <p:sp>
        <p:nvSpPr>
          <p:cNvPr id="71" name="Google Shape;71;g3ce709c0a8d_2_29: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ce709c0a8d_2_52: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0" name="Google Shape;90;g3ce709c0a8d_2_52: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 That definition matters because it turns a common basketball term into a measurable entity.. The slide also shows that clutch situations are not rare edge cases. On average, teams played around 37 clutch games during the 2024–25 season, although the number ranged from 24 to 46 depending on the team. So this gives us a meaningful amount of data rather than just a few isolated moments. </a:t>
            </a:r>
            <a:endParaRPr/>
          </a:p>
        </p:txBody>
      </p:sp>
      <p:sp>
        <p:nvSpPr>
          <p:cNvPr id="91" name="Google Shape;91;g3ce709c0a8d_2_52: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ce709c0a8d_2_82: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1" name="Google Shape;121;g3ce709c0a8d_2_82: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“On this slide, I summarize the full workflow used in the project. First, for data collection, I used the </a:t>
            </a:r>
            <a:r>
              <a:rPr lang="en-GB">
                <a:solidFill>
                  <a:srgbClr val="188038"/>
                </a:solidFill>
                <a:latin typeface="Roboto Mono"/>
                <a:ea typeface="Roboto Mono"/>
                <a:cs typeface="Roboto Mono"/>
                <a:sym typeface="Roboto Mono"/>
              </a:rPr>
              <a:t>nba_api</a:t>
            </a:r>
            <a:r>
              <a:rPr lang="en-GB">
                <a:solidFill>
                  <a:schemeClr val="dk1"/>
                </a:solidFill>
              </a:rPr>
              <a:t> Python library, which is a Python wrapper that lets you access NBA.com stats endpoints programmatically instead of copying tables manually from the website. I used it to pull three team-level datasets: Clutch Traditional, Clutch Four Factors, and Regular-Season Traditional statistics. Once the data was collected, it was loaded into pandas DataFrames, which are table-like data structures in Python used for cleaning, transforming, merging, and analyzing data. During cleaning, I kept only the columns relevant to the research questions and removed fields like ranking columns, identifiers such as </a:t>
            </a:r>
            <a:r>
              <a:rPr lang="en-GB">
                <a:solidFill>
                  <a:srgbClr val="188038"/>
                </a:solidFill>
                <a:latin typeface="Roboto Mono"/>
                <a:ea typeface="Roboto Mono"/>
                <a:cs typeface="Roboto Mono"/>
                <a:sym typeface="Roboto Mono"/>
              </a:rPr>
              <a:t>TEAM_ID</a:t>
            </a:r>
            <a:r>
              <a:rPr lang="en-GB">
                <a:solidFill>
                  <a:schemeClr val="dk1"/>
                </a:solidFill>
              </a:rPr>
              <a:t>, and unused raw or opponent-based statistics. The Four Factors dataset specifically included effective field goal percentage, turnover percentage, offensive rebounding percentage, and free-throw rate. After cleaning, I merged the datasets using an inner join on team name, producing one final team-level dataset for all 30 teams. Finally, I used correlation analysis and visualizations. A correlation analysis measures how strongly two variables move together, so it helped identify which clutch metrics were most positively or negatively associated with clutch success.”</a:t>
            </a:r>
            <a:endParaRPr/>
          </a:p>
          <a:p>
            <a:pPr indent="0" lvl="0" marL="0" rtl="0" algn="l">
              <a:spcBef>
                <a:spcPts val="1200"/>
              </a:spcBef>
              <a:spcAft>
                <a:spcPts val="0"/>
              </a:spcAft>
              <a:buNone/>
            </a:pPr>
            <a:r>
              <a:t/>
            </a:r>
            <a:endParaRPr/>
          </a:p>
        </p:txBody>
      </p:sp>
      <p:sp>
        <p:nvSpPr>
          <p:cNvPr id="122" name="Google Shape;122;g3ce709c0a8d_2_82: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c592fda0bb_1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3c592fda0bb_1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“This slide shows the final merged dataset that was used for the analysis and visualizations. Each row represents one NBA team, so the final file contains all 30 teams from the 2024–25 regular season. The columns combine clutch metrics, regular-season metrics, and clutch four-factor variables into a single table. That means the dataset includes measures such as clutch win percentage, clutch shooting efficiency, turnover-related variables, free-throw metrics, and the corresponding regular-season statistics for comparison. Structuring the data this way made it possible to answer all three research questions using one consistent dataset.</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ce709c0a8d_2_118: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8" name="Google Shape;168;g3ce709c0a8d_2_118: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GB" sz="1200">
                <a:solidFill>
                  <a:schemeClr val="dk1"/>
                </a:solidFill>
              </a:rPr>
              <a:t>This slide summarizes the three research questions. The first question asks whether the NBA’s best regular-season teams are also the most successful teams in clutch situations. That helps establish whether clutch success is mostly an extension of overall team quality. The second question looks deeper and asks which team-level factors most strongly explain clutch success, with a focus on variables like shooting efficiency, turnovers, rebounding, and free-throw generation. This is where the analysis becomes more explanatory rather than just comparative. The third question shifts to regular-season versus clutch shooting efficiency among the top clutch teams, asking whether these teams become more or less efficient under pressure. Together, the three questions move from broad comparison, to identifying important factors, to examining how performance changes specifically in clutch situations.</a:t>
            </a:r>
            <a:endParaRPr sz="1200">
              <a:solidFill>
                <a:schemeClr val="dk1"/>
              </a:solidFill>
            </a:endParaRPr>
          </a:p>
          <a:p>
            <a:pPr indent="0" lvl="0" marL="0" rtl="0" algn="l">
              <a:spcBef>
                <a:spcPts val="1200"/>
              </a:spcBef>
              <a:spcAft>
                <a:spcPts val="0"/>
              </a:spcAft>
              <a:buNone/>
            </a:pPr>
            <a:r>
              <a:t/>
            </a:r>
            <a:endParaRPr sz="1200"/>
          </a:p>
        </p:txBody>
      </p:sp>
      <p:sp>
        <p:nvSpPr>
          <p:cNvPr id="169" name="Google Shape;169;g3ce709c0a8d_2_118: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ce709c0a8d_2_156: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1" name="Google Shape;201;g3ce709c0a8d_2_156: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1E3A6E"/>
              </a:buClr>
              <a:buSzPts val="1150"/>
              <a:buFont typeface="Calibri"/>
              <a:buNone/>
            </a:pPr>
            <a:r>
              <a:t/>
            </a:r>
            <a:endParaRPr/>
          </a:p>
        </p:txBody>
      </p:sp>
      <p:sp>
        <p:nvSpPr>
          <p:cNvPr id="202" name="Google Shape;202;g3ce709c0a8d_2_156: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3ce709c0a8d_2_169: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1" name="Google Shape;211;g3ce709c0a8d_2_169: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150"/>
              <a:buNone/>
            </a:pPr>
            <a:r>
              <a:t/>
            </a:r>
            <a:endParaRPr sz="1150">
              <a:solidFill>
                <a:srgbClr val="444444"/>
              </a:solidFill>
              <a:latin typeface="Calibri"/>
              <a:ea typeface="Calibri"/>
              <a:cs typeface="Calibri"/>
              <a:sym typeface="Calibri"/>
            </a:endParaRPr>
          </a:p>
        </p:txBody>
      </p:sp>
      <p:sp>
        <p:nvSpPr>
          <p:cNvPr id="212" name="Google Shape;212;g3ce709c0a8d_2_169: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3ce709c0a8d_2_182: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2" name="Google Shape;222;g3ce709c0a8d_2_182: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SzPts val="1100"/>
              <a:buNone/>
            </a:pPr>
            <a:r>
              <a:rPr lang="en-GB"/>
              <a:t>This is</a:t>
            </a:r>
            <a:r>
              <a:rPr lang="en-GB"/>
              <a:t> a Pearson correlation matrix that shows how strongly every pair of clutch-time statistics is related to each other.</a:t>
            </a:r>
            <a:endParaRPr/>
          </a:p>
          <a:p>
            <a:pPr indent="0" lvl="0" marL="0" rtl="0" algn="l">
              <a:lnSpc>
                <a:spcPct val="115000"/>
              </a:lnSpc>
              <a:spcBef>
                <a:spcPts val="1200"/>
              </a:spcBef>
              <a:spcAft>
                <a:spcPts val="0"/>
              </a:spcAft>
              <a:buSzPts val="1100"/>
              <a:buNone/>
            </a:pPr>
            <a:r>
              <a:rPr b="1" lang="en-GB">
                <a:solidFill>
                  <a:schemeClr val="dk1"/>
                </a:solidFill>
              </a:rPr>
              <a:t>Strongest POSITIVE relationships with clutch win percentage</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GB">
                <a:solidFill>
                  <a:schemeClr val="dk1"/>
                </a:solidFill>
              </a:rPr>
              <a:t>clutch_efg_pct (effective field-goal %) → r = +0.51 ← </a:t>
            </a:r>
            <a:r>
              <a:rPr b="1" i="1" lang="en-GB">
                <a:solidFill>
                  <a:schemeClr val="dk1"/>
                </a:solidFill>
              </a:rPr>
              <a:t>strongest driver</a:t>
            </a:r>
            <a:endParaRPr b="1" i="1">
              <a:solidFill>
                <a:schemeClr val="dk1"/>
              </a:solidFill>
            </a:endParaRPr>
          </a:p>
          <a:p>
            <a:pPr indent="-298450" lvl="0" marL="457200" rtl="0" algn="l">
              <a:lnSpc>
                <a:spcPct val="115000"/>
              </a:lnSpc>
              <a:spcBef>
                <a:spcPts val="0"/>
              </a:spcBef>
              <a:spcAft>
                <a:spcPts val="0"/>
              </a:spcAft>
              <a:buClr>
                <a:schemeClr val="dk1"/>
              </a:buClr>
              <a:buSzPts val="1100"/>
              <a:buChar char="●"/>
            </a:pPr>
            <a:r>
              <a:rPr b="1" lang="en-GB">
                <a:solidFill>
                  <a:schemeClr val="dk1"/>
                </a:solidFill>
              </a:rPr>
              <a:t>clutch_3p_pct</a:t>
            </a:r>
            <a:r>
              <a:rPr lang="en-GB">
                <a:solidFill>
                  <a:schemeClr val="dk1"/>
                </a:solidFill>
              </a:rPr>
              <a:t> (three-point %) → </a:t>
            </a:r>
            <a:r>
              <a:rPr b="1" lang="en-GB">
                <a:solidFill>
                  <a:schemeClr val="dk1"/>
                </a:solidFill>
              </a:rPr>
              <a:t>r = +0.41</a:t>
            </a:r>
            <a:endParaRPr b="1">
              <a:solidFill>
                <a:schemeClr val="dk1"/>
              </a:solidFill>
            </a:endParaRPr>
          </a:p>
          <a:p>
            <a:pPr indent="-298450" lvl="0" marL="457200" rtl="0" algn="l">
              <a:lnSpc>
                <a:spcPct val="115000"/>
              </a:lnSpc>
              <a:spcBef>
                <a:spcPts val="0"/>
              </a:spcBef>
              <a:spcAft>
                <a:spcPts val="0"/>
              </a:spcAft>
              <a:buClr>
                <a:schemeClr val="dk1"/>
              </a:buClr>
              <a:buSzPts val="1100"/>
              <a:buChar char="●"/>
            </a:pPr>
            <a:r>
              <a:rPr b="1" lang="en-GB">
                <a:solidFill>
                  <a:schemeClr val="dk1"/>
                </a:solidFill>
              </a:rPr>
              <a:t>clutch_fg_pct</a:t>
            </a:r>
            <a:r>
              <a:rPr lang="en-GB">
                <a:solidFill>
                  <a:schemeClr val="dk1"/>
                </a:solidFill>
              </a:rPr>
              <a:t> (field-goal %) → </a:t>
            </a:r>
            <a:r>
              <a:rPr b="1" lang="en-GB">
                <a:solidFill>
                  <a:schemeClr val="dk1"/>
                </a:solidFill>
              </a:rPr>
              <a:t>r = +0.40</a:t>
            </a:r>
            <a:endParaRPr b="1">
              <a:solidFill>
                <a:schemeClr val="dk1"/>
              </a:solidFill>
            </a:endParaRPr>
          </a:p>
          <a:p>
            <a:pPr indent="-298450" lvl="0" marL="457200" rtl="0" algn="l">
              <a:lnSpc>
                <a:spcPct val="115000"/>
              </a:lnSpc>
              <a:spcBef>
                <a:spcPts val="0"/>
              </a:spcBef>
              <a:spcAft>
                <a:spcPts val="0"/>
              </a:spcAft>
              <a:buClr>
                <a:schemeClr val="dk1"/>
              </a:buClr>
              <a:buSzPts val="1100"/>
              <a:buChar char="●"/>
            </a:pPr>
            <a:r>
              <a:rPr b="1" lang="en-GB">
                <a:solidFill>
                  <a:schemeClr val="dk1"/>
                </a:solidFill>
              </a:rPr>
              <a:t>clutch_ft_rate</a:t>
            </a:r>
            <a:r>
              <a:rPr lang="en-GB">
                <a:solidFill>
                  <a:schemeClr val="dk1"/>
                </a:solidFill>
              </a:rPr>
              <a:t> (free-throw rate) → </a:t>
            </a:r>
            <a:r>
              <a:rPr b="1" lang="en-GB">
                <a:solidFill>
                  <a:schemeClr val="dk1"/>
                </a:solidFill>
              </a:rPr>
              <a:t>r = +0.39</a:t>
            </a:r>
            <a:endParaRPr b="1">
              <a:solidFill>
                <a:schemeClr val="dk1"/>
              </a:solidFill>
            </a:endParaRPr>
          </a:p>
          <a:p>
            <a:pPr indent="-298450" lvl="0" marL="457200" rtl="0" algn="l">
              <a:lnSpc>
                <a:spcPct val="115000"/>
              </a:lnSpc>
              <a:spcBef>
                <a:spcPts val="0"/>
              </a:spcBef>
              <a:spcAft>
                <a:spcPts val="0"/>
              </a:spcAft>
              <a:buClr>
                <a:schemeClr val="dk1"/>
              </a:buClr>
              <a:buSzPts val="1100"/>
              <a:buChar char="●"/>
            </a:pPr>
            <a:r>
              <a:rPr b="1" lang="en-GB">
                <a:solidFill>
                  <a:schemeClr val="dk1"/>
                </a:solidFill>
              </a:rPr>
              <a:t>clutch_fta</a:t>
            </a:r>
            <a:r>
              <a:rPr lang="en-GB">
                <a:solidFill>
                  <a:schemeClr val="dk1"/>
                </a:solidFill>
              </a:rPr>
              <a:t> (free-throw attempts) → </a:t>
            </a:r>
            <a:r>
              <a:rPr b="1" lang="en-GB">
                <a:solidFill>
                  <a:schemeClr val="dk1"/>
                </a:solidFill>
              </a:rPr>
              <a:t>r = +0.31</a:t>
            </a:r>
            <a:endParaRPr b="1">
              <a:solidFill>
                <a:schemeClr val="dk1"/>
              </a:solidFill>
            </a:endParaRPr>
          </a:p>
          <a:p>
            <a:pPr indent="0" lvl="0" marL="0" rtl="0" algn="l">
              <a:lnSpc>
                <a:spcPct val="115000"/>
              </a:lnSpc>
              <a:spcBef>
                <a:spcPts val="1200"/>
              </a:spcBef>
              <a:spcAft>
                <a:spcPts val="0"/>
              </a:spcAft>
              <a:buSzPts val="1100"/>
              <a:buNone/>
            </a:pPr>
            <a:r>
              <a:rPr b="1" lang="en-GB">
                <a:solidFill>
                  <a:schemeClr val="dk1"/>
                </a:solidFill>
              </a:rPr>
              <a:t>Translation</a:t>
            </a:r>
            <a:r>
              <a:rPr lang="en-GB">
                <a:solidFill>
                  <a:schemeClr val="dk1"/>
                </a:solidFill>
              </a:rPr>
              <a:t>: Shooting efficiency (especially effective Field Goal% and 3-point shooting) is the single biggest statistical predictor of winning close games.</a:t>
            </a:r>
            <a:endParaRPr>
              <a:solidFill>
                <a:schemeClr val="dk1"/>
              </a:solidFill>
            </a:endParaRPr>
          </a:p>
          <a:p>
            <a:pPr indent="0" lvl="0" marL="0" rtl="0" algn="l">
              <a:lnSpc>
                <a:spcPct val="115000"/>
              </a:lnSpc>
              <a:spcBef>
                <a:spcPts val="1200"/>
              </a:spcBef>
              <a:spcAft>
                <a:spcPts val="0"/>
              </a:spcAft>
              <a:buSzPts val="1100"/>
              <a:buNone/>
            </a:pPr>
            <a:r>
              <a:rPr b="1" lang="en-GB">
                <a:solidFill>
                  <a:schemeClr val="dk1"/>
                </a:solidFill>
              </a:rPr>
              <a:t>Strongest NEGATIVE relationships with clutch win percentage</a:t>
            </a:r>
            <a:endParaRPr b="1">
              <a:solidFill>
                <a:schemeClr val="dk1"/>
              </a:solidFill>
            </a:endParaRPr>
          </a:p>
          <a:p>
            <a:pPr indent="0" lvl="0" marL="0" rtl="0" algn="l">
              <a:lnSpc>
                <a:spcPct val="115000"/>
              </a:lnSpc>
              <a:spcBef>
                <a:spcPts val="1200"/>
              </a:spcBef>
              <a:spcAft>
                <a:spcPts val="0"/>
              </a:spcAft>
              <a:buSzPts val="1100"/>
              <a:buNone/>
            </a:pPr>
            <a:r>
              <a:rPr lang="en-GB">
                <a:solidFill>
                  <a:schemeClr val="dk1"/>
                </a:solidFill>
              </a:rPr>
              <a:t>These are the factors that </a:t>
            </a:r>
            <a:r>
              <a:rPr b="1" lang="en-GB">
                <a:solidFill>
                  <a:schemeClr val="dk1"/>
                </a:solidFill>
              </a:rPr>
              <a:t>hurt</a:t>
            </a:r>
            <a:r>
              <a:rPr lang="en-GB">
                <a:solidFill>
                  <a:schemeClr val="dk1"/>
                </a:solidFill>
              </a:rPr>
              <a:t> teams in clutch moments:</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GB">
                <a:solidFill>
                  <a:schemeClr val="dk1"/>
                </a:solidFill>
              </a:rPr>
              <a:t>clutch_tov</a:t>
            </a:r>
            <a:r>
              <a:rPr lang="en-GB">
                <a:solidFill>
                  <a:schemeClr val="dk1"/>
                </a:solidFill>
              </a:rPr>
              <a:t> (turnovers) turnovers mean ball lost by steal or a bad pass → </a:t>
            </a:r>
            <a:r>
              <a:rPr b="1" lang="en-GB">
                <a:solidFill>
                  <a:schemeClr val="dk1"/>
                </a:solidFill>
              </a:rPr>
              <a:t>r = -0.50</a:t>
            </a:r>
            <a:r>
              <a:rPr lang="en-GB">
                <a:solidFill>
                  <a:schemeClr val="dk1"/>
                </a:solidFill>
              </a:rPr>
              <a:t> ← </a:t>
            </a:r>
            <a:r>
              <a:rPr i="1" lang="en-GB">
                <a:solidFill>
                  <a:schemeClr val="dk1"/>
                </a:solidFill>
              </a:rPr>
              <a:t>strongest killer</a:t>
            </a:r>
            <a:endParaRPr i="1">
              <a:solidFill>
                <a:schemeClr val="dk1"/>
              </a:solidFill>
            </a:endParaRPr>
          </a:p>
          <a:p>
            <a:pPr indent="-298450" lvl="0" marL="457200" rtl="0" algn="l">
              <a:lnSpc>
                <a:spcPct val="115000"/>
              </a:lnSpc>
              <a:spcBef>
                <a:spcPts val="0"/>
              </a:spcBef>
              <a:spcAft>
                <a:spcPts val="0"/>
              </a:spcAft>
              <a:buClr>
                <a:schemeClr val="dk1"/>
              </a:buClr>
              <a:buSzPts val="1100"/>
              <a:buChar char="●"/>
            </a:pPr>
            <a:r>
              <a:rPr b="1" lang="en-GB">
                <a:solidFill>
                  <a:schemeClr val="dk1"/>
                </a:solidFill>
              </a:rPr>
              <a:t>clutch_tov_pct</a:t>
            </a:r>
            <a:r>
              <a:rPr lang="en-GB">
                <a:solidFill>
                  <a:schemeClr val="dk1"/>
                </a:solidFill>
              </a:rPr>
              <a:t> (turnover rate) → </a:t>
            </a:r>
            <a:r>
              <a:rPr b="1" lang="en-GB">
                <a:solidFill>
                  <a:schemeClr val="dk1"/>
                </a:solidFill>
              </a:rPr>
              <a:t>r = -0.47</a:t>
            </a:r>
            <a:endParaRPr b="1">
              <a:solidFill>
                <a:schemeClr val="dk1"/>
              </a:solidFill>
            </a:endParaRPr>
          </a:p>
          <a:p>
            <a:pPr indent="-298450" lvl="0" marL="457200" rtl="0" algn="l">
              <a:lnSpc>
                <a:spcPct val="115000"/>
              </a:lnSpc>
              <a:spcBef>
                <a:spcPts val="0"/>
              </a:spcBef>
              <a:spcAft>
                <a:spcPts val="0"/>
              </a:spcAft>
              <a:buClr>
                <a:schemeClr val="dk1"/>
              </a:buClr>
              <a:buSzPts val="1100"/>
              <a:buChar char="●"/>
            </a:pPr>
            <a:r>
              <a:rPr b="1" lang="en-GB">
                <a:solidFill>
                  <a:schemeClr val="dk1"/>
                </a:solidFill>
              </a:rPr>
              <a:t>clutch_reb</a:t>
            </a:r>
            <a:r>
              <a:rPr lang="en-GB">
                <a:solidFill>
                  <a:schemeClr val="dk1"/>
                </a:solidFill>
              </a:rPr>
              <a:t> (rebounds) → </a:t>
            </a:r>
            <a:r>
              <a:rPr b="1" lang="en-GB">
                <a:solidFill>
                  <a:schemeClr val="dk1"/>
                </a:solidFill>
              </a:rPr>
              <a:t>r = -0.20</a:t>
            </a:r>
            <a:endParaRPr b="1">
              <a:solidFill>
                <a:schemeClr val="dk1"/>
              </a:solidFill>
            </a:endParaRPr>
          </a:p>
          <a:p>
            <a:pPr indent="-298450" lvl="0" marL="457200" rtl="0" algn="l">
              <a:lnSpc>
                <a:spcPct val="115000"/>
              </a:lnSpc>
              <a:spcBef>
                <a:spcPts val="0"/>
              </a:spcBef>
              <a:spcAft>
                <a:spcPts val="0"/>
              </a:spcAft>
              <a:buClr>
                <a:schemeClr val="dk1"/>
              </a:buClr>
              <a:buSzPts val="1100"/>
              <a:buChar char="●"/>
            </a:pPr>
            <a:r>
              <a:rPr b="1" lang="en-GB">
                <a:solidFill>
                  <a:schemeClr val="dk1"/>
                </a:solidFill>
              </a:rPr>
              <a:t>clutch_orb_pct</a:t>
            </a:r>
            <a:r>
              <a:rPr lang="en-GB">
                <a:solidFill>
                  <a:schemeClr val="dk1"/>
                </a:solidFill>
              </a:rPr>
              <a:t> (offensive rebound %) → </a:t>
            </a:r>
            <a:r>
              <a:rPr b="1" lang="en-GB">
                <a:solidFill>
                  <a:schemeClr val="dk1"/>
                </a:solidFill>
              </a:rPr>
              <a:t>r = -0.11</a:t>
            </a:r>
            <a:endParaRPr b="1">
              <a:solidFill>
                <a:schemeClr val="dk1"/>
              </a:solidFill>
            </a:endParaRPr>
          </a:p>
          <a:p>
            <a:pPr indent="0" lvl="0" marL="0" rtl="0" algn="l">
              <a:lnSpc>
                <a:spcPct val="115000"/>
              </a:lnSpc>
              <a:spcBef>
                <a:spcPts val="1200"/>
              </a:spcBef>
              <a:spcAft>
                <a:spcPts val="0"/>
              </a:spcAft>
              <a:buSzPts val="1100"/>
              <a:buNone/>
            </a:pPr>
            <a:r>
              <a:rPr b="1" lang="en-GB">
                <a:solidFill>
                  <a:schemeClr val="dk1"/>
                </a:solidFill>
              </a:rPr>
              <a:t>Translation</a:t>
            </a:r>
            <a:r>
              <a:rPr lang="en-GB">
                <a:solidFill>
                  <a:schemeClr val="dk1"/>
                </a:solidFill>
              </a:rPr>
              <a:t>: Ball security matters a lot. Every extra turnover (Ball lost) in clutch time is heavily punished. </a:t>
            </a:r>
            <a:r>
              <a:rPr b="1" lang="en-GB">
                <a:solidFill>
                  <a:schemeClr val="dk1"/>
                </a:solidFill>
              </a:rPr>
              <a:t>Rebounding</a:t>
            </a:r>
            <a:r>
              <a:rPr lang="en-GB">
                <a:solidFill>
                  <a:schemeClr val="dk1"/>
                </a:solidFill>
              </a:rPr>
              <a:t>, surprisingly, has almost no relationship with clutch success.</a:t>
            </a:r>
            <a:endParaRPr>
              <a:solidFill>
                <a:schemeClr val="dk1"/>
              </a:solidFill>
            </a:endParaRPr>
          </a:p>
          <a:p>
            <a:pPr indent="0" lvl="0" marL="0" rtl="0" algn="l">
              <a:lnSpc>
                <a:spcPct val="115000"/>
              </a:lnSpc>
              <a:spcBef>
                <a:spcPts val="1200"/>
              </a:spcBef>
              <a:spcAft>
                <a:spcPts val="0"/>
              </a:spcAft>
              <a:buSzPts val="1100"/>
              <a:buNone/>
            </a:pPr>
            <a:r>
              <a:t/>
            </a:r>
            <a:endParaRPr>
              <a:solidFill>
                <a:schemeClr val="dk1"/>
              </a:solidFill>
            </a:endParaRPr>
          </a:p>
          <a:p>
            <a:pPr indent="0" lvl="0" marL="0" rtl="0" algn="l">
              <a:lnSpc>
                <a:spcPct val="115000"/>
              </a:lnSpc>
              <a:spcBef>
                <a:spcPts val="1200"/>
              </a:spcBef>
              <a:spcAft>
                <a:spcPts val="0"/>
              </a:spcAft>
              <a:buSzPts val="1100"/>
              <a:buNone/>
            </a:pPr>
            <a:r>
              <a:t/>
            </a:r>
            <a:endParaRPr>
              <a:solidFill>
                <a:schemeClr val="dk1"/>
              </a:solidFill>
            </a:endParaRPr>
          </a:p>
          <a:p>
            <a:pPr indent="0" lvl="0" marL="0" rtl="0" algn="l">
              <a:lnSpc>
                <a:spcPct val="115000"/>
              </a:lnSpc>
              <a:spcBef>
                <a:spcPts val="1200"/>
              </a:spcBef>
              <a:spcAft>
                <a:spcPts val="0"/>
              </a:spcAft>
              <a:buSzPts val="1100"/>
              <a:buNone/>
            </a:pPr>
            <a:r>
              <a:t/>
            </a:r>
            <a:endParaRPr>
              <a:solidFill>
                <a:schemeClr val="dk1"/>
              </a:solidFill>
            </a:endParaRPr>
          </a:p>
          <a:p>
            <a:pPr indent="0" lvl="0" marL="0" rtl="0" algn="l">
              <a:lnSpc>
                <a:spcPct val="115000"/>
              </a:lnSpc>
              <a:spcBef>
                <a:spcPts val="1200"/>
              </a:spcBef>
              <a:spcAft>
                <a:spcPts val="0"/>
              </a:spcAft>
              <a:buSzPts val="1100"/>
              <a:buNone/>
            </a:pPr>
            <a:r>
              <a:rPr b="1" lang="en-GB">
                <a:solidFill>
                  <a:schemeClr val="dk1"/>
                </a:solidFill>
              </a:rPr>
              <a:t>clutch_win_pct</a:t>
            </a:r>
            <a:r>
              <a:rPr lang="en-GB">
                <a:solidFill>
                  <a:schemeClr val="dk1"/>
                </a:solidFill>
              </a:rPr>
              <a:t>: Team’s win percentage specifically in clutch situations (the main outcome we’re trying to explain).</a:t>
            </a:r>
            <a:endParaRPr>
              <a:solidFill>
                <a:schemeClr val="dk1"/>
              </a:solidFill>
            </a:endParaRPr>
          </a:p>
          <a:p>
            <a:pPr indent="0" lvl="0" marL="0" rtl="0" algn="l">
              <a:lnSpc>
                <a:spcPct val="115000"/>
              </a:lnSpc>
              <a:spcBef>
                <a:spcPts val="1200"/>
              </a:spcBef>
              <a:spcAft>
                <a:spcPts val="0"/>
              </a:spcAft>
              <a:buSzPts val="1100"/>
              <a:buNone/>
            </a:pPr>
            <a:r>
              <a:rPr b="1" lang="en-GB">
                <a:solidFill>
                  <a:schemeClr val="dk1"/>
                </a:solidFill>
              </a:rPr>
              <a:t>clutch_fg_pct</a:t>
            </a:r>
            <a:r>
              <a:rPr lang="en-GB">
                <a:solidFill>
                  <a:schemeClr val="dk1"/>
                </a:solidFill>
              </a:rPr>
              <a:t>: Field-goal percentage (all shots) during clutch time.</a:t>
            </a:r>
            <a:endParaRPr>
              <a:solidFill>
                <a:schemeClr val="dk1"/>
              </a:solidFill>
            </a:endParaRPr>
          </a:p>
          <a:p>
            <a:pPr indent="0" lvl="0" marL="0" rtl="0" algn="l">
              <a:lnSpc>
                <a:spcPct val="115000"/>
              </a:lnSpc>
              <a:spcBef>
                <a:spcPts val="1200"/>
              </a:spcBef>
              <a:spcAft>
                <a:spcPts val="0"/>
              </a:spcAft>
              <a:buSzPts val="1100"/>
              <a:buNone/>
            </a:pPr>
            <a:r>
              <a:rPr b="1" lang="en-GB">
                <a:solidFill>
                  <a:schemeClr val="dk1"/>
                </a:solidFill>
              </a:rPr>
              <a:t>clutch_3p_pct</a:t>
            </a:r>
            <a:r>
              <a:rPr lang="en-GB">
                <a:solidFill>
                  <a:schemeClr val="dk1"/>
                </a:solidFill>
              </a:rPr>
              <a:t>: Three-point shooting percentage in clutch moments.</a:t>
            </a:r>
            <a:endParaRPr>
              <a:solidFill>
                <a:schemeClr val="dk1"/>
              </a:solidFill>
            </a:endParaRPr>
          </a:p>
          <a:p>
            <a:pPr indent="0" lvl="0" marL="0" rtl="0" algn="l">
              <a:lnSpc>
                <a:spcPct val="115000"/>
              </a:lnSpc>
              <a:spcBef>
                <a:spcPts val="1200"/>
              </a:spcBef>
              <a:spcAft>
                <a:spcPts val="0"/>
              </a:spcAft>
              <a:buSzPts val="1100"/>
              <a:buNone/>
            </a:pPr>
            <a:r>
              <a:rPr b="1" lang="en-GB">
                <a:solidFill>
                  <a:schemeClr val="dk1"/>
                </a:solidFill>
              </a:rPr>
              <a:t>clutch_ft_pct</a:t>
            </a:r>
            <a:r>
              <a:rPr lang="en-GB">
                <a:solidFill>
                  <a:schemeClr val="dk1"/>
                </a:solidFill>
              </a:rPr>
              <a:t>: Free-throw percentage made in clutch situations.</a:t>
            </a:r>
            <a:endParaRPr>
              <a:solidFill>
                <a:schemeClr val="dk1"/>
              </a:solidFill>
            </a:endParaRPr>
          </a:p>
          <a:p>
            <a:pPr indent="0" lvl="0" marL="0" rtl="0" algn="l">
              <a:lnSpc>
                <a:spcPct val="115000"/>
              </a:lnSpc>
              <a:spcBef>
                <a:spcPts val="1200"/>
              </a:spcBef>
              <a:spcAft>
                <a:spcPts val="0"/>
              </a:spcAft>
              <a:buSzPts val="1100"/>
              <a:buNone/>
            </a:pPr>
            <a:r>
              <a:rPr b="1" lang="en-GB">
                <a:solidFill>
                  <a:schemeClr val="dk1"/>
                </a:solidFill>
              </a:rPr>
              <a:t>clutch_efg_pct</a:t>
            </a:r>
            <a:r>
              <a:rPr lang="en-GB">
                <a:solidFill>
                  <a:schemeClr val="dk1"/>
                </a:solidFill>
              </a:rPr>
              <a:t>: Effective field-goal percentage in clutch time (gives extra credit to 3-pointers; strongest positive driver of wins).</a:t>
            </a:r>
            <a:endParaRPr>
              <a:solidFill>
                <a:schemeClr val="dk1"/>
              </a:solidFill>
            </a:endParaRPr>
          </a:p>
          <a:p>
            <a:pPr indent="0" lvl="0" marL="0" rtl="0" algn="l">
              <a:lnSpc>
                <a:spcPct val="115000"/>
              </a:lnSpc>
              <a:spcBef>
                <a:spcPts val="1200"/>
              </a:spcBef>
              <a:spcAft>
                <a:spcPts val="0"/>
              </a:spcAft>
              <a:buSzPts val="1100"/>
              <a:buNone/>
            </a:pPr>
            <a:r>
              <a:rPr b="1" lang="en-GB">
                <a:solidFill>
                  <a:schemeClr val="dk1"/>
                </a:solidFill>
              </a:rPr>
              <a:t>clutch_tov</a:t>
            </a:r>
            <a:r>
              <a:rPr lang="en-GB">
                <a:solidFill>
                  <a:schemeClr val="dk1"/>
                </a:solidFill>
              </a:rPr>
              <a:t>: Raw total turnovers committed during clutch play (strongest negative factor).</a:t>
            </a:r>
            <a:endParaRPr>
              <a:solidFill>
                <a:schemeClr val="dk1"/>
              </a:solidFill>
            </a:endParaRPr>
          </a:p>
          <a:p>
            <a:pPr indent="0" lvl="0" marL="0" rtl="0" algn="l">
              <a:lnSpc>
                <a:spcPct val="115000"/>
              </a:lnSpc>
              <a:spcBef>
                <a:spcPts val="1200"/>
              </a:spcBef>
              <a:spcAft>
                <a:spcPts val="0"/>
              </a:spcAft>
              <a:buSzPts val="1100"/>
              <a:buNone/>
            </a:pPr>
            <a:r>
              <a:rPr b="1" lang="en-GB">
                <a:solidFill>
                  <a:schemeClr val="dk1"/>
                </a:solidFill>
              </a:rPr>
              <a:t>clutch_tov_pct</a:t>
            </a:r>
            <a:r>
              <a:rPr lang="en-GB">
                <a:solidFill>
                  <a:schemeClr val="dk1"/>
                </a:solidFill>
              </a:rPr>
              <a:t>: Turnover rate (turnovers per possession) in clutch time.</a:t>
            </a:r>
            <a:endParaRPr>
              <a:solidFill>
                <a:schemeClr val="dk1"/>
              </a:solidFill>
            </a:endParaRPr>
          </a:p>
          <a:p>
            <a:pPr indent="0" lvl="0" marL="0" rtl="0" algn="l">
              <a:lnSpc>
                <a:spcPct val="115000"/>
              </a:lnSpc>
              <a:spcBef>
                <a:spcPts val="1200"/>
              </a:spcBef>
              <a:spcAft>
                <a:spcPts val="0"/>
              </a:spcAft>
              <a:buSzPts val="1100"/>
              <a:buNone/>
            </a:pPr>
            <a:r>
              <a:rPr b="1" lang="en-GB">
                <a:solidFill>
                  <a:schemeClr val="dk1"/>
                </a:solidFill>
              </a:rPr>
              <a:t>clutch_reb</a:t>
            </a:r>
            <a:r>
              <a:rPr lang="en-GB">
                <a:solidFill>
                  <a:schemeClr val="dk1"/>
                </a:solidFill>
              </a:rPr>
              <a:t>: Total rebounds grabbed in clutch situations.</a:t>
            </a:r>
            <a:endParaRPr>
              <a:solidFill>
                <a:schemeClr val="dk1"/>
              </a:solidFill>
            </a:endParaRPr>
          </a:p>
          <a:p>
            <a:pPr indent="0" lvl="0" marL="0" rtl="0" algn="l">
              <a:lnSpc>
                <a:spcPct val="115000"/>
              </a:lnSpc>
              <a:spcBef>
                <a:spcPts val="1200"/>
              </a:spcBef>
              <a:spcAft>
                <a:spcPts val="0"/>
              </a:spcAft>
              <a:buSzPts val="1100"/>
              <a:buNone/>
            </a:pPr>
            <a:r>
              <a:rPr b="1" lang="en-GB">
                <a:solidFill>
                  <a:schemeClr val="dk1"/>
                </a:solidFill>
              </a:rPr>
              <a:t>clutch_orb_pct</a:t>
            </a:r>
            <a:r>
              <a:rPr lang="en-GB">
                <a:solidFill>
                  <a:schemeClr val="dk1"/>
                </a:solidFill>
              </a:rPr>
              <a:t>: Offensive rebound percentage in clutch play.</a:t>
            </a:r>
            <a:endParaRPr>
              <a:solidFill>
                <a:schemeClr val="dk1"/>
              </a:solidFill>
            </a:endParaRPr>
          </a:p>
          <a:p>
            <a:pPr indent="0" lvl="0" marL="0" rtl="0" algn="l">
              <a:lnSpc>
                <a:spcPct val="115000"/>
              </a:lnSpc>
              <a:spcBef>
                <a:spcPts val="1200"/>
              </a:spcBef>
              <a:spcAft>
                <a:spcPts val="0"/>
              </a:spcAft>
              <a:buSzPts val="1100"/>
              <a:buNone/>
            </a:pPr>
            <a:r>
              <a:rPr b="1" lang="en-GB">
                <a:solidFill>
                  <a:schemeClr val="dk1"/>
                </a:solidFill>
              </a:rPr>
              <a:t>clutch_ft_rate</a:t>
            </a:r>
            <a:r>
              <a:rPr lang="en-GB">
                <a:solidFill>
                  <a:schemeClr val="dk1"/>
                </a:solidFill>
              </a:rPr>
              <a:t>: Free-throw rate (free throws attempted per field-goal attempt) in clutch time.</a:t>
            </a:r>
            <a:endParaRPr>
              <a:solidFill>
                <a:schemeClr val="dk1"/>
              </a:solidFill>
            </a:endParaRPr>
          </a:p>
          <a:p>
            <a:pPr indent="0" lvl="0" marL="0" rtl="0" algn="l">
              <a:lnSpc>
                <a:spcPct val="115000"/>
              </a:lnSpc>
              <a:spcBef>
                <a:spcPts val="1200"/>
              </a:spcBef>
              <a:spcAft>
                <a:spcPts val="0"/>
              </a:spcAft>
              <a:buSzPts val="1100"/>
              <a:buNone/>
            </a:pPr>
            <a:r>
              <a:rPr b="1" lang="en-GB">
                <a:solidFill>
                  <a:schemeClr val="dk1"/>
                </a:solidFill>
              </a:rPr>
              <a:t>clutch_fta</a:t>
            </a:r>
            <a:r>
              <a:rPr lang="en-GB">
                <a:solidFill>
                  <a:schemeClr val="dk1"/>
                </a:solidFill>
              </a:rPr>
              <a:t>: Total free-throw attempts in clutch situations.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p>
          <a:p>
            <a:pPr indent="0" lvl="0" marL="0" rtl="0" algn="l">
              <a:spcBef>
                <a:spcPts val="1200"/>
              </a:spcBef>
              <a:spcAft>
                <a:spcPts val="0"/>
              </a:spcAft>
              <a:buNone/>
            </a:pPr>
            <a:r>
              <a:t/>
            </a:r>
            <a:endParaRPr/>
          </a:p>
        </p:txBody>
      </p:sp>
      <p:sp>
        <p:nvSpPr>
          <p:cNvPr id="223" name="Google Shape;223;g3ce709c0a8d_2_182: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3ce709c0a8d_2_195: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6" name="Google Shape;236;g3ce709c0a8d_2_195: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400"/>
              </a:spcBef>
              <a:spcAft>
                <a:spcPts val="0"/>
              </a:spcAft>
              <a:buClr>
                <a:schemeClr val="dk1"/>
              </a:buClr>
              <a:buSzPts val="1100"/>
              <a:buFont typeface="Arial"/>
              <a:buNone/>
            </a:pPr>
            <a:r>
              <a:rPr b="1" lang="en-GB" sz="1300">
                <a:solidFill>
                  <a:schemeClr val="dk1"/>
                </a:solidFill>
              </a:rPr>
              <a:t>Left Plot: Clutch eFG% vs Clutch Win%</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GB">
                <a:solidFill>
                  <a:schemeClr val="dk1"/>
                </a:solidFill>
              </a:rPr>
              <a:t>X-axis</a:t>
            </a:r>
            <a:r>
              <a:rPr lang="en-GB">
                <a:solidFill>
                  <a:schemeClr val="dk1"/>
                </a:solidFill>
              </a:rPr>
              <a:t>: Clutch Effective Field Goal % (scoring efficiency in the last 5 min of close games; 3s count extra).</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GB">
                <a:solidFill>
                  <a:schemeClr val="dk1"/>
                </a:solidFill>
              </a:rPr>
              <a:t>Y-axis</a:t>
            </a:r>
            <a:r>
              <a:rPr lang="en-GB">
                <a:solidFill>
                  <a:schemeClr val="dk1"/>
                </a:solidFill>
              </a:rPr>
              <a:t>: Clutch Win Percentage.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GB">
                <a:solidFill>
                  <a:schemeClr val="dk1"/>
                </a:solidFill>
              </a:rPr>
              <a:t>What it shows</a:t>
            </a:r>
            <a:r>
              <a:rPr lang="en-GB">
                <a:solidFill>
                  <a:schemeClr val="dk1"/>
                </a:solidFill>
              </a:rPr>
              <a:t>: Clear upward trend -&gt;&gt;&gt; teams that shoot more efficiently in clutch time win way more close games.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GB">
                <a:solidFill>
                  <a:schemeClr val="dk1"/>
                </a:solidFill>
              </a:rPr>
              <a:t>Standout teams</a:t>
            </a:r>
            <a:r>
              <a:rPr lang="en-GB">
                <a:solidFill>
                  <a:schemeClr val="dk1"/>
                </a:solidFill>
              </a:rPr>
              <a:t>:</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GB">
                <a:solidFill>
                  <a:schemeClr val="dk1"/>
                </a:solidFill>
              </a:rPr>
              <a:t>Top-right (elite): </a:t>
            </a:r>
            <a:r>
              <a:rPr b="1" lang="en-GB">
                <a:solidFill>
                  <a:schemeClr val="dk1"/>
                </a:solidFill>
              </a:rPr>
              <a:t>Celtics, Thunder, Cavs, Pacers</a:t>
            </a:r>
            <a:r>
              <a:rPr lang="en-GB">
                <a:solidFill>
                  <a:schemeClr val="dk1"/>
                </a:solidFill>
              </a:rPr>
              <a:t> (high efficiency + high win %)</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GB">
                <a:solidFill>
                  <a:schemeClr val="dk1"/>
                </a:solidFill>
              </a:rPr>
              <a:t>Bottom-left (struggling): </a:t>
            </a:r>
            <a:r>
              <a:rPr b="1" lang="en-GB">
                <a:solidFill>
                  <a:schemeClr val="dk1"/>
                </a:solidFill>
              </a:rPr>
              <a:t>Jazz, Heat, Raptors, Magic</a:t>
            </a:r>
            <a:endParaRPr b="1">
              <a:solidFill>
                <a:schemeClr val="dk1"/>
              </a:solidFill>
            </a:endParaRPr>
          </a:p>
          <a:p>
            <a:pPr indent="-298450" lvl="0" marL="457200" rtl="0" algn="l">
              <a:lnSpc>
                <a:spcPct val="115000"/>
              </a:lnSpc>
              <a:spcBef>
                <a:spcPts val="0"/>
              </a:spcBef>
              <a:spcAft>
                <a:spcPts val="0"/>
              </a:spcAft>
              <a:buClr>
                <a:schemeClr val="dk1"/>
              </a:buClr>
              <a:buSzPts val="1100"/>
              <a:buChar char="●"/>
            </a:pPr>
            <a:r>
              <a:rPr b="1" lang="en-GB">
                <a:solidFill>
                  <a:schemeClr val="dk1"/>
                </a:solidFill>
              </a:rPr>
              <a:t>Takeaway</a:t>
            </a:r>
            <a:r>
              <a:rPr lang="en-GB">
                <a:solidFill>
                  <a:schemeClr val="dk1"/>
                </a:solidFill>
              </a:rPr>
              <a:t>: Making shots (especially 3s) at a high effective rate is the biggest reason teams win in crunch time.</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GB" sz="1300">
                <a:solidFill>
                  <a:schemeClr val="dk1"/>
                </a:solidFill>
              </a:rPr>
              <a:t>Right Plot: Quadrant Plot of Clutch eFG% vs Clutch TOV%</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GB">
                <a:solidFill>
                  <a:schemeClr val="dk1"/>
                </a:solidFill>
              </a:rPr>
              <a:t>X-axis</a:t>
            </a:r>
            <a:r>
              <a:rPr lang="en-GB">
                <a:solidFill>
                  <a:schemeClr val="dk1"/>
                </a:solidFill>
              </a:rPr>
              <a:t>: Same Clutch eFG% (right = better).</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GB">
                <a:solidFill>
                  <a:schemeClr val="dk1"/>
                </a:solidFill>
              </a:rPr>
              <a:t>Y-axis</a:t>
            </a:r>
            <a:r>
              <a:rPr lang="en-GB">
                <a:solidFill>
                  <a:schemeClr val="dk1"/>
                </a:solidFill>
              </a:rPr>
              <a:t>: Clutch Turnover Percentage (higher = worse).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GB">
                <a:solidFill>
                  <a:schemeClr val="dk1"/>
                </a:solidFill>
              </a:rPr>
              <a:t>Dashed lines = league averages.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GB">
                <a:solidFill>
                  <a:schemeClr val="dk1"/>
                </a:solidFill>
              </a:rPr>
              <a:t>The four quadrants</a:t>
            </a:r>
            <a:r>
              <a:rPr lang="en-GB">
                <a:solidFill>
                  <a:schemeClr val="dk1"/>
                </a:solidFill>
              </a:rPr>
              <a:t> show the </a:t>
            </a:r>
            <a:r>
              <a:rPr b="1" lang="en-GB">
                <a:solidFill>
                  <a:schemeClr val="dk1"/>
                </a:solidFill>
              </a:rPr>
              <a:t>combined effect</a:t>
            </a:r>
            <a:r>
              <a:rPr lang="en-GB">
                <a:solidFill>
                  <a:schemeClr val="dk1"/>
                </a:solidFill>
              </a:rPr>
              <a:t> of the two biggest factors:</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b="1" lang="en-GB">
                <a:solidFill>
                  <a:schemeClr val="dk1"/>
                </a:solidFill>
              </a:rPr>
              <a:t>Best quadrant</a:t>
            </a:r>
            <a:r>
              <a:rPr lang="en-GB">
                <a:solidFill>
                  <a:schemeClr val="dk1"/>
                </a:solidFill>
              </a:rPr>
              <a:t> (high eFG% + low TOV%)</a:t>
            </a:r>
            <a:r>
              <a:rPr lang="en-GB">
                <a:solidFill>
                  <a:schemeClr val="dk1"/>
                </a:solidFill>
              </a:rPr>
              <a:t>: efficient shooting + excellent ball security.</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b="1" lang="en-GB">
                <a:solidFill>
                  <a:schemeClr val="dk1"/>
                </a:solidFill>
              </a:rPr>
              <a:t>Worst quadrant</a:t>
            </a:r>
            <a:r>
              <a:rPr lang="en-GB">
                <a:solidFill>
                  <a:schemeClr val="dk1"/>
                </a:solidFill>
              </a:rPr>
              <a:t> (low eFG% + high TOV%): Poor shooting + careless with the ball.</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GB">
                <a:solidFill>
                  <a:schemeClr val="dk1"/>
                </a:solidFill>
              </a:rPr>
              <a:t>Standout teams</a:t>
            </a:r>
            <a:r>
              <a:rPr lang="en-GB">
                <a:solidFill>
                  <a:schemeClr val="dk1"/>
                </a:solidFill>
              </a:rPr>
              <a:t>: </a:t>
            </a:r>
            <a:r>
              <a:rPr b="1" lang="en-GB">
                <a:solidFill>
                  <a:schemeClr val="dk1"/>
                </a:solidFill>
              </a:rPr>
              <a:t>Thunder, Celtics, Pacers</a:t>
            </a:r>
            <a:r>
              <a:rPr lang="en-GB">
                <a:solidFill>
                  <a:schemeClr val="dk1"/>
                </a:solidFill>
              </a:rPr>
              <a:t> lead the best quadrant -&gt;&gt; they do </a:t>
            </a:r>
            <a:r>
              <a:rPr b="1" lang="en-GB">
                <a:solidFill>
                  <a:schemeClr val="dk1"/>
                </a:solidFill>
              </a:rPr>
              <a:t>both</a:t>
            </a:r>
            <a:r>
              <a:rPr lang="en-GB">
                <a:solidFill>
                  <a:schemeClr val="dk1"/>
                </a:solidFill>
              </a:rPr>
              <a:t> things at an elite level.</a:t>
            </a:r>
            <a:endParaRPr/>
          </a:p>
        </p:txBody>
      </p:sp>
      <p:sp>
        <p:nvSpPr>
          <p:cNvPr id="237" name="Google Shape;237;g3ce709c0a8d_2_195: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3ce709c0a8d_2_209: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1" name="Google Shape;251;g3ce709c0a8d_2_209: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298450" lvl="1" marL="914400" rtl="0" algn="l">
              <a:lnSpc>
                <a:spcPct val="115000"/>
              </a:lnSpc>
              <a:spcBef>
                <a:spcPts val="1200"/>
              </a:spcBef>
              <a:spcAft>
                <a:spcPts val="0"/>
              </a:spcAft>
              <a:buClr>
                <a:schemeClr val="dk1"/>
              </a:buClr>
              <a:buSzPts val="1100"/>
              <a:buChar char="○"/>
            </a:pPr>
            <a:r>
              <a:rPr lang="en-GB">
                <a:solidFill>
                  <a:schemeClr val="dk1"/>
                </a:solidFill>
              </a:rPr>
              <a:t>Clutch FT % -&gt;&gt;</a:t>
            </a:r>
            <a:r>
              <a:rPr lang="en-GB">
                <a:solidFill>
                  <a:schemeClr val="dk1"/>
                </a:solidFill>
              </a:rPr>
              <a:t>Free-throw percentage made in clutch situations.</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GB">
                <a:solidFill>
                  <a:schemeClr val="dk1"/>
                </a:solidFill>
              </a:rPr>
              <a:t>Clutch eFG%-&gt;&gt; effective field goals in clutch situations</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GB">
                <a:solidFill>
                  <a:schemeClr val="dk1"/>
                </a:solidFill>
              </a:rPr>
              <a:t>Clutch TOV -&gt; </a:t>
            </a:r>
            <a:r>
              <a:rPr lang="en-GB">
                <a:solidFill>
                  <a:schemeClr val="dk1"/>
                </a:solidFill>
              </a:rPr>
              <a:t>turnover</a:t>
            </a:r>
            <a:r>
              <a:rPr lang="en-GB">
                <a:solidFill>
                  <a:schemeClr val="dk1"/>
                </a:solidFill>
              </a:rPr>
              <a:t> percentage</a:t>
            </a:r>
            <a:endParaRPr>
              <a:solidFill>
                <a:schemeClr val="dk1"/>
              </a:solidFill>
            </a:endParaRPr>
          </a:p>
          <a:p>
            <a:pPr indent="0" lvl="0" marL="914400" rtl="0" algn="l">
              <a:lnSpc>
                <a:spcPct val="115000"/>
              </a:lnSpc>
              <a:spcBef>
                <a:spcPts val="1200"/>
              </a:spcBef>
              <a:spcAft>
                <a:spcPts val="0"/>
              </a:spcAft>
              <a:buNone/>
            </a:pPr>
            <a:r>
              <a:t/>
            </a:r>
            <a:endParaRPr>
              <a:solidFill>
                <a:schemeClr val="dk1"/>
              </a:solidFill>
            </a:endParaRPr>
          </a:p>
          <a:p>
            <a:pPr indent="-298450" lvl="1" marL="914400" rtl="0" algn="l">
              <a:lnSpc>
                <a:spcPct val="115000"/>
              </a:lnSpc>
              <a:spcBef>
                <a:spcPts val="1200"/>
              </a:spcBef>
              <a:spcAft>
                <a:spcPts val="0"/>
              </a:spcAft>
              <a:buClr>
                <a:schemeClr val="dk1"/>
              </a:buClr>
              <a:buSzPts val="1100"/>
              <a:buChar char="○"/>
            </a:pPr>
            <a:r>
              <a:rPr lang="en-GB">
                <a:solidFill>
                  <a:schemeClr val="dk1"/>
                </a:solidFill>
              </a:rPr>
              <a:t>The strongest clutch teams combine </a:t>
            </a:r>
            <a:r>
              <a:rPr b="1" lang="en-GB">
                <a:solidFill>
                  <a:schemeClr val="dk1"/>
                </a:solidFill>
              </a:rPr>
              <a:t>high effective field-goal percentage</a:t>
            </a:r>
            <a:r>
              <a:rPr lang="en-GB">
                <a:solidFill>
                  <a:schemeClr val="dk1"/>
                </a:solidFill>
              </a:rPr>
              <a:t> (efficient scoring) with </a:t>
            </a:r>
            <a:r>
              <a:rPr b="1" lang="en-GB">
                <a:solidFill>
                  <a:schemeClr val="dk1"/>
                </a:solidFill>
              </a:rPr>
              <a:t>low turnover percentage</a:t>
            </a:r>
            <a:r>
              <a:rPr lang="en-GB">
                <a:solidFill>
                  <a:schemeClr val="dk1"/>
                </a:solidFill>
              </a:rPr>
              <a:t> (protecting the ball in crunch time).</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GB">
                <a:solidFill>
                  <a:schemeClr val="dk1"/>
                </a:solidFill>
              </a:rPr>
              <a:t>The weakest clutch teams tend to struggle with one or both of those (lower eFG% and/or more turnovers).</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GB">
                <a:solidFill>
                  <a:schemeClr val="dk1"/>
                </a:solidFill>
              </a:rPr>
              <a:t>Free-throw percentage (green) is generally high across the board and does </a:t>
            </a:r>
            <a:r>
              <a:rPr b="1" lang="en-GB">
                <a:solidFill>
                  <a:schemeClr val="dk1"/>
                </a:solidFill>
              </a:rPr>
              <a:t>not</a:t>
            </a:r>
            <a:r>
              <a:rPr lang="en-GB">
                <a:solidFill>
                  <a:schemeClr val="dk1"/>
                </a:solidFill>
              </a:rPr>
              <a:t> separate the top and bottom groups as clearly.</a:t>
            </a:r>
            <a:endParaRPr b="1" sz="1300">
              <a:solidFill>
                <a:schemeClr val="dk1"/>
              </a:solidFill>
            </a:endParaRPr>
          </a:p>
          <a:p>
            <a:pPr indent="0" lvl="0" marL="0" rtl="0" algn="l">
              <a:spcBef>
                <a:spcPts val="1200"/>
              </a:spcBef>
              <a:spcAft>
                <a:spcPts val="0"/>
              </a:spcAft>
              <a:buNone/>
            </a:pPr>
            <a:r>
              <a:t/>
            </a:r>
            <a:endParaRPr/>
          </a:p>
        </p:txBody>
      </p:sp>
      <p:sp>
        <p:nvSpPr>
          <p:cNvPr id="252" name="Google Shape;252;g3ce709c0a8d_2_209: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3ce709c0a8d_2_220: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3" name="Google Shape;263;g3ce709c0a8d_2_220: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4" name="Google Shape;264;g3ce709c0a8d_2_220: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3ce709c0a8d_2_234: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8" name="Google Shape;278;g3ce709c0a8d_2_234: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9" name="Google Shape;279;g3ce709c0a8d_2_234: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3ce709c0a8d_2_247: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2" name="Google Shape;292;g3ce709c0a8d_2_247: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3" name="Google Shape;293;g3ce709c0a8d_2_247: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3ce709c0a8d_2_280: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6" name="Google Shape;326;g3ce709c0a8d_2_280: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7" name="Google Shape;327;g3ce709c0a8d_2_280: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51" name="Shape 5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 name="Shape 50"/>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5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0.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4.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2.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1.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3.jpg"/><Relationship Id="rId4" Type="http://schemas.openxmlformats.org/officeDocument/2006/relationships/image" Target="../media/image6.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8.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9.jpg"/><Relationship Id="rId4" Type="http://schemas.openxmlformats.org/officeDocument/2006/relationships/image" Target="../media/image11.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5.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628"/>
        </a:solidFill>
      </p:bgPr>
    </p:bg>
    <p:spTree>
      <p:nvGrpSpPr>
        <p:cNvPr id="56" name="Shape 56"/>
        <p:cNvGrpSpPr/>
        <p:nvPr/>
      </p:nvGrpSpPr>
      <p:grpSpPr>
        <a:xfrm>
          <a:off x="0" y="0"/>
          <a:ext cx="0" cy="0"/>
          <a:chOff x="0" y="0"/>
          <a:chExt cx="0" cy="0"/>
        </a:xfrm>
      </p:grpSpPr>
      <p:sp>
        <p:nvSpPr>
          <p:cNvPr id="57" name="Google Shape;57;p15"/>
          <p:cNvSpPr/>
          <p:nvPr/>
        </p:nvSpPr>
        <p:spPr>
          <a:xfrm>
            <a:off x="0" y="0"/>
            <a:ext cx="9144000" cy="64008"/>
          </a:xfrm>
          <a:prstGeom prst="rect">
            <a:avLst/>
          </a:prstGeom>
          <a:solidFill>
            <a:srgbClr val="C8A84B"/>
          </a:solidFill>
          <a:ln cap="flat" cmpd="sng" w="12700">
            <a:solidFill>
              <a:srgbClr val="C8A84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15"/>
          <p:cNvSpPr/>
          <p:nvPr/>
        </p:nvSpPr>
        <p:spPr>
          <a:xfrm>
            <a:off x="548640" y="502920"/>
            <a:ext cx="8046720" cy="8229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3800"/>
              <a:buFont typeface="Georgia"/>
              <a:buNone/>
            </a:pPr>
            <a:r>
              <a:rPr b="1" i="0" lang="en-GB" sz="3800" u="none" cap="none" strike="noStrike">
                <a:solidFill>
                  <a:srgbClr val="FFFFFF"/>
                </a:solidFill>
                <a:latin typeface="Georgia"/>
                <a:ea typeface="Georgia"/>
                <a:cs typeface="Georgia"/>
                <a:sym typeface="Georgia"/>
              </a:rPr>
              <a:t>When the Game Is on the Line:</a:t>
            </a:r>
            <a:endParaRPr b="0" i="0" sz="3800" u="none" cap="none" strike="noStrike">
              <a:solidFill>
                <a:schemeClr val="dk1"/>
              </a:solidFill>
              <a:latin typeface="Calibri"/>
              <a:ea typeface="Calibri"/>
              <a:cs typeface="Calibri"/>
              <a:sym typeface="Calibri"/>
            </a:endParaRPr>
          </a:p>
        </p:txBody>
      </p:sp>
      <p:sp>
        <p:nvSpPr>
          <p:cNvPr id="59" name="Google Shape;59;p15"/>
          <p:cNvSpPr/>
          <p:nvPr/>
        </p:nvSpPr>
        <p:spPr>
          <a:xfrm>
            <a:off x="548640" y="1214605"/>
            <a:ext cx="8046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8A84B"/>
              </a:buClr>
              <a:buSzPts val="2200"/>
              <a:buFont typeface="Georgia"/>
              <a:buNone/>
            </a:pPr>
            <a:r>
              <a:rPr lang="en-GB" sz="2200">
                <a:solidFill>
                  <a:srgbClr val="C8A84B"/>
                </a:solidFill>
                <a:latin typeface="Georgia"/>
                <a:ea typeface="Georgia"/>
                <a:cs typeface="Georgia"/>
                <a:sym typeface="Georgia"/>
              </a:rPr>
              <a:t>    </a:t>
            </a:r>
            <a:r>
              <a:rPr b="0" i="0" lang="en-GB" sz="2200" u="none" cap="none" strike="noStrike">
                <a:solidFill>
                  <a:srgbClr val="C8A84B"/>
                </a:solidFill>
                <a:latin typeface="Georgia"/>
                <a:ea typeface="Georgia"/>
                <a:cs typeface="Georgia"/>
                <a:sym typeface="Georgia"/>
              </a:rPr>
              <a:t>A Statistical Analysis of NBA Clutch</a:t>
            </a:r>
            <a:r>
              <a:rPr lang="en-GB" sz="2200">
                <a:solidFill>
                  <a:srgbClr val="C8A84B"/>
                </a:solidFill>
                <a:latin typeface="Georgia"/>
                <a:ea typeface="Georgia"/>
                <a:cs typeface="Georgia"/>
                <a:sym typeface="Georgia"/>
              </a:rPr>
              <a:t> Performance</a:t>
            </a:r>
            <a:endParaRPr b="0" i="0" sz="2200" u="none" cap="none" strike="noStrike">
              <a:solidFill>
                <a:schemeClr val="dk1"/>
              </a:solidFill>
              <a:latin typeface="Calibri"/>
              <a:ea typeface="Calibri"/>
              <a:cs typeface="Calibri"/>
              <a:sym typeface="Calibri"/>
            </a:endParaRPr>
          </a:p>
        </p:txBody>
      </p:sp>
      <p:sp>
        <p:nvSpPr>
          <p:cNvPr id="60" name="Google Shape;60;p15"/>
          <p:cNvSpPr/>
          <p:nvPr/>
        </p:nvSpPr>
        <p:spPr>
          <a:xfrm>
            <a:off x="548640" y="2011680"/>
            <a:ext cx="7772400" cy="36576"/>
          </a:xfrm>
          <a:prstGeom prst="rect">
            <a:avLst/>
          </a:prstGeom>
          <a:solidFill>
            <a:srgbClr val="1E3A6E"/>
          </a:solidFill>
          <a:ln cap="flat" cmpd="sng" w="12700">
            <a:solidFill>
              <a:srgbClr val="1E3A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15"/>
          <p:cNvSpPr/>
          <p:nvPr/>
        </p:nvSpPr>
        <p:spPr>
          <a:xfrm>
            <a:off x="641115" y="1764808"/>
            <a:ext cx="8046600" cy="320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1150"/>
              <a:buFont typeface="Calibri"/>
              <a:buNone/>
            </a:pPr>
            <a:r>
              <a:rPr b="0" i="0" lang="en-GB" sz="1150" u="none" cap="none" strike="noStrike">
                <a:solidFill>
                  <a:srgbClr val="94A3B8"/>
                </a:solidFill>
                <a:latin typeface="Calibri"/>
                <a:ea typeface="Calibri"/>
                <a:cs typeface="Calibri"/>
                <a:sym typeface="Calibri"/>
              </a:rPr>
              <a:t>2024–25 NBA Regular Season  •  Data Source: NBA.com </a:t>
            </a:r>
            <a:endParaRPr b="0" i="0" sz="1150" u="none" cap="none" strike="noStrike">
              <a:solidFill>
                <a:schemeClr val="dk1"/>
              </a:solidFill>
              <a:latin typeface="Calibri"/>
              <a:ea typeface="Calibri"/>
              <a:cs typeface="Calibri"/>
              <a:sym typeface="Calibri"/>
            </a:endParaRPr>
          </a:p>
        </p:txBody>
      </p:sp>
      <p:pic>
        <p:nvPicPr>
          <p:cNvPr id="62" name="Google Shape;62;p15"/>
          <p:cNvPicPr preferRelativeResize="0"/>
          <p:nvPr/>
        </p:nvPicPr>
        <p:blipFill>
          <a:blip r:embed="rId3">
            <a:alphaModFix/>
          </a:blip>
          <a:stretch>
            <a:fillRect/>
          </a:stretch>
        </p:blipFill>
        <p:spPr>
          <a:xfrm>
            <a:off x="3251325" y="2139325"/>
            <a:ext cx="4946451" cy="2782400"/>
          </a:xfrm>
          <a:prstGeom prst="rect">
            <a:avLst/>
          </a:prstGeom>
          <a:noFill/>
          <a:ln>
            <a:noFill/>
          </a:ln>
        </p:spPr>
      </p:pic>
      <p:sp>
        <p:nvSpPr>
          <p:cNvPr id="63" name="Google Shape;63;p15"/>
          <p:cNvSpPr/>
          <p:nvPr/>
        </p:nvSpPr>
        <p:spPr>
          <a:xfrm>
            <a:off x="421463" y="2227470"/>
            <a:ext cx="2697600" cy="2606100"/>
          </a:xfrm>
          <a:prstGeom prst="rect">
            <a:avLst/>
          </a:prstGeom>
          <a:solidFill>
            <a:srgbClr val="FFFFFF"/>
          </a:solidFill>
          <a:ln cap="flat" cmpd="sng" w="12700">
            <a:solidFill>
              <a:srgbClr val="DDDDDD"/>
            </a:solidFill>
            <a:prstDash val="solid"/>
            <a:round/>
            <a:headEnd len="sm" w="sm" type="none"/>
            <a:tailEnd len="sm" w="sm" type="none"/>
          </a:ln>
          <a:effectLst>
            <a:outerShdw blurRad="101600" rotWithShape="0" algn="bl" dir="8100000" dist="25400">
              <a:srgbClr val="000000">
                <a:alpha val="784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15"/>
          <p:cNvSpPr/>
          <p:nvPr/>
        </p:nvSpPr>
        <p:spPr>
          <a:xfrm>
            <a:off x="421463" y="2227470"/>
            <a:ext cx="2697600" cy="50400"/>
          </a:xfrm>
          <a:prstGeom prst="rect">
            <a:avLst/>
          </a:prstGeom>
          <a:solidFill>
            <a:srgbClr val="C8A84B"/>
          </a:solidFill>
          <a:ln cap="flat" cmpd="sng" w="12700">
            <a:solidFill>
              <a:srgbClr val="C8A84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15"/>
          <p:cNvSpPr/>
          <p:nvPr/>
        </p:nvSpPr>
        <p:spPr>
          <a:xfrm>
            <a:off x="558623" y="2337198"/>
            <a:ext cx="24231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1628"/>
              </a:buClr>
              <a:buSzPts val="1350"/>
              <a:buFont typeface="Georgia"/>
              <a:buNone/>
            </a:pPr>
            <a:r>
              <a:rPr b="1" lang="en-GB" sz="1350">
                <a:solidFill>
                  <a:srgbClr val="0A1628"/>
                </a:solidFill>
                <a:latin typeface="Georgia"/>
                <a:ea typeface="Georgia"/>
                <a:cs typeface="Georgia"/>
                <a:sym typeface="Georgia"/>
              </a:rPr>
              <a:t>Contents</a:t>
            </a:r>
            <a:endParaRPr b="0" i="0" sz="1350" u="none" cap="none" strike="noStrike">
              <a:solidFill>
                <a:schemeClr val="dk1"/>
              </a:solidFill>
              <a:latin typeface="Calibri"/>
              <a:ea typeface="Calibri"/>
              <a:cs typeface="Calibri"/>
              <a:sym typeface="Calibri"/>
            </a:endParaRPr>
          </a:p>
        </p:txBody>
      </p:sp>
      <p:sp>
        <p:nvSpPr>
          <p:cNvPr id="66" name="Google Shape;66;p15"/>
          <p:cNvSpPr/>
          <p:nvPr/>
        </p:nvSpPr>
        <p:spPr>
          <a:xfrm>
            <a:off x="558636" y="2251017"/>
            <a:ext cx="2423100" cy="1783200"/>
          </a:xfrm>
          <a:prstGeom prst="rect">
            <a:avLst/>
          </a:prstGeom>
          <a:noFill/>
          <a:ln>
            <a:noFill/>
          </a:ln>
        </p:spPr>
        <p:txBody>
          <a:bodyPr anchorCtr="0" anchor="ctr" bIns="45700" lIns="91425" spcFirstLastPara="1" rIns="91425" wrap="square" tIns="45700">
            <a:noAutofit/>
          </a:bodyPr>
          <a:lstStyle/>
          <a:p>
            <a:pPr indent="0" lvl="0" marL="0" rtl="0" algn="l">
              <a:lnSpc>
                <a:spcPct val="125000"/>
              </a:lnSpc>
              <a:spcBef>
                <a:spcPts val="0"/>
              </a:spcBef>
              <a:spcAft>
                <a:spcPts val="0"/>
              </a:spcAft>
              <a:buNone/>
            </a:pPr>
            <a:r>
              <a:t/>
            </a:r>
            <a:endParaRPr sz="1100">
              <a:solidFill>
                <a:srgbClr val="444444"/>
              </a:solidFill>
              <a:latin typeface="Calibri"/>
              <a:ea typeface="Calibri"/>
              <a:cs typeface="Calibri"/>
              <a:sym typeface="Calibri"/>
            </a:endParaRPr>
          </a:p>
          <a:p>
            <a:pPr indent="0" lvl="0" marL="0" rtl="0" algn="l">
              <a:lnSpc>
                <a:spcPct val="125000"/>
              </a:lnSpc>
              <a:spcBef>
                <a:spcPts val="0"/>
              </a:spcBef>
              <a:spcAft>
                <a:spcPts val="0"/>
              </a:spcAft>
              <a:buNone/>
            </a:pPr>
            <a:r>
              <a:t/>
            </a:r>
            <a:endParaRPr sz="1100">
              <a:solidFill>
                <a:srgbClr val="444444"/>
              </a:solidFill>
              <a:latin typeface="Calibri"/>
              <a:ea typeface="Calibri"/>
              <a:cs typeface="Calibri"/>
              <a:sym typeface="Calibri"/>
            </a:endParaRPr>
          </a:p>
          <a:p>
            <a:pPr indent="0" lvl="0" marL="0" rtl="0" algn="l">
              <a:lnSpc>
                <a:spcPct val="125000"/>
              </a:lnSpc>
              <a:spcBef>
                <a:spcPts val="0"/>
              </a:spcBef>
              <a:spcAft>
                <a:spcPts val="0"/>
              </a:spcAft>
              <a:buNone/>
            </a:pPr>
            <a:r>
              <a:t/>
            </a:r>
            <a:endParaRPr sz="1100">
              <a:solidFill>
                <a:srgbClr val="444444"/>
              </a:solidFill>
              <a:latin typeface="Calibri"/>
              <a:ea typeface="Calibri"/>
              <a:cs typeface="Calibri"/>
              <a:sym typeface="Calibri"/>
            </a:endParaRPr>
          </a:p>
          <a:p>
            <a:pPr indent="0" lvl="0" marL="0" rtl="0" algn="l">
              <a:lnSpc>
                <a:spcPct val="125000"/>
              </a:lnSpc>
              <a:spcBef>
                <a:spcPts val="0"/>
              </a:spcBef>
              <a:spcAft>
                <a:spcPts val="0"/>
              </a:spcAft>
              <a:buNone/>
            </a:pPr>
            <a:r>
              <a:t/>
            </a:r>
            <a:endParaRPr sz="1100">
              <a:solidFill>
                <a:srgbClr val="444444"/>
              </a:solidFill>
              <a:latin typeface="Calibri"/>
              <a:ea typeface="Calibri"/>
              <a:cs typeface="Calibri"/>
              <a:sym typeface="Calibri"/>
            </a:endParaRPr>
          </a:p>
          <a:p>
            <a:pPr indent="0" lvl="0" marL="0" rtl="0" algn="l">
              <a:lnSpc>
                <a:spcPct val="125000"/>
              </a:lnSpc>
              <a:spcBef>
                <a:spcPts val="0"/>
              </a:spcBef>
              <a:spcAft>
                <a:spcPts val="0"/>
              </a:spcAft>
              <a:buNone/>
            </a:pPr>
            <a:r>
              <a:t/>
            </a:r>
            <a:endParaRPr sz="1100">
              <a:solidFill>
                <a:srgbClr val="444444"/>
              </a:solidFill>
              <a:latin typeface="Calibri"/>
              <a:ea typeface="Calibri"/>
              <a:cs typeface="Calibri"/>
              <a:sym typeface="Calibri"/>
            </a:endParaRPr>
          </a:p>
          <a:p>
            <a:pPr indent="0" lvl="0" marL="0" rtl="0" algn="l">
              <a:lnSpc>
                <a:spcPct val="125000"/>
              </a:lnSpc>
              <a:spcBef>
                <a:spcPts val="0"/>
              </a:spcBef>
              <a:spcAft>
                <a:spcPts val="0"/>
              </a:spcAft>
              <a:buNone/>
            </a:pPr>
            <a:r>
              <a:t/>
            </a:r>
            <a:endParaRPr sz="1100">
              <a:solidFill>
                <a:srgbClr val="444444"/>
              </a:solidFill>
              <a:latin typeface="Calibri"/>
              <a:ea typeface="Calibri"/>
              <a:cs typeface="Calibri"/>
              <a:sym typeface="Calibri"/>
            </a:endParaRPr>
          </a:p>
          <a:p>
            <a:pPr indent="0" lvl="0" marL="0" rtl="0" algn="l">
              <a:lnSpc>
                <a:spcPct val="125000"/>
              </a:lnSpc>
              <a:spcBef>
                <a:spcPts val="0"/>
              </a:spcBef>
              <a:spcAft>
                <a:spcPts val="0"/>
              </a:spcAft>
              <a:buNone/>
            </a:pPr>
            <a:r>
              <a:rPr lang="en-GB" sz="1100">
                <a:solidFill>
                  <a:srgbClr val="444444"/>
                </a:solidFill>
                <a:latin typeface="Calibri"/>
                <a:ea typeface="Calibri"/>
                <a:cs typeface="Calibri"/>
                <a:sym typeface="Calibri"/>
              </a:rPr>
              <a:t>1) Introduction</a:t>
            </a:r>
            <a:endParaRPr sz="1100">
              <a:solidFill>
                <a:srgbClr val="444444"/>
              </a:solidFill>
              <a:latin typeface="Calibri"/>
              <a:ea typeface="Calibri"/>
              <a:cs typeface="Calibri"/>
              <a:sym typeface="Calibri"/>
            </a:endParaRPr>
          </a:p>
          <a:p>
            <a:pPr indent="0" lvl="0" marL="0" rtl="0" algn="l">
              <a:lnSpc>
                <a:spcPct val="125000"/>
              </a:lnSpc>
              <a:spcBef>
                <a:spcPts val="0"/>
              </a:spcBef>
              <a:spcAft>
                <a:spcPts val="0"/>
              </a:spcAft>
              <a:buNone/>
            </a:pPr>
            <a:r>
              <a:rPr lang="en-GB" sz="1100">
                <a:solidFill>
                  <a:srgbClr val="444444"/>
                </a:solidFill>
                <a:latin typeface="Calibri"/>
                <a:ea typeface="Calibri"/>
                <a:cs typeface="Calibri"/>
                <a:sym typeface="Calibri"/>
              </a:rPr>
              <a:t>2) What is “Clutch”?</a:t>
            </a:r>
            <a:endParaRPr sz="1100">
              <a:solidFill>
                <a:srgbClr val="444444"/>
              </a:solidFill>
              <a:latin typeface="Calibri"/>
              <a:ea typeface="Calibri"/>
              <a:cs typeface="Calibri"/>
              <a:sym typeface="Calibri"/>
            </a:endParaRPr>
          </a:p>
          <a:p>
            <a:pPr indent="0" lvl="0" marL="0" rtl="0" algn="l">
              <a:lnSpc>
                <a:spcPct val="125000"/>
              </a:lnSpc>
              <a:spcBef>
                <a:spcPts val="0"/>
              </a:spcBef>
              <a:spcAft>
                <a:spcPts val="0"/>
              </a:spcAft>
              <a:buNone/>
            </a:pPr>
            <a:r>
              <a:rPr lang="en-GB" sz="1100">
                <a:solidFill>
                  <a:srgbClr val="444444"/>
                </a:solidFill>
                <a:latin typeface="Calibri"/>
                <a:ea typeface="Calibri"/>
                <a:cs typeface="Calibri"/>
                <a:sym typeface="Calibri"/>
              </a:rPr>
              <a:t>3)  Methodology</a:t>
            </a:r>
            <a:endParaRPr sz="1100">
              <a:solidFill>
                <a:srgbClr val="444444"/>
              </a:solidFill>
              <a:latin typeface="Calibri"/>
              <a:ea typeface="Calibri"/>
              <a:cs typeface="Calibri"/>
              <a:sym typeface="Calibri"/>
            </a:endParaRPr>
          </a:p>
          <a:p>
            <a:pPr indent="0" lvl="0" marL="0" rtl="0" algn="l">
              <a:lnSpc>
                <a:spcPct val="125000"/>
              </a:lnSpc>
              <a:spcBef>
                <a:spcPts val="0"/>
              </a:spcBef>
              <a:spcAft>
                <a:spcPts val="0"/>
              </a:spcAft>
              <a:buClr>
                <a:schemeClr val="dk1"/>
              </a:buClr>
              <a:buSzPts val="1100"/>
              <a:buFont typeface="Arial"/>
              <a:buNone/>
            </a:pPr>
            <a:r>
              <a:rPr lang="en-GB" sz="1100">
                <a:solidFill>
                  <a:srgbClr val="444444"/>
                </a:solidFill>
                <a:latin typeface="Calibri"/>
                <a:ea typeface="Calibri"/>
                <a:cs typeface="Calibri"/>
                <a:sym typeface="Calibri"/>
              </a:rPr>
              <a:t>     3.1) Dataset</a:t>
            </a:r>
            <a:endParaRPr sz="1100">
              <a:solidFill>
                <a:srgbClr val="444444"/>
              </a:solidFill>
              <a:latin typeface="Calibri"/>
              <a:ea typeface="Calibri"/>
              <a:cs typeface="Calibri"/>
              <a:sym typeface="Calibri"/>
            </a:endParaRPr>
          </a:p>
          <a:p>
            <a:pPr indent="0" lvl="0" marL="0" rtl="0" algn="l">
              <a:lnSpc>
                <a:spcPct val="125000"/>
              </a:lnSpc>
              <a:spcBef>
                <a:spcPts val="0"/>
              </a:spcBef>
              <a:spcAft>
                <a:spcPts val="0"/>
              </a:spcAft>
              <a:buClr>
                <a:schemeClr val="dk1"/>
              </a:buClr>
              <a:buSzPts val="1100"/>
              <a:buFont typeface="Arial"/>
              <a:buNone/>
            </a:pPr>
            <a:r>
              <a:rPr lang="en-GB" sz="1100">
                <a:solidFill>
                  <a:srgbClr val="444444"/>
                </a:solidFill>
                <a:latin typeface="Calibri"/>
                <a:ea typeface="Calibri"/>
                <a:cs typeface="Calibri"/>
                <a:sym typeface="Calibri"/>
              </a:rPr>
              <a:t>4)  Research Questions</a:t>
            </a:r>
            <a:endParaRPr sz="1100">
              <a:solidFill>
                <a:srgbClr val="444444"/>
              </a:solidFill>
              <a:latin typeface="Calibri"/>
              <a:ea typeface="Calibri"/>
              <a:cs typeface="Calibri"/>
              <a:sym typeface="Calibri"/>
            </a:endParaRPr>
          </a:p>
          <a:p>
            <a:pPr indent="0" lvl="0" marL="0" rtl="0" algn="l">
              <a:lnSpc>
                <a:spcPct val="125000"/>
              </a:lnSpc>
              <a:spcBef>
                <a:spcPts val="0"/>
              </a:spcBef>
              <a:spcAft>
                <a:spcPts val="0"/>
              </a:spcAft>
              <a:buClr>
                <a:schemeClr val="dk1"/>
              </a:buClr>
              <a:buSzPts val="1100"/>
              <a:buFont typeface="Arial"/>
              <a:buNone/>
            </a:pPr>
            <a:r>
              <a:rPr lang="en-GB" sz="1100">
                <a:solidFill>
                  <a:srgbClr val="444444"/>
                </a:solidFill>
                <a:latin typeface="Calibri"/>
                <a:ea typeface="Calibri"/>
                <a:cs typeface="Calibri"/>
                <a:sym typeface="Calibri"/>
              </a:rPr>
              <a:t>5)  RQ1 Plots</a:t>
            </a:r>
            <a:endParaRPr sz="1100">
              <a:solidFill>
                <a:srgbClr val="444444"/>
              </a:solidFill>
              <a:latin typeface="Calibri"/>
              <a:ea typeface="Calibri"/>
              <a:cs typeface="Calibri"/>
              <a:sym typeface="Calibri"/>
            </a:endParaRPr>
          </a:p>
          <a:p>
            <a:pPr indent="0" lvl="0" marL="0" rtl="0" algn="l">
              <a:lnSpc>
                <a:spcPct val="125000"/>
              </a:lnSpc>
              <a:spcBef>
                <a:spcPts val="0"/>
              </a:spcBef>
              <a:spcAft>
                <a:spcPts val="0"/>
              </a:spcAft>
              <a:buClr>
                <a:schemeClr val="dk1"/>
              </a:buClr>
              <a:buSzPts val="1100"/>
              <a:buFont typeface="Arial"/>
              <a:buNone/>
            </a:pPr>
            <a:r>
              <a:rPr lang="en-GB" sz="1100">
                <a:solidFill>
                  <a:srgbClr val="444444"/>
                </a:solidFill>
                <a:latin typeface="Calibri"/>
                <a:ea typeface="Calibri"/>
                <a:cs typeface="Calibri"/>
                <a:sym typeface="Calibri"/>
              </a:rPr>
              <a:t>6)  RQ2 Plots</a:t>
            </a:r>
            <a:endParaRPr sz="1100">
              <a:solidFill>
                <a:srgbClr val="444444"/>
              </a:solidFill>
              <a:latin typeface="Calibri"/>
              <a:ea typeface="Calibri"/>
              <a:cs typeface="Calibri"/>
              <a:sym typeface="Calibri"/>
            </a:endParaRPr>
          </a:p>
          <a:p>
            <a:pPr indent="0" lvl="0" marL="0" rtl="0" algn="l">
              <a:lnSpc>
                <a:spcPct val="125000"/>
              </a:lnSpc>
              <a:spcBef>
                <a:spcPts val="0"/>
              </a:spcBef>
              <a:spcAft>
                <a:spcPts val="0"/>
              </a:spcAft>
              <a:buClr>
                <a:schemeClr val="dk1"/>
              </a:buClr>
              <a:buSzPts val="1100"/>
              <a:buFont typeface="Arial"/>
              <a:buNone/>
            </a:pPr>
            <a:r>
              <a:rPr lang="en-GB" sz="1100">
                <a:solidFill>
                  <a:srgbClr val="444444"/>
                </a:solidFill>
                <a:latin typeface="Calibri"/>
                <a:ea typeface="Calibri"/>
                <a:cs typeface="Calibri"/>
                <a:sym typeface="Calibri"/>
              </a:rPr>
              <a:t>7)  RQ3 Plots</a:t>
            </a:r>
            <a:endParaRPr sz="1100">
              <a:solidFill>
                <a:srgbClr val="444444"/>
              </a:solidFill>
              <a:latin typeface="Calibri"/>
              <a:ea typeface="Calibri"/>
              <a:cs typeface="Calibri"/>
              <a:sym typeface="Calibri"/>
            </a:endParaRPr>
          </a:p>
          <a:p>
            <a:pPr indent="0" lvl="0" marL="0" rtl="0" algn="l">
              <a:lnSpc>
                <a:spcPct val="125000"/>
              </a:lnSpc>
              <a:spcBef>
                <a:spcPts val="0"/>
              </a:spcBef>
              <a:spcAft>
                <a:spcPts val="0"/>
              </a:spcAft>
              <a:buClr>
                <a:schemeClr val="dk1"/>
              </a:buClr>
              <a:buSzPts val="1100"/>
              <a:buFont typeface="Arial"/>
              <a:buNone/>
            </a:pPr>
            <a:r>
              <a:rPr lang="en-GB" sz="1100">
                <a:solidFill>
                  <a:srgbClr val="444444"/>
                </a:solidFill>
                <a:latin typeface="Calibri"/>
                <a:ea typeface="Calibri"/>
                <a:cs typeface="Calibri"/>
                <a:sym typeface="Calibri"/>
              </a:rPr>
              <a:t>8)  Conclusion</a:t>
            </a:r>
            <a:endParaRPr sz="1100">
              <a:solidFill>
                <a:srgbClr val="444444"/>
              </a:solidFill>
              <a:latin typeface="Calibri"/>
              <a:ea typeface="Calibri"/>
              <a:cs typeface="Calibri"/>
              <a:sym typeface="Calibri"/>
            </a:endParaRPr>
          </a:p>
          <a:p>
            <a:pPr indent="0" lvl="0" marL="0" rtl="0" algn="l">
              <a:lnSpc>
                <a:spcPct val="125000"/>
              </a:lnSpc>
              <a:spcBef>
                <a:spcPts val="0"/>
              </a:spcBef>
              <a:spcAft>
                <a:spcPts val="0"/>
              </a:spcAft>
              <a:buClr>
                <a:schemeClr val="dk1"/>
              </a:buClr>
              <a:buSzPts val="1100"/>
              <a:buFont typeface="Arial"/>
              <a:buNone/>
            </a:pPr>
            <a:r>
              <a:rPr lang="en-GB" sz="1100">
                <a:solidFill>
                  <a:srgbClr val="444444"/>
                </a:solidFill>
                <a:latin typeface="Calibri"/>
                <a:ea typeface="Calibri"/>
                <a:cs typeface="Calibri"/>
                <a:sym typeface="Calibri"/>
              </a:rPr>
              <a:t>9)  Limitations</a:t>
            </a:r>
            <a:endParaRPr sz="1100">
              <a:solidFill>
                <a:srgbClr val="444444"/>
              </a:solidFill>
              <a:latin typeface="Calibri"/>
              <a:ea typeface="Calibri"/>
              <a:cs typeface="Calibri"/>
              <a:sym typeface="Calibri"/>
            </a:endParaRPr>
          </a:p>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67" name="Google Shape;67;p15"/>
          <p:cNvSpPr/>
          <p:nvPr/>
        </p:nvSpPr>
        <p:spPr>
          <a:xfrm>
            <a:off x="-1375325" y="4699915"/>
            <a:ext cx="9144000" cy="2286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94A3B8"/>
              </a:buClr>
              <a:buSzPts val="950"/>
              <a:buFont typeface="Calibri"/>
              <a:buNone/>
            </a:pPr>
            <a:r>
              <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B"/>
        </a:solidFill>
      </p:bgPr>
    </p:bg>
    <p:spTree>
      <p:nvGrpSpPr>
        <p:cNvPr id="72" name="Shape 72"/>
        <p:cNvGrpSpPr/>
        <p:nvPr/>
      </p:nvGrpSpPr>
      <p:grpSpPr>
        <a:xfrm>
          <a:off x="0" y="0"/>
          <a:ext cx="0" cy="0"/>
          <a:chOff x="0" y="0"/>
          <a:chExt cx="0" cy="0"/>
        </a:xfrm>
      </p:grpSpPr>
      <p:sp>
        <p:nvSpPr>
          <p:cNvPr id="73" name="Google Shape;73;p16"/>
          <p:cNvSpPr/>
          <p:nvPr/>
        </p:nvSpPr>
        <p:spPr>
          <a:xfrm>
            <a:off x="0" y="0"/>
            <a:ext cx="9144000" cy="914400"/>
          </a:xfrm>
          <a:prstGeom prst="rect">
            <a:avLst/>
          </a:prstGeom>
          <a:solidFill>
            <a:srgbClr val="122040"/>
          </a:solidFill>
          <a:ln cap="flat" cmpd="sng" w="12700">
            <a:solidFill>
              <a:srgbClr val="1220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16"/>
          <p:cNvSpPr/>
          <p:nvPr/>
        </p:nvSpPr>
        <p:spPr>
          <a:xfrm>
            <a:off x="0" y="0"/>
            <a:ext cx="1097280" cy="914400"/>
          </a:xfrm>
          <a:prstGeom prst="rect">
            <a:avLst/>
          </a:prstGeom>
          <a:solidFill>
            <a:srgbClr val="1E3A6E"/>
          </a:solidFill>
          <a:ln cap="flat" cmpd="sng" w="12700">
            <a:solidFill>
              <a:srgbClr val="1E3A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16"/>
          <p:cNvSpPr/>
          <p:nvPr/>
        </p:nvSpPr>
        <p:spPr>
          <a:xfrm>
            <a:off x="0" y="0"/>
            <a:ext cx="1097280" cy="914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A84B"/>
              </a:buClr>
              <a:buSzPts val="1300"/>
              <a:buFont typeface="Calibri"/>
              <a:buNone/>
            </a:pPr>
            <a:r>
              <a:rPr b="1" i="0" lang="en-GB" sz="1300" u="none" cap="none" strike="noStrike">
                <a:solidFill>
                  <a:srgbClr val="C8A84B"/>
                </a:solidFill>
                <a:latin typeface="Calibri"/>
                <a:ea typeface="Calibri"/>
                <a:cs typeface="Calibri"/>
                <a:sym typeface="Calibri"/>
              </a:rPr>
              <a:t>01</a:t>
            </a:r>
            <a:endParaRPr b="0" i="0" sz="1300" u="none" cap="none" strike="noStrike">
              <a:solidFill>
                <a:schemeClr val="dk1"/>
              </a:solidFill>
              <a:latin typeface="Calibri"/>
              <a:ea typeface="Calibri"/>
              <a:cs typeface="Calibri"/>
              <a:sym typeface="Calibri"/>
            </a:endParaRPr>
          </a:p>
        </p:txBody>
      </p:sp>
      <p:sp>
        <p:nvSpPr>
          <p:cNvPr id="76" name="Google Shape;76;p16"/>
          <p:cNvSpPr/>
          <p:nvPr/>
        </p:nvSpPr>
        <p:spPr>
          <a:xfrm>
            <a:off x="1234440" y="137160"/>
            <a:ext cx="82296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300"/>
              <a:buFont typeface="Georgia"/>
              <a:buNone/>
            </a:pPr>
            <a:r>
              <a:rPr b="1" i="0" lang="en-GB" sz="2300" u="none" cap="none" strike="noStrike">
                <a:solidFill>
                  <a:srgbClr val="FFFFFF"/>
                </a:solidFill>
                <a:latin typeface="Georgia"/>
                <a:ea typeface="Georgia"/>
                <a:cs typeface="Georgia"/>
                <a:sym typeface="Georgia"/>
              </a:rPr>
              <a:t>Introduction</a:t>
            </a:r>
            <a:endParaRPr b="0" i="0" sz="2300" u="none" cap="none" strike="noStrike">
              <a:solidFill>
                <a:schemeClr val="dk1"/>
              </a:solidFill>
              <a:latin typeface="Calibri"/>
              <a:ea typeface="Calibri"/>
              <a:cs typeface="Calibri"/>
              <a:sym typeface="Calibri"/>
            </a:endParaRPr>
          </a:p>
        </p:txBody>
      </p:sp>
      <p:sp>
        <p:nvSpPr>
          <p:cNvPr id="77" name="Google Shape;77;p16"/>
          <p:cNvSpPr/>
          <p:nvPr/>
        </p:nvSpPr>
        <p:spPr>
          <a:xfrm>
            <a:off x="457200" y="1024128"/>
            <a:ext cx="82296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1628"/>
              </a:buClr>
              <a:buSzPts val="1600"/>
              <a:buFont typeface="Georgia"/>
              <a:buNone/>
            </a:pPr>
            <a:r>
              <a:rPr b="1" lang="en-GB" sz="1600">
                <a:solidFill>
                  <a:srgbClr val="0A1628"/>
                </a:solidFill>
                <a:latin typeface="Georgia"/>
                <a:ea typeface="Georgia"/>
                <a:cs typeface="Georgia"/>
                <a:sym typeface="Georgia"/>
              </a:rPr>
              <a:t>  </a:t>
            </a:r>
            <a:r>
              <a:rPr b="1" i="0" lang="en-GB" sz="1600" u="none" cap="none" strike="noStrike">
                <a:solidFill>
                  <a:srgbClr val="0A1628"/>
                </a:solidFill>
                <a:latin typeface="Georgia"/>
                <a:ea typeface="Georgia"/>
                <a:cs typeface="Georgia"/>
                <a:sym typeface="Georgia"/>
              </a:rPr>
              <a:t>Motivation</a:t>
            </a:r>
            <a:endParaRPr b="0" i="0" sz="1600" u="none" cap="none" strike="noStrike">
              <a:solidFill>
                <a:schemeClr val="dk1"/>
              </a:solidFill>
              <a:latin typeface="Calibri"/>
              <a:ea typeface="Calibri"/>
              <a:cs typeface="Calibri"/>
              <a:sym typeface="Calibri"/>
            </a:endParaRPr>
          </a:p>
        </p:txBody>
      </p:sp>
      <p:sp>
        <p:nvSpPr>
          <p:cNvPr id="78" name="Google Shape;78;p16"/>
          <p:cNvSpPr/>
          <p:nvPr/>
        </p:nvSpPr>
        <p:spPr>
          <a:xfrm>
            <a:off x="457200" y="1417320"/>
            <a:ext cx="8229600" cy="7772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44444"/>
              </a:buClr>
              <a:buSzPts val="1250"/>
              <a:buFont typeface="Calibri"/>
              <a:buNone/>
            </a:pPr>
            <a:r>
              <a:rPr b="0" i="0" lang="en-GB" sz="1250" u="none" cap="none" strike="noStrike">
                <a:solidFill>
                  <a:srgbClr val="444444"/>
                </a:solidFill>
                <a:latin typeface="Calibri"/>
                <a:ea typeface="Calibri"/>
                <a:cs typeface="Calibri"/>
                <a:sym typeface="Calibri"/>
              </a:rPr>
              <a:t>In basketball, nothing matters more than what happens when the game is on the line. </a:t>
            </a:r>
            <a:r>
              <a:rPr lang="en-GB" sz="1250">
                <a:solidFill>
                  <a:srgbClr val="444444"/>
                </a:solidFill>
                <a:latin typeface="Calibri"/>
                <a:ea typeface="Calibri"/>
                <a:cs typeface="Calibri"/>
                <a:sym typeface="Calibri"/>
              </a:rPr>
              <a:t>R</a:t>
            </a:r>
            <a:r>
              <a:rPr b="0" i="0" lang="en-GB" sz="1250" u="none" cap="none" strike="noStrike">
                <a:solidFill>
                  <a:srgbClr val="444444"/>
                </a:solidFill>
                <a:latin typeface="Calibri"/>
                <a:ea typeface="Calibri"/>
                <a:cs typeface="Calibri"/>
                <a:sym typeface="Calibri"/>
              </a:rPr>
              <a:t>egular</a:t>
            </a:r>
            <a:r>
              <a:rPr lang="en-GB" sz="1250">
                <a:solidFill>
                  <a:srgbClr val="444444"/>
                </a:solidFill>
                <a:latin typeface="Calibri"/>
                <a:ea typeface="Calibri"/>
                <a:cs typeface="Calibri"/>
                <a:sym typeface="Calibri"/>
              </a:rPr>
              <a:t> </a:t>
            </a:r>
            <a:r>
              <a:rPr b="0" i="0" lang="en-GB" sz="1250" u="none" cap="none" strike="noStrike">
                <a:solidFill>
                  <a:srgbClr val="444444"/>
                </a:solidFill>
                <a:latin typeface="Calibri"/>
                <a:ea typeface="Calibri"/>
                <a:cs typeface="Calibri"/>
                <a:sym typeface="Calibri"/>
              </a:rPr>
              <a:t>season records reveal a team's overall quality</a:t>
            </a:r>
            <a:r>
              <a:rPr lang="en-GB" sz="1250">
                <a:solidFill>
                  <a:srgbClr val="444444"/>
                </a:solidFill>
                <a:latin typeface="Calibri"/>
                <a:ea typeface="Calibri"/>
                <a:cs typeface="Calibri"/>
                <a:sym typeface="Calibri"/>
              </a:rPr>
              <a:t> but they </a:t>
            </a:r>
            <a:r>
              <a:rPr b="0" i="0" lang="en-GB" sz="1250" u="none" cap="none" strike="noStrike">
                <a:solidFill>
                  <a:srgbClr val="444444"/>
                </a:solidFill>
                <a:latin typeface="Calibri"/>
                <a:ea typeface="Calibri"/>
                <a:cs typeface="Calibri"/>
                <a:sym typeface="Calibri"/>
              </a:rPr>
              <a:t>may not capture how a team responds when every possession is critical.</a:t>
            </a:r>
            <a:endParaRPr b="0" i="0" sz="1250" u="none" cap="none" strike="noStrike">
              <a:solidFill>
                <a:srgbClr val="444444"/>
              </a:solidFill>
              <a:latin typeface="Calibri"/>
              <a:ea typeface="Calibri"/>
              <a:cs typeface="Calibri"/>
              <a:sym typeface="Calibri"/>
            </a:endParaRPr>
          </a:p>
          <a:p>
            <a:pPr indent="0" lvl="0" marL="0" marR="0" rtl="0" algn="l">
              <a:spcBef>
                <a:spcPts val="0"/>
              </a:spcBef>
              <a:spcAft>
                <a:spcPts val="0"/>
              </a:spcAft>
              <a:buClr>
                <a:srgbClr val="444444"/>
              </a:buClr>
              <a:buSzPts val="1250"/>
              <a:buFont typeface="Calibri"/>
              <a:buNone/>
            </a:pPr>
            <a:r>
              <a:t/>
            </a:r>
            <a:endParaRPr sz="1250">
              <a:solidFill>
                <a:srgbClr val="444444"/>
              </a:solidFill>
              <a:latin typeface="Calibri"/>
              <a:ea typeface="Calibri"/>
              <a:cs typeface="Calibri"/>
              <a:sym typeface="Calibri"/>
            </a:endParaRPr>
          </a:p>
          <a:p>
            <a:pPr indent="0" lvl="0" marL="0" marR="0" rtl="0" algn="l">
              <a:spcBef>
                <a:spcPts val="0"/>
              </a:spcBef>
              <a:spcAft>
                <a:spcPts val="0"/>
              </a:spcAft>
              <a:buClr>
                <a:srgbClr val="444444"/>
              </a:buClr>
              <a:buSzPts val="1250"/>
              <a:buFont typeface="Calibri"/>
              <a:buNone/>
            </a:pPr>
            <a:r>
              <a:rPr b="0" i="0" lang="en-GB" sz="1250" u="none" cap="none" strike="noStrike">
                <a:solidFill>
                  <a:srgbClr val="444444"/>
                </a:solidFill>
                <a:latin typeface="Calibri"/>
                <a:ea typeface="Calibri"/>
                <a:cs typeface="Calibri"/>
                <a:sym typeface="Calibri"/>
              </a:rPr>
              <a:t>This project </a:t>
            </a:r>
            <a:r>
              <a:rPr lang="en-GB" sz="1250">
                <a:solidFill>
                  <a:srgbClr val="444444"/>
                </a:solidFill>
                <a:latin typeface="Calibri"/>
                <a:ea typeface="Calibri"/>
                <a:cs typeface="Calibri"/>
                <a:sym typeface="Calibri"/>
              </a:rPr>
              <a:t>finds</a:t>
            </a:r>
            <a:r>
              <a:rPr b="0" i="0" lang="en-GB" sz="1250" u="none" cap="none" strike="noStrike">
                <a:solidFill>
                  <a:srgbClr val="444444"/>
                </a:solidFill>
                <a:latin typeface="Calibri"/>
                <a:ea typeface="Calibri"/>
                <a:cs typeface="Calibri"/>
                <a:sym typeface="Calibri"/>
              </a:rPr>
              <a:t> whether clutch performance is simply a reflection of overall team quality or whether it is a distinct, measurable trait</a:t>
            </a:r>
            <a:r>
              <a:rPr lang="en-GB" sz="1250">
                <a:solidFill>
                  <a:srgbClr val="444444"/>
                </a:solidFill>
                <a:latin typeface="Calibri"/>
                <a:ea typeface="Calibri"/>
                <a:cs typeface="Calibri"/>
                <a:sym typeface="Calibri"/>
              </a:rPr>
              <a:t>.</a:t>
            </a:r>
            <a:endParaRPr b="0" i="0" sz="1250" u="none" cap="none" strike="noStrike">
              <a:solidFill>
                <a:schemeClr val="dk1"/>
              </a:solidFill>
              <a:latin typeface="Calibri"/>
              <a:ea typeface="Calibri"/>
              <a:cs typeface="Calibri"/>
              <a:sym typeface="Calibri"/>
            </a:endParaRPr>
          </a:p>
        </p:txBody>
      </p:sp>
      <p:sp>
        <p:nvSpPr>
          <p:cNvPr id="79" name="Google Shape;79;p16"/>
          <p:cNvSpPr/>
          <p:nvPr/>
        </p:nvSpPr>
        <p:spPr>
          <a:xfrm>
            <a:off x="1796788" y="2419595"/>
            <a:ext cx="2697600" cy="2606100"/>
          </a:xfrm>
          <a:prstGeom prst="rect">
            <a:avLst/>
          </a:prstGeom>
          <a:solidFill>
            <a:srgbClr val="FFFFFF"/>
          </a:solidFill>
          <a:ln cap="flat" cmpd="sng" w="12700">
            <a:solidFill>
              <a:srgbClr val="DDDDDD"/>
            </a:solidFill>
            <a:prstDash val="solid"/>
            <a:round/>
            <a:headEnd len="sm" w="sm" type="none"/>
            <a:tailEnd len="sm" w="sm" type="none"/>
          </a:ln>
          <a:effectLst>
            <a:outerShdw blurRad="1016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16"/>
          <p:cNvSpPr/>
          <p:nvPr/>
        </p:nvSpPr>
        <p:spPr>
          <a:xfrm>
            <a:off x="1796788" y="2419595"/>
            <a:ext cx="2697600" cy="50400"/>
          </a:xfrm>
          <a:prstGeom prst="rect">
            <a:avLst/>
          </a:prstGeom>
          <a:solidFill>
            <a:srgbClr val="C8A84B"/>
          </a:solidFill>
          <a:ln cap="flat" cmpd="sng" w="12700">
            <a:solidFill>
              <a:srgbClr val="C8A84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16"/>
          <p:cNvSpPr/>
          <p:nvPr/>
        </p:nvSpPr>
        <p:spPr>
          <a:xfrm>
            <a:off x="1933948" y="2529323"/>
            <a:ext cx="24231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1628"/>
              </a:buClr>
              <a:buSzPts val="1350"/>
              <a:buFont typeface="Georgia"/>
              <a:buNone/>
            </a:pPr>
            <a:r>
              <a:rPr b="1" i="0" lang="en-GB" sz="1350" u="none" cap="none" strike="noStrike">
                <a:solidFill>
                  <a:srgbClr val="0A1628"/>
                </a:solidFill>
                <a:latin typeface="Georgia"/>
                <a:ea typeface="Georgia"/>
                <a:cs typeface="Georgia"/>
                <a:sym typeface="Georgia"/>
              </a:rPr>
              <a:t>  The Approach</a:t>
            </a:r>
            <a:endParaRPr b="0" i="0" sz="1350" u="none" cap="none" strike="noStrike">
              <a:solidFill>
                <a:schemeClr val="dk1"/>
              </a:solidFill>
              <a:latin typeface="Calibri"/>
              <a:ea typeface="Calibri"/>
              <a:cs typeface="Calibri"/>
              <a:sym typeface="Calibri"/>
            </a:endParaRPr>
          </a:p>
        </p:txBody>
      </p:sp>
      <p:sp>
        <p:nvSpPr>
          <p:cNvPr id="82" name="Google Shape;82;p16"/>
          <p:cNvSpPr/>
          <p:nvPr/>
        </p:nvSpPr>
        <p:spPr>
          <a:xfrm>
            <a:off x="1933961" y="3000242"/>
            <a:ext cx="2423100" cy="1783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44444"/>
              </a:buClr>
              <a:buSzPts val="1200"/>
              <a:buFont typeface="Calibri"/>
              <a:buNone/>
            </a:pPr>
            <a:r>
              <a:rPr lang="en-GB" sz="1200">
                <a:solidFill>
                  <a:srgbClr val="444444"/>
                </a:solidFill>
                <a:latin typeface="Calibri"/>
                <a:ea typeface="Calibri"/>
                <a:cs typeface="Calibri"/>
                <a:sym typeface="Calibri"/>
              </a:rPr>
              <a:t>Compare </a:t>
            </a:r>
            <a:r>
              <a:rPr b="0" i="0" lang="en-GB" sz="1200" u="none" cap="none" strike="noStrike">
                <a:solidFill>
                  <a:srgbClr val="444444"/>
                </a:solidFill>
                <a:latin typeface="Calibri"/>
                <a:ea typeface="Calibri"/>
                <a:cs typeface="Calibri"/>
                <a:sym typeface="Calibri"/>
              </a:rPr>
              <a:t>team</a:t>
            </a:r>
            <a:r>
              <a:rPr lang="en-GB" sz="1200">
                <a:solidFill>
                  <a:srgbClr val="444444"/>
                </a:solidFill>
                <a:latin typeface="Calibri"/>
                <a:ea typeface="Calibri"/>
                <a:cs typeface="Calibri"/>
                <a:sym typeface="Calibri"/>
              </a:rPr>
              <a:t> </a:t>
            </a:r>
            <a:r>
              <a:rPr b="0" i="0" lang="en-GB" sz="1200" u="none" cap="none" strike="noStrike">
                <a:solidFill>
                  <a:srgbClr val="444444"/>
                </a:solidFill>
                <a:latin typeface="Calibri"/>
                <a:ea typeface="Calibri"/>
                <a:cs typeface="Calibri"/>
                <a:sym typeface="Calibri"/>
              </a:rPr>
              <a:t>level clutch and regular</a:t>
            </a:r>
            <a:r>
              <a:rPr lang="en-GB" sz="1200">
                <a:solidFill>
                  <a:srgbClr val="444444"/>
                </a:solidFill>
                <a:latin typeface="Calibri"/>
                <a:ea typeface="Calibri"/>
                <a:cs typeface="Calibri"/>
                <a:sym typeface="Calibri"/>
              </a:rPr>
              <a:t> </a:t>
            </a:r>
            <a:r>
              <a:rPr b="0" i="0" lang="en-GB" sz="1200" u="none" cap="none" strike="noStrike">
                <a:solidFill>
                  <a:srgbClr val="444444"/>
                </a:solidFill>
                <a:latin typeface="Calibri"/>
                <a:ea typeface="Calibri"/>
                <a:cs typeface="Calibri"/>
                <a:sym typeface="Calibri"/>
              </a:rPr>
              <a:t>season</a:t>
            </a:r>
            <a:r>
              <a:rPr lang="en-GB" sz="1200">
                <a:solidFill>
                  <a:srgbClr val="444444"/>
                </a:solidFill>
                <a:latin typeface="Calibri"/>
                <a:ea typeface="Calibri"/>
                <a:cs typeface="Calibri"/>
                <a:sym typeface="Calibri"/>
              </a:rPr>
              <a:t> (non-clutch) performance to test whether late-game success reflects overall team quality or distinct performance patterns. </a:t>
            </a:r>
            <a:endParaRPr b="0" i="0" sz="1200" u="none" cap="none" strike="noStrike">
              <a:solidFill>
                <a:schemeClr val="dk1"/>
              </a:solidFill>
              <a:latin typeface="Calibri"/>
              <a:ea typeface="Calibri"/>
              <a:cs typeface="Calibri"/>
              <a:sym typeface="Calibri"/>
            </a:endParaRPr>
          </a:p>
        </p:txBody>
      </p:sp>
      <p:sp>
        <p:nvSpPr>
          <p:cNvPr id="83" name="Google Shape;83;p16"/>
          <p:cNvSpPr/>
          <p:nvPr/>
        </p:nvSpPr>
        <p:spPr>
          <a:xfrm>
            <a:off x="4649716" y="2419595"/>
            <a:ext cx="2697600" cy="2606100"/>
          </a:xfrm>
          <a:prstGeom prst="rect">
            <a:avLst/>
          </a:prstGeom>
          <a:solidFill>
            <a:srgbClr val="FFFFFF"/>
          </a:solidFill>
          <a:ln cap="flat" cmpd="sng" w="12700">
            <a:solidFill>
              <a:srgbClr val="DDDDDD"/>
            </a:solidFill>
            <a:prstDash val="solid"/>
            <a:round/>
            <a:headEnd len="sm" w="sm" type="none"/>
            <a:tailEnd len="sm" w="sm" type="none"/>
          </a:ln>
          <a:effectLst>
            <a:outerShdw blurRad="1016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16"/>
          <p:cNvSpPr/>
          <p:nvPr/>
        </p:nvSpPr>
        <p:spPr>
          <a:xfrm>
            <a:off x="4649716" y="2419595"/>
            <a:ext cx="2697600" cy="50400"/>
          </a:xfrm>
          <a:prstGeom prst="rect">
            <a:avLst/>
          </a:prstGeom>
          <a:solidFill>
            <a:srgbClr val="C8A84B"/>
          </a:solidFill>
          <a:ln cap="flat" cmpd="sng" w="12700">
            <a:solidFill>
              <a:srgbClr val="C8A84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16"/>
          <p:cNvSpPr/>
          <p:nvPr/>
        </p:nvSpPr>
        <p:spPr>
          <a:xfrm>
            <a:off x="4786876" y="2529323"/>
            <a:ext cx="24231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1628"/>
              </a:buClr>
              <a:buSzPts val="1350"/>
              <a:buFont typeface="Georgia"/>
              <a:buNone/>
            </a:pPr>
            <a:r>
              <a:rPr b="1" i="0" lang="en-GB" sz="1350" u="none" cap="none" strike="noStrike">
                <a:solidFill>
                  <a:srgbClr val="0A1628"/>
                </a:solidFill>
                <a:latin typeface="Georgia"/>
                <a:ea typeface="Georgia"/>
                <a:cs typeface="Georgia"/>
                <a:sym typeface="Georgia"/>
              </a:rPr>
              <a:t>The Dataset</a:t>
            </a:r>
            <a:endParaRPr b="0" i="0" sz="1350" u="none" cap="none" strike="noStrike">
              <a:solidFill>
                <a:schemeClr val="dk1"/>
              </a:solidFill>
              <a:latin typeface="Calibri"/>
              <a:ea typeface="Calibri"/>
              <a:cs typeface="Calibri"/>
              <a:sym typeface="Calibri"/>
            </a:endParaRPr>
          </a:p>
        </p:txBody>
      </p:sp>
      <p:sp>
        <p:nvSpPr>
          <p:cNvPr id="86" name="Google Shape;86;p16"/>
          <p:cNvSpPr/>
          <p:nvPr/>
        </p:nvSpPr>
        <p:spPr>
          <a:xfrm>
            <a:off x="4786876" y="2995667"/>
            <a:ext cx="2423100" cy="1783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44444"/>
              </a:buClr>
              <a:buSzPts val="1200"/>
              <a:buFont typeface="Calibri"/>
              <a:buNone/>
            </a:pPr>
            <a:r>
              <a:rPr lang="en-GB" sz="1200">
                <a:solidFill>
                  <a:srgbClr val="444444"/>
                </a:solidFill>
                <a:latin typeface="Calibri"/>
                <a:ea typeface="Calibri"/>
                <a:cs typeface="Calibri"/>
                <a:sym typeface="Calibri"/>
              </a:rPr>
              <a:t>The dataset includes all 30 NBA teams from the 2024–25 regular season and combines multiple team-level tables from NBA.com to support comparisons between regular season and clutch play.</a:t>
            </a:r>
            <a:endParaRPr b="0" i="0" sz="1200" u="none" cap="none" strike="noStrike">
              <a:solidFill>
                <a:schemeClr val="dk1"/>
              </a:solidFill>
              <a:latin typeface="Calibri"/>
              <a:ea typeface="Calibri"/>
              <a:cs typeface="Calibri"/>
              <a:sym typeface="Calibri"/>
            </a:endParaRPr>
          </a:p>
        </p:txBody>
      </p:sp>
      <p:sp>
        <p:nvSpPr>
          <p:cNvPr id="87" name="Google Shape;87;p16"/>
          <p:cNvSpPr/>
          <p:nvPr/>
        </p:nvSpPr>
        <p:spPr>
          <a:xfrm>
            <a:off x="0" y="4892040"/>
            <a:ext cx="9144000" cy="2286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94A3B8"/>
              </a:buClr>
              <a:buSzPts val="950"/>
              <a:buFont typeface="Calibri"/>
              <a:buNone/>
            </a:pPr>
            <a:r>
              <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B"/>
        </a:solidFill>
      </p:bgPr>
    </p:bg>
    <p:spTree>
      <p:nvGrpSpPr>
        <p:cNvPr id="92" name="Shape 92"/>
        <p:cNvGrpSpPr/>
        <p:nvPr/>
      </p:nvGrpSpPr>
      <p:grpSpPr>
        <a:xfrm>
          <a:off x="0" y="0"/>
          <a:ext cx="0" cy="0"/>
          <a:chOff x="0" y="0"/>
          <a:chExt cx="0" cy="0"/>
        </a:xfrm>
      </p:grpSpPr>
      <p:sp>
        <p:nvSpPr>
          <p:cNvPr id="93" name="Google Shape;93;p17"/>
          <p:cNvSpPr/>
          <p:nvPr/>
        </p:nvSpPr>
        <p:spPr>
          <a:xfrm>
            <a:off x="0" y="0"/>
            <a:ext cx="9144000" cy="914400"/>
          </a:xfrm>
          <a:prstGeom prst="rect">
            <a:avLst/>
          </a:prstGeom>
          <a:solidFill>
            <a:srgbClr val="122040"/>
          </a:solidFill>
          <a:ln cap="flat" cmpd="sng" w="12700">
            <a:solidFill>
              <a:srgbClr val="1220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17"/>
          <p:cNvSpPr/>
          <p:nvPr/>
        </p:nvSpPr>
        <p:spPr>
          <a:xfrm>
            <a:off x="0" y="0"/>
            <a:ext cx="1097280" cy="914400"/>
          </a:xfrm>
          <a:prstGeom prst="rect">
            <a:avLst/>
          </a:prstGeom>
          <a:solidFill>
            <a:srgbClr val="1E3A6E"/>
          </a:solidFill>
          <a:ln cap="flat" cmpd="sng" w="12700">
            <a:solidFill>
              <a:srgbClr val="1E3A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17"/>
          <p:cNvSpPr/>
          <p:nvPr/>
        </p:nvSpPr>
        <p:spPr>
          <a:xfrm>
            <a:off x="0" y="0"/>
            <a:ext cx="1097280" cy="914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A84B"/>
              </a:buClr>
              <a:buSzPts val="1300"/>
              <a:buFont typeface="Calibri"/>
              <a:buNone/>
            </a:pPr>
            <a:r>
              <a:rPr b="1" i="0" lang="en-GB" sz="1300" u="none" cap="none" strike="noStrike">
                <a:solidFill>
                  <a:srgbClr val="C8A84B"/>
                </a:solidFill>
                <a:latin typeface="Calibri"/>
                <a:ea typeface="Calibri"/>
                <a:cs typeface="Calibri"/>
                <a:sym typeface="Calibri"/>
              </a:rPr>
              <a:t>02</a:t>
            </a:r>
            <a:endParaRPr b="0" i="0" sz="1300" u="none" cap="none" strike="noStrike">
              <a:solidFill>
                <a:schemeClr val="dk1"/>
              </a:solidFill>
              <a:latin typeface="Calibri"/>
              <a:ea typeface="Calibri"/>
              <a:cs typeface="Calibri"/>
              <a:sym typeface="Calibri"/>
            </a:endParaRPr>
          </a:p>
        </p:txBody>
      </p:sp>
      <p:sp>
        <p:nvSpPr>
          <p:cNvPr id="96" name="Google Shape;96;p17"/>
          <p:cNvSpPr/>
          <p:nvPr/>
        </p:nvSpPr>
        <p:spPr>
          <a:xfrm>
            <a:off x="1234440" y="137160"/>
            <a:ext cx="82296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300"/>
              <a:buFont typeface="Georgia"/>
              <a:buNone/>
            </a:pPr>
            <a:r>
              <a:rPr b="1" i="0" lang="en-GB" sz="2300" u="none" cap="none" strike="noStrike">
                <a:solidFill>
                  <a:srgbClr val="FFFFFF"/>
                </a:solidFill>
                <a:latin typeface="Georgia"/>
                <a:ea typeface="Georgia"/>
                <a:cs typeface="Georgia"/>
                <a:sym typeface="Georgia"/>
              </a:rPr>
              <a:t>What is Clutch?</a:t>
            </a:r>
            <a:endParaRPr b="0" i="0" sz="2300" u="none" cap="none" strike="noStrike">
              <a:solidFill>
                <a:schemeClr val="dk1"/>
              </a:solidFill>
              <a:latin typeface="Calibri"/>
              <a:ea typeface="Calibri"/>
              <a:cs typeface="Calibri"/>
              <a:sym typeface="Calibri"/>
            </a:endParaRPr>
          </a:p>
        </p:txBody>
      </p:sp>
      <p:sp>
        <p:nvSpPr>
          <p:cNvPr id="97" name="Google Shape;97;p17"/>
          <p:cNvSpPr/>
          <p:nvPr/>
        </p:nvSpPr>
        <p:spPr>
          <a:xfrm>
            <a:off x="457200" y="1005840"/>
            <a:ext cx="8229600" cy="1234440"/>
          </a:xfrm>
          <a:prstGeom prst="rect">
            <a:avLst/>
          </a:prstGeom>
          <a:solidFill>
            <a:srgbClr val="0A1628"/>
          </a:solidFill>
          <a:ln cap="flat" cmpd="sng" w="12700">
            <a:solidFill>
              <a:srgbClr val="0A1628"/>
            </a:solidFill>
            <a:prstDash val="solid"/>
            <a:round/>
            <a:headEnd len="sm" w="sm" type="none"/>
            <a:tailEnd len="sm" w="sm" type="none"/>
          </a:ln>
          <a:effectLst>
            <a:outerShdw blurRad="1016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17"/>
          <p:cNvSpPr/>
          <p:nvPr/>
        </p:nvSpPr>
        <p:spPr>
          <a:xfrm>
            <a:off x="457200" y="1005840"/>
            <a:ext cx="8229600" cy="54864"/>
          </a:xfrm>
          <a:prstGeom prst="rect">
            <a:avLst/>
          </a:prstGeom>
          <a:solidFill>
            <a:srgbClr val="C8A84B"/>
          </a:solidFill>
          <a:ln cap="flat" cmpd="sng" w="12700">
            <a:solidFill>
              <a:srgbClr val="C8A84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17"/>
          <p:cNvSpPr/>
          <p:nvPr/>
        </p:nvSpPr>
        <p:spPr>
          <a:xfrm>
            <a:off x="640080" y="1078992"/>
            <a:ext cx="36576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C96A"/>
              </a:buClr>
              <a:buSzPts val="1100"/>
              <a:buFont typeface="Calibri"/>
              <a:buNone/>
            </a:pPr>
            <a:r>
              <a:rPr b="1" i="0" lang="en-GB" sz="1100" u="none" cap="none" strike="noStrike">
                <a:solidFill>
                  <a:srgbClr val="E8C96A"/>
                </a:solidFill>
                <a:latin typeface="Calibri"/>
                <a:ea typeface="Calibri"/>
                <a:cs typeface="Calibri"/>
                <a:sym typeface="Calibri"/>
              </a:rPr>
              <a:t>NBA Official Definition</a:t>
            </a:r>
            <a:endParaRPr b="0" i="0" sz="1100" u="none" cap="none" strike="noStrike">
              <a:solidFill>
                <a:schemeClr val="dk1"/>
              </a:solidFill>
              <a:latin typeface="Calibri"/>
              <a:ea typeface="Calibri"/>
              <a:cs typeface="Calibri"/>
              <a:sym typeface="Calibri"/>
            </a:endParaRPr>
          </a:p>
        </p:txBody>
      </p:sp>
      <p:sp>
        <p:nvSpPr>
          <p:cNvPr id="100" name="Google Shape;100;p17"/>
          <p:cNvSpPr/>
          <p:nvPr/>
        </p:nvSpPr>
        <p:spPr>
          <a:xfrm>
            <a:off x="640080" y="1389888"/>
            <a:ext cx="7772400" cy="5943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4A3B8"/>
              </a:buClr>
              <a:buSzPts val="1600"/>
              <a:buFont typeface="Calibri"/>
              <a:buNone/>
            </a:pPr>
            <a:r>
              <a:rPr b="0" i="0" lang="en-GB" sz="1600" u="none" cap="none" strike="noStrike">
                <a:solidFill>
                  <a:srgbClr val="94A3B8"/>
                </a:solidFill>
                <a:latin typeface="Calibri"/>
                <a:ea typeface="Calibri"/>
                <a:cs typeface="Calibri"/>
                <a:sym typeface="Calibri"/>
              </a:rPr>
              <a:t>"Clutch" = </a:t>
            </a:r>
            <a:r>
              <a:rPr b="1" i="0" lang="en-GB" sz="1600" u="none" cap="none" strike="noStrike">
                <a:solidFill>
                  <a:srgbClr val="E8C96A"/>
                </a:solidFill>
                <a:latin typeface="Calibri"/>
                <a:ea typeface="Calibri"/>
                <a:cs typeface="Calibri"/>
                <a:sym typeface="Calibri"/>
              </a:rPr>
              <a:t>Final 5 minutes</a:t>
            </a:r>
            <a:r>
              <a:rPr b="0" i="0" lang="en-GB" sz="1600" u="none" cap="none" strike="noStrike">
                <a:solidFill>
                  <a:srgbClr val="94A3B8"/>
                </a:solidFill>
                <a:latin typeface="Calibri"/>
                <a:ea typeface="Calibri"/>
                <a:cs typeface="Calibri"/>
                <a:sym typeface="Calibri"/>
              </a:rPr>
              <a:t> of the 4th quarter or overtime, when the </a:t>
            </a:r>
            <a:r>
              <a:rPr b="1" i="0" lang="en-GB" sz="1600" u="none" cap="none" strike="noStrike">
                <a:solidFill>
                  <a:srgbClr val="E8C96A"/>
                </a:solidFill>
                <a:latin typeface="Calibri"/>
                <a:ea typeface="Calibri"/>
                <a:cs typeface="Calibri"/>
                <a:sym typeface="Calibri"/>
              </a:rPr>
              <a:t>score is within 5 points</a:t>
            </a:r>
            <a:r>
              <a:rPr lang="en-GB" sz="1600">
                <a:solidFill>
                  <a:srgbClr val="94A3B8"/>
                </a:solidFill>
                <a:latin typeface="Calibri"/>
                <a:ea typeface="Calibri"/>
                <a:cs typeface="Calibri"/>
                <a:sym typeface="Calibri"/>
              </a:rPr>
              <a:t> </a:t>
            </a:r>
            <a:endParaRPr b="0" i="0" sz="1600" u="none" cap="none" strike="noStrike">
              <a:solidFill>
                <a:schemeClr val="dk1"/>
              </a:solidFill>
              <a:latin typeface="Calibri"/>
              <a:ea typeface="Calibri"/>
              <a:cs typeface="Calibri"/>
              <a:sym typeface="Calibri"/>
            </a:endParaRPr>
          </a:p>
        </p:txBody>
      </p:sp>
      <p:sp>
        <p:nvSpPr>
          <p:cNvPr id="101" name="Google Shape;101;p17"/>
          <p:cNvSpPr/>
          <p:nvPr/>
        </p:nvSpPr>
        <p:spPr>
          <a:xfrm>
            <a:off x="365760" y="2423160"/>
            <a:ext cx="1965960" cy="1417320"/>
          </a:xfrm>
          <a:prstGeom prst="rect">
            <a:avLst/>
          </a:prstGeom>
          <a:solidFill>
            <a:srgbClr val="1E3A6E"/>
          </a:solidFill>
          <a:ln cap="flat" cmpd="sng" w="12700">
            <a:solidFill>
              <a:srgbClr val="1E3A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7"/>
          <p:cNvSpPr/>
          <p:nvPr/>
        </p:nvSpPr>
        <p:spPr>
          <a:xfrm>
            <a:off x="365760" y="2468880"/>
            <a:ext cx="1965960" cy="5943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A84B"/>
              </a:buClr>
              <a:buSzPts val="3400"/>
              <a:buFont typeface="Georgia"/>
              <a:buNone/>
            </a:pPr>
            <a:r>
              <a:rPr b="1" i="0" lang="en-GB" sz="3400" u="none" cap="none" strike="noStrike">
                <a:solidFill>
                  <a:srgbClr val="C8A84B"/>
                </a:solidFill>
                <a:latin typeface="Georgia"/>
                <a:ea typeface="Georgia"/>
                <a:cs typeface="Georgia"/>
                <a:sym typeface="Georgia"/>
              </a:rPr>
              <a:t>5</a:t>
            </a:r>
            <a:endParaRPr b="0" i="0" sz="3400" u="none" cap="none" strike="noStrike">
              <a:solidFill>
                <a:schemeClr val="dk1"/>
              </a:solidFill>
              <a:latin typeface="Calibri"/>
              <a:ea typeface="Calibri"/>
              <a:cs typeface="Calibri"/>
              <a:sym typeface="Calibri"/>
            </a:endParaRPr>
          </a:p>
        </p:txBody>
      </p:sp>
      <p:sp>
        <p:nvSpPr>
          <p:cNvPr id="103" name="Google Shape;103;p17"/>
          <p:cNvSpPr/>
          <p:nvPr/>
        </p:nvSpPr>
        <p:spPr>
          <a:xfrm>
            <a:off x="365760" y="3017520"/>
            <a:ext cx="1965960" cy="2286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E8C96A"/>
              </a:buClr>
              <a:buSzPts val="1100"/>
              <a:buFont typeface="Calibri"/>
              <a:buNone/>
            </a:pPr>
            <a:r>
              <a:rPr b="0" i="0" lang="en-GB" sz="1100" u="none" cap="none" strike="noStrike">
                <a:solidFill>
                  <a:srgbClr val="E8C96A"/>
                </a:solidFill>
                <a:latin typeface="Calibri"/>
                <a:ea typeface="Calibri"/>
                <a:cs typeface="Calibri"/>
                <a:sym typeface="Calibri"/>
              </a:rPr>
              <a:t>minutes</a:t>
            </a:r>
            <a:endParaRPr b="0" i="0" sz="1100" u="none" cap="none" strike="noStrike">
              <a:solidFill>
                <a:schemeClr val="dk1"/>
              </a:solidFill>
              <a:latin typeface="Calibri"/>
              <a:ea typeface="Calibri"/>
              <a:cs typeface="Calibri"/>
              <a:sym typeface="Calibri"/>
            </a:endParaRPr>
          </a:p>
        </p:txBody>
      </p:sp>
      <p:sp>
        <p:nvSpPr>
          <p:cNvPr id="104" name="Google Shape;104;p17"/>
          <p:cNvSpPr/>
          <p:nvPr/>
        </p:nvSpPr>
        <p:spPr>
          <a:xfrm>
            <a:off x="365760" y="3255264"/>
            <a:ext cx="196596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94A3B8"/>
              </a:buClr>
              <a:buSzPts val="950"/>
              <a:buFont typeface="Calibri"/>
              <a:buNone/>
            </a:pPr>
            <a:r>
              <a:rPr b="0" i="0" lang="en-GB" sz="950" u="none" cap="none" strike="noStrike">
                <a:solidFill>
                  <a:srgbClr val="94A3B8"/>
                </a:solidFill>
                <a:latin typeface="Calibri"/>
                <a:ea typeface="Calibri"/>
                <a:cs typeface="Calibri"/>
                <a:sym typeface="Calibri"/>
              </a:rPr>
              <a:t>Time window</a:t>
            </a:r>
            <a:endParaRPr b="0" i="0" sz="9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94A3B8"/>
              </a:buClr>
              <a:buSzPts val="950"/>
              <a:buFont typeface="Calibri"/>
              <a:buNone/>
            </a:pPr>
            <a:r>
              <a:rPr b="0" i="0" lang="en-GB" sz="950" u="none" cap="none" strike="noStrike">
                <a:solidFill>
                  <a:srgbClr val="94A3B8"/>
                </a:solidFill>
                <a:latin typeface="Calibri"/>
                <a:ea typeface="Calibri"/>
                <a:cs typeface="Calibri"/>
                <a:sym typeface="Calibri"/>
              </a:rPr>
              <a:t>before final buzzer</a:t>
            </a:r>
            <a:endParaRPr b="0" i="0" sz="950" u="none" cap="none" strike="noStrike">
              <a:solidFill>
                <a:schemeClr val="dk1"/>
              </a:solidFill>
              <a:latin typeface="Calibri"/>
              <a:ea typeface="Calibri"/>
              <a:cs typeface="Calibri"/>
              <a:sym typeface="Calibri"/>
            </a:endParaRPr>
          </a:p>
        </p:txBody>
      </p:sp>
      <p:sp>
        <p:nvSpPr>
          <p:cNvPr id="105" name="Google Shape;105;p17"/>
          <p:cNvSpPr/>
          <p:nvPr/>
        </p:nvSpPr>
        <p:spPr>
          <a:xfrm>
            <a:off x="2487168" y="2423160"/>
            <a:ext cx="1965960" cy="1417320"/>
          </a:xfrm>
          <a:prstGeom prst="rect">
            <a:avLst/>
          </a:prstGeom>
          <a:solidFill>
            <a:srgbClr val="1E3A6E"/>
          </a:solidFill>
          <a:ln cap="flat" cmpd="sng" w="12700">
            <a:solidFill>
              <a:srgbClr val="1E3A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7"/>
          <p:cNvSpPr/>
          <p:nvPr/>
        </p:nvSpPr>
        <p:spPr>
          <a:xfrm>
            <a:off x="2487168" y="2468880"/>
            <a:ext cx="1965960" cy="5943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A84B"/>
              </a:buClr>
              <a:buSzPts val="3400"/>
              <a:buFont typeface="Georgia"/>
              <a:buNone/>
            </a:pPr>
            <a:r>
              <a:rPr b="1" i="0" lang="en-GB" sz="3400" u="none" cap="none" strike="noStrike">
                <a:solidFill>
                  <a:srgbClr val="C8A84B"/>
                </a:solidFill>
                <a:latin typeface="Georgia"/>
                <a:ea typeface="Georgia"/>
                <a:cs typeface="Georgia"/>
                <a:sym typeface="Georgia"/>
              </a:rPr>
              <a:t>±5</a:t>
            </a:r>
            <a:endParaRPr b="0" i="0" sz="3400" u="none" cap="none" strike="noStrike">
              <a:solidFill>
                <a:schemeClr val="dk1"/>
              </a:solidFill>
              <a:latin typeface="Calibri"/>
              <a:ea typeface="Calibri"/>
              <a:cs typeface="Calibri"/>
              <a:sym typeface="Calibri"/>
            </a:endParaRPr>
          </a:p>
        </p:txBody>
      </p:sp>
      <p:sp>
        <p:nvSpPr>
          <p:cNvPr id="107" name="Google Shape;107;p17"/>
          <p:cNvSpPr/>
          <p:nvPr/>
        </p:nvSpPr>
        <p:spPr>
          <a:xfrm>
            <a:off x="2487168" y="3017520"/>
            <a:ext cx="1965960" cy="2286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E8C96A"/>
              </a:buClr>
              <a:buSzPts val="1100"/>
              <a:buFont typeface="Calibri"/>
              <a:buNone/>
            </a:pPr>
            <a:r>
              <a:rPr b="0" i="0" lang="en-GB" sz="1100" u="none" cap="none" strike="noStrike">
                <a:solidFill>
                  <a:srgbClr val="E8C96A"/>
                </a:solidFill>
                <a:latin typeface="Calibri"/>
                <a:ea typeface="Calibri"/>
                <a:cs typeface="Calibri"/>
                <a:sym typeface="Calibri"/>
              </a:rPr>
              <a:t>points</a:t>
            </a:r>
            <a:endParaRPr b="0" i="0" sz="1100" u="none" cap="none" strike="noStrike">
              <a:solidFill>
                <a:schemeClr val="dk1"/>
              </a:solidFill>
              <a:latin typeface="Calibri"/>
              <a:ea typeface="Calibri"/>
              <a:cs typeface="Calibri"/>
              <a:sym typeface="Calibri"/>
            </a:endParaRPr>
          </a:p>
        </p:txBody>
      </p:sp>
      <p:sp>
        <p:nvSpPr>
          <p:cNvPr id="108" name="Google Shape;108;p17"/>
          <p:cNvSpPr/>
          <p:nvPr/>
        </p:nvSpPr>
        <p:spPr>
          <a:xfrm>
            <a:off x="2487168" y="3255264"/>
            <a:ext cx="196596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94A3B8"/>
              </a:buClr>
              <a:buSzPts val="950"/>
              <a:buFont typeface="Calibri"/>
              <a:buNone/>
            </a:pPr>
            <a:r>
              <a:rPr b="0" i="0" lang="en-GB" sz="950" u="none" cap="none" strike="noStrike">
                <a:solidFill>
                  <a:srgbClr val="94A3B8"/>
                </a:solidFill>
                <a:latin typeface="Calibri"/>
                <a:ea typeface="Calibri"/>
                <a:cs typeface="Calibri"/>
                <a:sym typeface="Calibri"/>
              </a:rPr>
              <a:t>Maximum score</a:t>
            </a:r>
            <a:endParaRPr b="0" i="0" sz="9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94A3B8"/>
              </a:buClr>
              <a:buSzPts val="950"/>
              <a:buFont typeface="Calibri"/>
              <a:buNone/>
            </a:pPr>
            <a:r>
              <a:rPr b="0" i="0" lang="en-GB" sz="950" u="none" cap="none" strike="noStrike">
                <a:solidFill>
                  <a:srgbClr val="94A3B8"/>
                </a:solidFill>
                <a:latin typeface="Calibri"/>
                <a:ea typeface="Calibri"/>
                <a:cs typeface="Calibri"/>
                <a:sym typeface="Calibri"/>
              </a:rPr>
              <a:t>difference to qualify</a:t>
            </a:r>
            <a:endParaRPr b="0" i="0" sz="950" u="none" cap="none" strike="noStrike">
              <a:solidFill>
                <a:schemeClr val="dk1"/>
              </a:solidFill>
              <a:latin typeface="Calibri"/>
              <a:ea typeface="Calibri"/>
              <a:cs typeface="Calibri"/>
              <a:sym typeface="Calibri"/>
            </a:endParaRPr>
          </a:p>
        </p:txBody>
      </p:sp>
      <p:sp>
        <p:nvSpPr>
          <p:cNvPr id="109" name="Google Shape;109;p17"/>
          <p:cNvSpPr/>
          <p:nvPr/>
        </p:nvSpPr>
        <p:spPr>
          <a:xfrm>
            <a:off x="4608576" y="2423160"/>
            <a:ext cx="1965960" cy="1417320"/>
          </a:xfrm>
          <a:prstGeom prst="rect">
            <a:avLst/>
          </a:prstGeom>
          <a:solidFill>
            <a:srgbClr val="1E3A6E"/>
          </a:solidFill>
          <a:ln cap="flat" cmpd="sng" w="12700">
            <a:solidFill>
              <a:srgbClr val="1E3A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7"/>
          <p:cNvSpPr/>
          <p:nvPr/>
        </p:nvSpPr>
        <p:spPr>
          <a:xfrm>
            <a:off x="4608576" y="2468880"/>
            <a:ext cx="1965960" cy="5943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A84B"/>
              </a:buClr>
              <a:buSzPts val="3400"/>
              <a:buFont typeface="Georgia"/>
              <a:buNone/>
            </a:pPr>
            <a:r>
              <a:rPr b="1" i="0" lang="en-GB" sz="3400" u="none" cap="none" strike="noStrike">
                <a:solidFill>
                  <a:srgbClr val="C8A84B"/>
                </a:solidFill>
                <a:latin typeface="Georgia"/>
                <a:ea typeface="Georgia"/>
                <a:cs typeface="Georgia"/>
                <a:sym typeface="Georgia"/>
              </a:rPr>
              <a:t>~37</a:t>
            </a:r>
            <a:endParaRPr b="0" i="0" sz="3400" u="none" cap="none" strike="noStrike">
              <a:solidFill>
                <a:schemeClr val="dk1"/>
              </a:solidFill>
              <a:latin typeface="Calibri"/>
              <a:ea typeface="Calibri"/>
              <a:cs typeface="Calibri"/>
              <a:sym typeface="Calibri"/>
            </a:endParaRPr>
          </a:p>
        </p:txBody>
      </p:sp>
      <p:sp>
        <p:nvSpPr>
          <p:cNvPr id="111" name="Google Shape;111;p17"/>
          <p:cNvSpPr/>
          <p:nvPr/>
        </p:nvSpPr>
        <p:spPr>
          <a:xfrm>
            <a:off x="4608576" y="3017520"/>
            <a:ext cx="1965960" cy="2286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E8C96A"/>
              </a:buClr>
              <a:buSzPts val="1100"/>
              <a:buFont typeface="Calibri"/>
              <a:buNone/>
            </a:pPr>
            <a:r>
              <a:rPr b="0" i="0" lang="en-GB" sz="1100" u="none" cap="none" strike="noStrike">
                <a:solidFill>
                  <a:srgbClr val="E8C96A"/>
                </a:solidFill>
                <a:latin typeface="Calibri"/>
                <a:ea typeface="Calibri"/>
                <a:cs typeface="Calibri"/>
                <a:sym typeface="Calibri"/>
              </a:rPr>
              <a:t>games/team</a:t>
            </a:r>
            <a:endParaRPr b="0" i="0" sz="1100" u="none" cap="none" strike="noStrike">
              <a:solidFill>
                <a:schemeClr val="dk1"/>
              </a:solidFill>
              <a:latin typeface="Calibri"/>
              <a:ea typeface="Calibri"/>
              <a:cs typeface="Calibri"/>
              <a:sym typeface="Calibri"/>
            </a:endParaRPr>
          </a:p>
        </p:txBody>
      </p:sp>
      <p:sp>
        <p:nvSpPr>
          <p:cNvPr id="112" name="Google Shape;112;p17"/>
          <p:cNvSpPr/>
          <p:nvPr/>
        </p:nvSpPr>
        <p:spPr>
          <a:xfrm>
            <a:off x="4608576" y="3255264"/>
            <a:ext cx="196596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94A3B8"/>
              </a:buClr>
              <a:buSzPts val="950"/>
              <a:buFont typeface="Calibri"/>
              <a:buNone/>
            </a:pPr>
            <a:r>
              <a:rPr b="0" i="0" lang="en-GB" sz="950" u="none" cap="none" strike="noStrike">
                <a:solidFill>
                  <a:srgbClr val="94A3B8"/>
                </a:solidFill>
                <a:latin typeface="Calibri"/>
                <a:ea typeface="Calibri"/>
                <a:cs typeface="Calibri"/>
                <a:sym typeface="Calibri"/>
              </a:rPr>
              <a:t>Average clutch games</a:t>
            </a:r>
            <a:endParaRPr b="0" i="0" sz="9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94A3B8"/>
              </a:buClr>
              <a:buSzPts val="950"/>
              <a:buFont typeface="Calibri"/>
              <a:buNone/>
            </a:pPr>
            <a:r>
              <a:rPr b="0" i="0" lang="en-GB" sz="950" u="none" cap="none" strike="noStrike">
                <a:solidFill>
                  <a:srgbClr val="94A3B8"/>
                </a:solidFill>
                <a:latin typeface="Calibri"/>
                <a:ea typeface="Calibri"/>
                <a:cs typeface="Calibri"/>
                <a:sym typeface="Calibri"/>
              </a:rPr>
              <a:t>per team in 2024–25</a:t>
            </a:r>
            <a:endParaRPr b="0" i="0" sz="950" u="none" cap="none" strike="noStrike">
              <a:solidFill>
                <a:schemeClr val="dk1"/>
              </a:solidFill>
              <a:latin typeface="Calibri"/>
              <a:ea typeface="Calibri"/>
              <a:cs typeface="Calibri"/>
              <a:sym typeface="Calibri"/>
            </a:endParaRPr>
          </a:p>
        </p:txBody>
      </p:sp>
      <p:sp>
        <p:nvSpPr>
          <p:cNvPr id="113" name="Google Shape;113;p17"/>
          <p:cNvSpPr/>
          <p:nvPr/>
        </p:nvSpPr>
        <p:spPr>
          <a:xfrm>
            <a:off x="6729984" y="2423160"/>
            <a:ext cx="1965960" cy="1417320"/>
          </a:xfrm>
          <a:prstGeom prst="rect">
            <a:avLst/>
          </a:prstGeom>
          <a:solidFill>
            <a:srgbClr val="1E3A6E"/>
          </a:solidFill>
          <a:ln cap="flat" cmpd="sng" w="12700">
            <a:solidFill>
              <a:srgbClr val="1E3A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7"/>
          <p:cNvSpPr/>
          <p:nvPr/>
        </p:nvSpPr>
        <p:spPr>
          <a:xfrm>
            <a:off x="6729984" y="2468880"/>
            <a:ext cx="1965960" cy="5943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A84B"/>
              </a:buClr>
              <a:buSzPts val="3400"/>
              <a:buFont typeface="Georgia"/>
              <a:buNone/>
            </a:pPr>
            <a:r>
              <a:rPr b="1" i="0" lang="en-GB" sz="3400" u="none" cap="none" strike="noStrike">
                <a:solidFill>
                  <a:srgbClr val="C8A84B"/>
                </a:solidFill>
                <a:latin typeface="Georgia"/>
                <a:ea typeface="Georgia"/>
                <a:cs typeface="Georgia"/>
                <a:sym typeface="Georgia"/>
              </a:rPr>
              <a:t>24–46</a:t>
            </a:r>
            <a:endParaRPr b="0" i="0" sz="3400" u="none" cap="none" strike="noStrike">
              <a:solidFill>
                <a:schemeClr val="dk1"/>
              </a:solidFill>
              <a:latin typeface="Calibri"/>
              <a:ea typeface="Calibri"/>
              <a:cs typeface="Calibri"/>
              <a:sym typeface="Calibri"/>
            </a:endParaRPr>
          </a:p>
        </p:txBody>
      </p:sp>
      <p:sp>
        <p:nvSpPr>
          <p:cNvPr id="115" name="Google Shape;115;p17"/>
          <p:cNvSpPr/>
          <p:nvPr/>
        </p:nvSpPr>
        <p:spPr>
          <a:xfrm>
            <a:off x="6729984" y="3017520"/>
            <a:ext cx="1965960" cy="2286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E8C96A"/>
              </a:buClr>
              <a:buSzPts val="1100"/>
              <a:buFont typeface="Calibri"/>
              <a:buNone/>
            </a:pPr>
            <a:r>
              <a:rPr b="0" i="0" lang="en-GB" sz="1100" u="none" cap="none" strike="noStrike">
                <a:solidFill>
                  <a:srgbClr val="E8C96A"/>
                </a:solidFill>
                <a:latin typeface="Calibri"/>
                <a:ea typeface="Calibri"/>
                <a:cs typeface="Calibri"/>
                <a:sym typeface="Calibri"/>
              </a:rPr>
              <a:t>game range</a:t>
            </a:r>
            <a:endParaRPr b="0" i="0" sz="1100" u="none" cap="none" strike="noStrike">
              <a:solidFill>
                <a:schemeClr val="dk1"/>
              </a:solidFill>
              <a:latin typeface="Calibri"/>
              <a:ea typeface="Calibri"/>
              <a:cs typeface="Calibri"/>
              <a:sym typeface="Calibri"/>
            </a:endParaRPr>
          </a:p>
        </p:txBody>
      </p:sp>
      <p:sp>
        <p:nvSpPr>
          <p:cNvPr id="116" name="Google Shape;116;p17"/>
          <p:cNvSpPr/>
          <p:nvPr/>
        </p:nvSpPr>
        <p:spPr>
          <a:xfrm>
            <a:off x="6729984" y="3255264"/>
            <a:ext cx="196596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94A3B8"/>
              </a:buClr>
              <a:buSzPts val="950"/>
              <a:buFont typeface="Calibri"/>
              <a:buNone/>
            </a:pPr>
            <a:r>
              <a:rPr b="0" i="0" lang="en-GB" sz="950" u="none" cap="none" strike="noStrike">
                <a:solidFill>
                  <a:srgbClr val="94A3B8"/>
                </a:solidFill>
                <a:latin typeface="Calibri"/>
                <a:ea typeface="Calibri"/>
                <a:cs typeface="Calibri"/>
                <a:sym typeface="Calibri"/>
              </a:rPr>
              <a:t>Min–Max clutch games</a:t>
            </a:r>
            <a:endParaRPr b="0" i="0" sz="9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94A3B8"/>
              </a:buClr>
              <a:buSzPts val="950"/>
              <a:buFont typeface="Calibri"/>
              <a:buNone/>
            </a:pPr>
            <a:r>
              <a:rPr b="0" i="0" lang="en-GB" sz="950" u="none" cap="none" strike="noStrike">
                <a:solidFill>
                  <a:srgbClr val="94A3B8"/>
                </a:solidFill>
                <a:latin typeface="Calibri"/>
                <a:ea typeface="Calibri"/>
                <a:cs typeface="Calibri"/>
                <a:sym typeface="Calibri"/>
              </a:rPr>
              <a:t>across all 30 teams</a:t>
            </a:r>
            <a:endParaRPr b="0" i="0" sz="950" u="none" cap="none" strike="noStrike">
              <a:solidFill>
                <a:schemeClr val="dk1"/>
              </a:solidFill>
              <a:latin typeface="Calibri"/>
              <a:ea typeface="Calibri"/>
              <a:cs typeface="Calibri"/>
              <a:sym typeface="Calibri"/>
            </a:endParaRPr>
          </a:p>
        </p:txBody>
      </p:sp>
      <p:sp>
        <p:nvSpPr>
          <p:cNvPr id="117" name="Google Shape;117;p17"/>
          <p:cNvSpPr/>
          <p:nvPr/>
        </p:nvSpPr>
        <p:spPr>
          <a:xfrm>
            <a:off x="457200" y="3977640"/>
            <a:ext cx="82296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1628"/>
              </a:buClr>
              <a:buSzPts val="1500"/>
              <a:buFont typeface="Georgia"/>
              <a:buNone/>
            </a:pPr>
            <a:r>
              <a:rPr b="1" i="0" lang="en-GB" sz="1500" u="none" cap="none" strike="noStrike">
                <a:solidFill>
                  <a:srgbClr val="0A1628"/>
                </a:solidFill>
                <a:latin typeface="Georgia"/>
                <a:ea typeface="Georgia"/>
                <a:cs typeface="Georgia"/>
                <a:sym typeface="Georgia"/>
              </a:rPr>
              <a:t>Why Clutch Stats Matter</a:t>
            </a:r>
            <a:endParaRPr b="0" i="0" sz="1500" u="none" cap="none" strike="noStrike">
              <a:solidFill>
                <a:schemeClr val="dk1"/>
              </a:solidFill>
              <a:latin typeface="Calibri"/>
              <a:ea typeface="Calibri"/>
              <a:cs typeface="Calibri"/>
              <a:sym typeface="Calibri"/>
            </a:endParaRPr>
          </a:p>
        </p:txBody>
      </p:sp>
      <p:sp>
        <p:nvSpPr>
          <p:cNvPr id="118" name="Google Shape;118;p17"/>
          <p:cNvSpPr/>
          <p:nvPr/>
        </p:nvSpPr>
        <p:spPr>
          <a:xfrm>
            <a:off x="457200" y="4315968"/>
            <a:ext cx="82296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44444"/>
              </a:buClr>
              <a:buSzPts val="1200"/>
              <a:buFont typeface="Calibri"/>
              <a:buNone/>
            </a:pPr>
            <a:r>
              <a:rPr b="0" i="0" lang="en-GB" sz="1200" u="none" cap="none" strike="noStrike">
                <a:solidFill>
                  <a:srgbClr val="444444"/>
                </a:solidFill>
                <a:latin typeface="Calibri"/>
                <a:ea typeface="Calibri"/>
                <a:cs typeface="Calibri"/>
                <a:sym typeface="Calibri"/>
              </a:rPr>
              <a:t>Clutch situations represent the highest-pressure moments in basketball. A team with a dominant regular-season record may still struggle when every possession is critical. Analyzing clutch performance separately from overall performance reveals hidden strengths and weaknesses that standard box scores cannot capture.</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B"/>
        </a:solidFill>
      </p:bgPr>
    </p:bg>
    <p:spTree>
      <p:nvGrpSpPr>
        <p:cNvPr id="123" name="Shape 123"/>
        <p:cNvGrpSpPr/>
        <p:nvPr/>
      </p:nvGrpSpPr>
      <p:grpSpPr>
        <a:xfrm>
          <a:off x="0" y="0"/>
          <a:ext cx="0" cy="0"/>
          <a:chOff x="0" y="0"/>
          <a:chExt cx="0" cy="0"/>
        </a:xfrm>
      </p:grpSpPr>
      <p:sp>
        <p:nvSpPr>
          <p:cNvPr id="124" name="Google Shape;124;p18"/>
          <p:cNvSpPr/>
          <p:nvPr/>
        </p:nvSpPr>
        <p:spPr>
          <a:xfrm>
            <a:off x="0" y="0"/>
            <a:ext cx="9144000" cy="914400"/>
          </a:xfrm>
          <a:prstGeom prst="rect">
            <a:avLst/>
          </a:prstGeom>
          <a:solidFill>
            <a:srgbClr val="122040"/>
          </a:solidFill>
          <a:ln cap="flat" cmpd="sng" w="12700">
            <a:solidFill>
              <a:srgbClr val="1220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18"/>
          <p:cNvSpPr/>
          <p:nvPr/>
        </p:nvSpPr>
        <p:spPr>
          <a:xfrm>
            <a:off x="0" y="0"/>
            <a:ext cx="1097280" cy="914400"/>
          </a:xfrm>
          <a:prstGeom prst="rect">
            <a:avLst/>
          </a:prstGeom>
          <a:solidFill>
            <a:srgbClr val="1E3A6E"/>
          </a:solidFill>
          <a:ln cap="flat" cmpd="sng" w="12700">
            <a:solidFill>
              <a:srgbClr val="1E3A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18"/>
          <p:cNvSpPr/>
          <p:nvPr/>
        </p:nvSpPr>
        <p:spPr>
          <a:xfrm>
            <a:off x="0" y="0"/>
            <a:ext cx="1097280" cy="914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A84B"/>
              </a:buClr>
              <a:buSzPts val="1300"/>
              <a:buFont typeface="Calibri"/>
              <a:buNone/>
            </a:pPr>
            <a:r>
              <a:rPr b="1" i="0" lang="en-GB" sz="1300" u="none" cap="none" strike="noStrike">
                <a:solidFill>
                  <a:srgbClr val="C8A84B"/>
                </a:solidFill>
                <a:latin typeface="Calibri"/>
                <a:ea typeface="Calibri"/>
                <a:cs typeface="Calibri"/>
                <a:sym typeface="Calibri"/>
              </a:rPr>
              <a:t>03</a:t>
            </a:r>
            <a:endParaRPr b="0" i="0" sz="1300" u="none" cap="none" strike="noStrike">
              <a:solidFill>
                <a:schemeClr val="dk1"/>
              </a:solidFill>
              <a:latin typeface="Calibri"/>
              <a:ea typeface="Calibri"/>
              <a:cs typeface="Calibri"/>
              <a:sym typeface="Calibri"/>
            </a:endParaRPr>
          </a:p>
        </p:txBody>
      </p:sp>
      <p:sp>
        <p:nvSpPr>
          <p:cNvPr id="127" name="Google Shape;127;p18"/>
          <p:cNvSpPr/>
          <p:nvPr/>
        </p:nvSpPr>
        <p:spPr>
          <a:xfrm>
            <a:off x="1234440" y="137160"/>
            <a:ext cx="82296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300"/>
              <a:buFont typeface="Georgia"/>
              <a:buNone/>
            </a:pPr>
            <a:r>
              <a:rPr b="1" i="0" lang="en-GB" sz="2300" u="none" cap="none" strike="noStrike">
                <a:solidFill>
                  <a:srgbClr val="FFFFFF"/>
                </a:solidFill>
                <a:latin typeface="Georgia"/>
                <a:ea typeface="Georgia"/>
                <a:cs typeface="Georgia"/>
                <a:sym typeface="Georgia"/>
              </a:rPr>
              <a:t>Methodology</a:t>
            </a:r>
            <a:endParaRPr b="0" i="0" sz="2300" u="none" cap="none" strike="noStrike">
              <a:solidFill>
                <a:schemeClr val="dk1"/>
              </a:solidFill>
              <a:latin typeface="Calibri"/>
              <a:ea typeface="Calibri"/>
              <a:cs typeface="Calibri"/>
              <a:sym typeface="Calibri"/>
            </a:endParaRPr>
          </a:p>
        </p:txBody>
      </p:sp>
      <p:sp>
        <p:nvSpPr>
          <p:cNvPr id="128" name="Google Shape;128;p18"/>
          <p:cNvSpPr/>
          <p:nvPr/>
        </p:nvSpPr>
        <p:spPr>
          <a:xfrm>
            <a:off x="320040" y="1005840"/>
            <a:ext cx="2011680" cy="3931920"/>
          </a:xfrm>
          <a:prstGeom prst="rect">
            <a:avLst/>
          </a:prstGeom>
          <a:solidFill>
            <a:srgbClr val="FFFFFF"/>
          </a:solidFill>
          <a:ln cap="flat" cmpd="sng" w="12700">
            <a:solidFill>
              <a:srgbClr val="DDDDDD"/>
            </a:solidFill>
            <a:prstDash val="solid"/>
            <a:round/>
            <a:headEnd len="sm" w="sm" type="none"/>
            <a:tailEnd len="sm" w="sm" type="none"/>
          </a:ln>
          <a:effectLst>
            <a:outerShdw blurRad="1016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18"/>
          <p:cNvSpPr/>
          <p:nvPr/>
        </p:nvSpPr>
        <p:spPr>
          <a:xfrm>
            <a:off x="320040" y="1005840"/>
            <a:ext cx="2011680" cy="50292"/>
          </a:xfrm>
          <a:prstGeom prst="rect">
            <a:avLst/>
          </a:prstGeom>
          <a:solidFill>
            <a:srgbClr val="C8A84B"/>
          </a:solidFill>
          <a:ln cap="flat" cmpd="sng" w="12700">
            <a:solidFill>
              <a:srgbClr val="C8A84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18"/>
          <p:cNvSpPr/>
          <p:nvPr/>
        </p:nvSpPr>
        <p:spPr>
          <a:xfrm>
            <a:off x="457200" y="1115568"/>
            <a:ext cx="475488" cy="475488"/>
          </a:xfrm>
          <a:prstGeom prst="ellipse">
            <a:avLst/>
          </a:prstGeom>
          <a:solidFill>
            <a:srgbClr val="C8A84B"/>
          </a:solidFill>
          <a:ln cap="flat" cmpd="sng" w="12700">
            <a:solidFill>
              <a:srgbClr val="C8A84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18"/>
          <p:cNvSpPr/>
          <p:nvPr/>
        </p:nvSpPr>
        <p:spPr>
          <a:xfrm>
            <a:off x="457200" y="1115568"/>
            <a:ext cx="475488" cy="47548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A1628"/>
              </a:buClr>
              <a:buSzPts val="1600"/>
              <a:buFont typeface="Georgia"/>
              <a:buNone/>
            </a:pPr>
            <a:r>
              <a:rPr b="1" i="0" lang="en-GB" sz="1600" u="none" cap="none" strike="noStrike">
                <a:solidFill>
                  <a:srgbClr val="0A1628"/>
                </a:solidFill>
                <a:latin typeface="Georgia"/>
                <a:ea typeface="Georgia"/>
                <a:cs typeface="Georgia"/>
                <a:sym typeface="Georgia"/>
              </a:rPr>
              <a:t>1</a:t>
            </a:r>
            <a:endParaRPr b="0" i="0" sz="1600" u="none" cap="none" strike="noStrike">
              <a:solidFill>
                <a:schemeClr val="dk1"/>
              </a:solidFill>
              <a:latin typeface="Calibri"/>
              <a:ea typeface="Calibri"/>
              <a:cs typeface="Calibri"/>
              <a:sym typeface="Calibri"/>
            </a:endParaRPr>
          </a:p>
        </p:txBody>
      </p:sp>
      <p:sp>
        <p:nvSpPr>
          <p:cNvPr id="132" name="Google Shape;132;p18"/>
          <p:cNvSpPr/>
          <p:nvPr/>
        </p:nvSpPr>
        <p:spPr>
          <a:xfrm>
            <a:off x="1005840" y="1143000"/>
            <a:ext cx="1234440"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1628"/>
              </a:buClr>
              <a:buSzPts val="1250"/>
              <a:buFont typeface="Georgia"/>
              <a:buNone/>
            </a:pPr>
            <a:r>
              <a:rPr b="1" i="0" lang="en-GB" sz="1250" u="none" cap="none" strike="noStrike">
                <a:solidFill>
                  <a:srgbClr val="0A1628"/>
                </a:solidFill>
                <a:latin typeface="Georgia"/>
                <a:ea typeface="Georgia"/>
                <a:cs typeface="Georgia"/>
                <a:sym typeface="Georgia"/>
              </a:rPr>
              <a:t>Data Collection</a:t>
            </a:r>
            <a:endParaRPr b="0" i="0" sz="1250" u="none" cap="none" strike="noStrike">
              <a:solidFill>
                <a:schemeClr val="dk1"/>
              </a:solidFill>
              <a:latin typeface="Calibri"/>
              <a:ea typeface="Calibri"/>
              <a:cs typeface="Calibri"/>
              <a:sym typeface="Calibri"/>
            </a:endParaRPr>
          </a:p>
        </p:txBody>
      </p:sp>
      <p:sp>
        <p:nvSpPr>
          <p:cNvPr id="133" name="Google Shape;133;p18"/>
          <p:cNvSpPr/>
          <p:nvPr/>
        </p:nvSpPr>
        <p:spPr>
          <a:xfrm>
            <a:off x="457200" y="1664208"/>
            <a:ext cx="1783080" cy="29992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44444"/>
              </a:buClr>
              <a:buSzPts val="1050"/>
              <a:buFont typeface="Calibri"/>
              <a:buNone/>
            </a:pPr>
            <a:r>
              <a:rPr b="0" i="0" lang="en-GB" sz="1050" u="none" cap="none" strike="noStrike">
                <a:solidFill>
                  <a:srgbClr val="444444"/>
                </a:solidFill>
                <a:latin typeface="Calibri"/>
                <a:ea typeface="Calibri"/>
                <a:cs typeface="Calibri"/>
                <a:sym typeface="Calibri"/>
              </a:rPr>
              <a:t>Used nba_api Python library to pull 2024–25 Regular Season data directly from NBA.com.</a:t>
            </a:r>
            <a:endParaRPr b="0" i="0" sz="1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050"/>
              <a:buFont typeface="Calibri"/>
              <a:buNone/>
            </a:pPr>
            <a:r>
              <a:t/>
            </a:r>
            <a:endParaRPr b="0" i="0" sz="1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444444"/>
              </a:buClr>
              <a:buSzPts val="1050"/>
              <a:buFont typeface="Calibri"/>
              <a:buNone/>
            </a:pPr>
            <a:r>
              <a:rPr lang="en-GB" sz="1050">
                <a:solidFill>
                  <a:srgbClr val="444444"/>
                </a:solidFill>
                <a:latin typeface="Calibri"/>
                <a:ea typeface="Calibri"/>
                <a:cs typeface="Calibri"/>
                <a:sym typeface="Calibri"/>
              </a:rPr>
              <a:t>Three source datasets were used for the analysis: Clutch Traditional statistics, Clutch Four Factors statistics, and Regular-Season Traditional statistics.</a:t>
            </a:r>
            <a:endParaRPr b="0" i="0" sz="1050" u="none" cap="none" strike="noStrike">
              <a:solidFill>
                <a:schemeClr val="dk1"/>
              </a:solidFill>
              <a:latin typeface="Calibri"/>
              <a:ea typeface="Calibri"/>
              <a:cs typeface="Calibri"/>
              <a:sym typeface="Calibri"/>
            </a:endParaRPr>
          </a:p>
        </p:txBody>
      </p:sp>
      <p:sp>
        <p:nvSpPr>
          <p:cNvPr id="134" name="Google Shape;134;p18"/>
          <p:cNvSpPr/>
          <p:nvPr/>
        </p:nvSpPr>
        <p:spPr>
          <a:xfrm>
            <a:off x="2468880" y="1005840"/>
            <a:ext cx="2011680" cy="3931920"/>
          </a:xfrm>
          <a:prstGeom prst="rect">
            <a:avLst/>
          </a:prstGeom>
          <a:solidFill>
            <a:srgbClr val="FFFFFF"/>
          </a:solidFill>
          <a:ln cap="flat" cmpd="sng" w="12700">
            <a:solidFill>
              <a:srgbClr val="DDDDDD"/>
            </a:solidFill>
            <a:prstDash val="solid"/>
            <a:round/>
            <a:headEnd len="sm" w="sm" type="none"/>
            <a:tailEnd len="sm" w="sm" type="none"/>
          </a:ln>
          <a:effectLst>
            <a:outerShdw blurRad="1016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18"/>
          <p:cNvSpPr/>
          <p:nvPr/>
        </p:nvSpPr>
        <p:spPr>
          <a:xfrm>
            <a:off x="2468880" y="1005840"/>
            <a:ext cx="2011680" cy="50292"/>
          </a:xfrm>
          <a:prstGeom prst="rect">
            <a:avLst/>
          </a:prstGeom>
          <a:solidFill>
            <a:srgbClr val="C8A84B"/>
          </a:solidFill>
          <a:ln cap="flat" cmpd="sng" w="12700">
            <a:solidFill>
              <a:srgbClr val="C8A84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18"/>
          <p:cNvSpPr/>
          <p:nvPr/>
        </p:nvSpPr>
        <p:spPr>
          <a:xfrm>
            <a:off x="2606040" y="1115568"/>
            <a:ext cx="475488" cy="475488"/>
          </a:xfrm>
          <a:prstGeom prst="ellipse">
            <a:avLst/>
          </a:prstGeom>
          <a:solidFill>
            <a:srgbClr val="C8A84B"/>
          </a:solidFill>
          <a:ln cap="flat" cmpd="sng" w="12700">
            <a:solidFill>
              <a:srgbClr val="C8A84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18"/>
          <p:cNvSpPr/>
          <p:nvPr/>
        </p:nvSpPr>
        <p:spPr>
          <a:xfrm>
            <a:off x="2606040" y="1115568"/>
            <a:ext cx="475488" cy="47548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A1628"/>
              </a:buClr>
              <a:buSzPts val="1600"/>
              <a:buFont typeface="Georgia"/>
              <a:buNone/>
            </a:pPr>
            <a:r>
              <a:rPr b="1" i="0" lang="en-GB" sz="1600" u="none" cap="none" strike="noStrike">
                <a:solidFill>
                  <a:srgbClr val="0A1628"/>
                </a:solidFill>
                <a:latin typeface="Georgia"/>
                <a:ea typeface="Georgia"/>
                <a:cs typeface="Georgia"/>
                <a:sym typeface="Georgia"/>
              </a:rPr>
              <a:t>2</a:t>
            </a:r>
            <a:endParaRPr b="0" i="0" sz="1600" u="none" cap="none" strike="noStrike">
              <a:solidFill>
                <a:schemeClr val="dk1"/>
              </a:solidFill>
              <a:latin typeface="Calibri"/>
              <a:ea typeface="Calibri"/>
              <a:cs typeface="Calibri"/>
              <a:sym typeface="Calibri"/>
            </a:endParaRPr>
          </a:p>
        </p:txBody>
      </p:sp>
      <p:sp>
        <p:nvSpPr>
          <p:cNvPr id="138" name="Google Shape;138;p18"/>
          <p:cNvSpPr/>
          <p:nvPr/>
        </p:nvSpPr>
        <p:spPr>
          <a:xfrm>
            <a:off x="3154680" y="1143000"/>
            <a:ext cx="1234440"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1628"/>
              </a:buClr>
              <a:buSzPts val="1250"/>
              <a:buFont typeface="Georgia"/>
              <a:buNone/>
            </a:pPr>
            <a:r>
              <a:rPr b="1" i="0" lang="en-GB" sz="1250" u="none" cap="none" strike="noStrike">
                <a:solidFill>
                  <a:srgbClr val="0A1628"/>
                </a:solidFill>
                <a:latin typeface="Georgia"/>
                <a:ea typeface="Georgia"/>
                <a:cs typeface="Georgia"/>
                <a:sym typeface="Georgia"/>
              </a:rPr>
              <a:t>Data Cleaning</a:t>
            </a:r>
            <a:endParaRPr b="0" i="0" sz="1250" u="none" cap="none" strike="noStrike">
              <a:solidFill>
                <a:schemeClr val="dk1"/>
              </a:solidFill>
              <a:latin typeface="Calibri"/>
              <a:ea typeface="Calibri"/>
              <a:cs typeface="Calibri"/>
              <a:sym typeface="Calibri"/>
            </a:endParaRPr>
          </a:p>
        </p:txBody>
      </p:sp>
      <p:sp>
        <p:nvSpPr>
          <p:cNvPr id="139" name="Google Shape;139;p18"/>
          <p:cNvSpPr/>
          <p:nvPr/>
        </p:nvSpPr>
        <p:spPr>
          <a:xfrm>
            <a:off x="2606040" y="1664208"/>
            <a:ext cx="1783080" cy="29992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44444"/>
              </a:buClr>
              <a:buSzPts val="1050"/>
              <a:buFont typeface="Calibri"/>
              <a:buNone/>
            </a:pPr>
            <a:r>
              <a:rPr lang="en-GB" sz="1050">
                <a:solidFill>
                  <a:srgbClr val="444444"/>
                </a:solidFill>
                <a:latin typeface="Calibri"/>
                <a:ea typeface="Calibri"/>
                <a:cs typeface="Calibri"/>
                <a:sym typeface="Calibri"/>
              </a:rPr>
              <a:t>After collection, relevant columns were selected from each file, unnecessary fields were removed, team names were standardized.</a:t>
            </a:r>
            <a:endParaRPr sz="1050">
              <a:solidFill>
                <a:srgbClr val="444444"/>
              </a:solidFill>
              <a:latin typeface="Calibri"/>
              <a:ea typeface="Calibri"/>
              <a:cs typeface="Calibri"/>
              <a:sym typeface="Calibri"/>
            </a:endParaRPr>
          </a:p>
          <a:p>
            <a:pPr indent="0" lvl="0" marL="0" marR="0" rtl="0" algn="l">
              <a:spcBef>
                <a:spcPts val="0"/>
              </a:spcBef>
              <a:spcAft>
                <a:spcPts val="0"/>
              </a:spcAft>
              <a:buClr>
                <a:srgbClr val="444444"/>
              </a:buClr>
              <a:buSzPts val="1050"/>
              <a:buFont typeface="Calibri"/>
              <a:buNone/>
            </a:pPr>
            <a:r>
              <a:t/>
            </a:r>
            <a:endParaRPr sz="1050">
              <a:solidFill>
                <a:srgbClr val="444444"/>
              </a:solidFill>
              <a:latin typeface="Calibri"/>
              <a:ea typeface="Calibri"/>
              <a:cs typeface="Calibri"/>
              <a:sym typeface="Calibri"/>
            </a:endParaRPr>
          </a:p>
          <a:p>
            <a:pPr indent="0" lvl="0" marL="0" marR="0" rtl="0" algn="l">
              <a:spcBef>
                <a:spcPts val="0"/>
              </a:spcBef>
              <a:spcAft>
                <a:spcPts val="0"/>
              </a:spcAft>
              <a:buClr>
                <a:srgbClr val="444444"/>
              </a:buClr>
              <a:buSzPts val="1050"/>
              <a:buFont typeface="Calibri"/>
              <a:buNone/>
            </a:pPr>
            <a:r>
              <a:rPr lang="en-GB" sz="1050">
                <a:solidFill>
                  <a:srgbClr val="444444"/>
                </a:solidFill>
                <a:latin typeface="Calibri"/>
                <a:ea typeface="Calibri"/>
                <a:cs typeface="Calibri"/>
                <a:sym typeface="Calibri"/>
              </a:rPr>
              <a:t> variables were renamed for clarity using clutch_ and reg_ prefixes.</a:t>
            </a:r>
            <a:endParaRPr b="0" i="0" sz="1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444444"/>
              </a:buClr>
              <a:buSzPts val="1050"/>
              <a:buFont typeface="Calibri"/>
              <a:buNone/>
            </a:pPr>
            <a:r>
              <a:t/>
            </a:r>
            <a:endParaRPr b="0" i="0" sz="1050" u="none" cap="none" strike="noStrike">
              <a:solidFill>
                <a:schemeClr val="dk1"/>
              </a:solidFill>
              <a:latin typeface="Calibri"/>
              <a:ea typeface="Calibri"/>
              <a:cs typeface="Calibri"/>
              <a:sym typeface="Calibri"/>
            </a:endParaRPr>
          </a:p>
        </p:txBody>
      </p:sp>
      <p:sp>
        <p:nvSpPr>
          <p:cNvPr id="140" name="Google Shape;140;p18"/>
          <p:cNvSpPr/>
          <p:nvPr/>
        </p:nvSpPr>
        <p:spPr>
          <a:xfrm>
            <a:off x="4617720" y="1005840"/>
            <a:ext cx="2011680" cy="3931920"/>
          </a:xfrm>
          <a:prstGeom prst="rect">
            <a:avLst/>
          </a:prstGeom>
          <a:solidFill>
            <a:srgbClr val="FFFFFF"/>
          </a:solidFill>
          <a:ln cap="flat" cmpd="sng" w="12700">
            <a:solidFill>
              <a:srgbClr val="DDDDDD"/>
            </a:solidFill>
            <a:prstDash val="solid"/>
            <a:round/>
            <a:headEnd len="sm" w="sm" type="none"/>
            <a:tailEnd len="sm" w="sm" type="none"/>
          </a:ln>
          <a:effectLst>
            <a:outerShdw blurRad="1016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18"/>
          <p:cNvSpPr/>
          <p:nvPr/>
        </p:nvSpPr>
        <p:spPr>
          <a:xfrm>
            <a:off x="4617720" y="1005840"/>
            <a:ext cx="2011680" cy="50292"/>
          </a:xfrm>
          <a:prstGeom prst="rect">
            <a:avLst/>
          </a:prstGeom>
          <a:solidFill>
            <a:srgbClr val="C8A84B"/>
          </a:solidFill>
          <a:ln cap="flat" cmpd="sng" w="12700">
            <a:solidFill>
              <a:srgbClr val="C8A84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18"/>
          <p:cNvSpPr/>
          <p:nvPr/>
        </p:nvSpPr>
        <p:spPr>
          <a:xfrm>
            <a:off x="4754880" y="1115568"/>
            <a:ext cx="475488" cy="475488"/>
          </a:xfrm>
          <a:prstGeom prst="ellipse">
            <a:avLst/>
          </a:prstGeom>
          <a:solidFill>
            <a:srgbClr val="C8A84B"/>
          </a:solidFill>
          <a:ln cap="flat" cmpd="sng" w="12700">
            <a:solidFill>
              <a:srgbClr val="C8A84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18"/>
          <p:cNvSpPr/>
          <p:nvPr/>
        </p:nvSpPr>
        <p:spPr>
          <a:xfrm>
            <a:off x="4754880" y="1115568"/>
            <a:ext cx="475488" cy="47548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A1628"/>
              </a:buClr>
              <a:buSzPts val="1600"/>
              <a:buFont typeface="Georgia"/>
              <a:buNone/>
            </a:pPr>
            <a:r>
              <a:rPr b="1" i="0" lang="en-GB" sz="1600" u="none" cap="none" strike="noStrike">
                <a:solidFill>
                  <a:srgbClr val="0A1628"/>
                </a:solidFill>
                <a:latin typeface="Georgia"/>
                <a:ea typeface="Georgia"/>
                <a:cs typeface="Georgia"/>
                <a:sym typeface="Georgia"/>
              </a:rPr>
              <a:t>3</a:t>
            </a:r>
            <a:endParaRPr b="0" i="0" sz="1600" u="none" cap="none" strike="noStrike">
              <a:solidFill>
                <a:schemeClr val="dk1"/>
              </a:solidFill>
              <a:latin typeface="Calibri"/>
              <a:ea typeface="Calibri"/>
              <a:cs typeface="Calibri"/>
              <a:sym typeface="Calibri"/>
            </a:endParaRPr>
          </a:p>
        </p:txBody>
      </p:sp>
      <p:sp>
        <p:nvSpPr>
          <p:cNvPr id="144" name="Google Shape;144;p18"/>
          <p:cNvSpPr/>
          <p:nvPr/>
        </p:nvSpPr>
        <p:spPr>
          <a:xfrm>
            <a:off x="5303520" y="1143000"/>
            <a:ext cx="1234440"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1628"/>
              </a:buClr>
              <a:buSzPts val="1250"/>
              <a:buFont typeface="Georgia"/>
              <a:buNone/>
            </a:pPr>
            <a:r>
              <a:rPr b="1" i="0" lang="en-GB" sz="1250" u="none" cap="none" strike="noStrike">
                <a:solidFill>
                  <a:srgbClr val="0A1628"/>
                </a:solidFill>
                <a:latin typeface="Georgia"/>
                <a:ea typeface="Georgia"/>
                <a:cs typeface="Georgia"/>
                <a:sym typeface="Georgia"/>
              </a:rPr>
              <a:t>Merging</a:t>
            </a:r>
            <a:endParaRPr b="0" i="0" sz="1250" u="none" cap="none" strike="noStrike">
              <a:solidFill>
                <a:schemeClr val="dk1"/>
              </a:solidFill>
              <a:latin typeface="Calibri"/>
              <a:ea typeface="Calibri"/>
              <a:cs typeface="Calibri"/>
              <a:sym typeface="Calibri"/>
            </a:endParaRPr>
          </a:p>
        </p:txBody>
      </p:sp>
      <p:sp>
        <p:nvSpPr>
          <p:cNvPr id="145" name="Google Shape;145;p18"/>
          <p:cNvSpPr/>
          <p:nvPr/>
        </p:nvSpPr>
        <p:spPr>
          <a:xfrm>
            <a:off x="4754880" y="1664208"/>
            <a:ext cx="1783080" cy="29992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44444"/>
              </a:buClr>
              <a:buSzPts val="1050"/>
              <a:buFont typeface="Calibri"/>
              <a:buNone/>
            </a:pPr>
            <a:r>
              <a:rPr b="0" i="0" lang="en-GB" sz="1050" u="none" cap="none" strike="noStrike">
                <a:solidFill>
                  <a:srgbClr val="444444"/>
                </a:solidFill>
                <a:latin typeface="Calibri"/>
                <a:ea typeface="Calibri"/>
                <a:cs typeface="Calibri"/>
                <a:sym typeface="Calibri"/>
              </a:rPr>
              <a:t>Inner join: </a:t>
            </a:r>
            <a:r>
              <a:rPr lang="en-GB" sz="1050">
                <a:solidFill>
                  <a:srgbClr val="444444"/>
                </a:solidFill>
                <a:latin typeface="Calibri"/>
                <a:ea typeface="Calibri"/>
                <a:cs typeface="Calibri"/>
                <a:sym typeface="Calibri"/>
              </a:rPr>
              <a:t>The three cleaned datasets were merged by team name to create one final team-level dataset containing regular-season and clutch statistics for all 30 NBA teams.</a:t>
            </a:r>
            <a:endParaRPr sz="1050">
              <a:solidFill>
                <a:srgbClr val="444444"/>
              </a:solidFill>
              <a:latin typeface="Calibri"/>
              <a:ea typeface="Calibri"/>
              <a:cs typeface="Calibri"/>
              <a:sym typeface="Calibri"/>
            </a:endParaRPr>
          </a:p>
          <a:p>
            <a:pPr indent="0" lvl="0" marL="0" marR="0" rtl="0" algn="l">
              <a:spcBef>
                <a:spcPts val="0"/>
              </a:spcBef>
              <a:spcAft>
                <a:spcPts val="0"/>
              </a:spcAft>
              <a:buClr>
                <a:schemeClr val="dk1"/>
              </a:buClr>
              <a:buSzPts val="1050"/>
              <a:buFont typeface="Calibri"/>
              <a:buNone/>
            </a:pPr>
            <a:r>
              <a:t/>
            </a:r>
            <a:endParaRPr b="0" i="0" sz="1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444444"/>
              </a:buClr>
              <a:buSzPts val="1050"/>
              <a:buFont typeface="Calibri"/>
              <a:buNone/>
            </a:pPr>
            <a:r>
              <a:rPr b="0" i="0" lang="en-GB" sz="1050" u="none" cap="none" strike="noStrike">
                <a:solidFill>
                  <a:srgbClr val="444444"/>
                </a:solidFill>
                <a:latin typeface="Calibri"/>
                <a:ea typeface="Calibri"/>
                <a:cs typeface="Calibri"/>
                <a:sym typeface="Calibri"/>
              </a:rPr>
              <a:t>Final dataset:</a:t>
            </a:r>
            <a:endParaRPr b="0" i="0" sz="1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444444"/>
              </a:buClr>
              <a:buSzPts val="1050"/>
              <a:buFont typeface="Calibri"/>
              <a:buNone/>
            </a:pPr>
            <a:r>
              <a:rPr b="0" i="0" lang="en-GB" sz="1050" u="none" cap="none" strike="noStrike">
                <a:solidFill>
                  <a:srgbClr val="444444"/>
                </a:solidFill>
                <a:latin typeface="Calibri"/>
                <a:ea typeface="Calibri"/>
                <a:cs typeface="Calibri"/>
                <a:sym typeface="Calibri"/>
              </a:rPr>
              <a:t>30 teams × 33 columns → nba_clutch_merged.csv</a:t>
            </a:r>
            <a:endParaRPr b="0" i="0" sz="1050" u="none" cap="none" strike="noStrike">
              <a:solidFill>
                <a:schemeClr val="dk1"/>
              </a:solidFill>
              <a:latin typeface="Calibri"/>
              <a:ea typeface="Calibri"/>
              <a:cs typeface="Calibri"/>
              <a:sym typeface="Calibri"/>
            </a:endParaRPr>
          </a:p>
        </p:txBody>
      </p:sp>
      <p:sp>
        <p:nvSpPr>
          <p:cNvPr id="146" name="Google Shape;146;p18"/>
          <p:cNvSpPr/>
          <p:nvPr/>
        </p:nvSpPr>
        <p:spPr>
          <a:xfrm>
            <a:off x="6766560" y="1005840"/>
            <a:ext cx="2011680" cy="3931920"/>
          </a:xfrm>
          <a:prstGeom prst="rect">
            <a:avLst/>
          </a:prstGeom>
          <a:solidFill>
            <a:srgbClr val="FFFFFF"/>
          </a:solidFill>
          <a:ln cap="flat" cmpd="sng" w="12700">
            <a:solidFill>
              <a:srgbClr val="DDDDDD"/>
            </a:solidFill>
            <a:prstDash val="solid"/>
            <a:round/>
            <a:headEnd len="sm" w="sm" type="none"/>
            <a:tailEnd len="sm" w="sm" type="none"/>
          </a:ln>
          <a:effectLst>
            <a:outerShdw blurRad="1016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8"/>
          <p:cNvSpPr/>
          <p:nvPr/>
        </p:nvSpPr>
        <p:spPr>
          <a:xfrm>
            <a:off x="6766560" y="1005840"/>
            <a:ext cx="2011680" cy="50292"/>
          </a:xfrm>
          <a:prstGeom prst="rect">
            <a:avLst/>
          </a:prstGeom>
          <a:solidFill>
            <a:srgbClr val="C8A84B"/>
          </a:solidFill>
          <a:ln cap="flat" cmpd="sng" w="12700">
            <a:solidFill>
              <a:srgbClr val="C8A84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18"/>
          <p:cNvSpPr/>
          <p:nvPr/>
        </p:nvSpPr>
        <p:spPr>
          <a:xfrm>
            <a:off x="6903720" y="1115568"/>
            <a:ext cx="475488" cy="475488"/>
          </a:xfrm>
          <a:prstGeom prst="ellipse">
            <a:avLst/>
          </a:prstGeom>
          <a:solidFill>
            <a:srgbClr val="C8A84B"/>
          </a:solidFill>
          <a:ln cap="flat" cmpd="sng" w="12700">
            <a:solidFill>
              <a:srgbClr val="C8A84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18"/>
          <p:cNvSpPr/>
          <p:nvPr/>
        </p:nvSpPr>
        <p:spPr>
          <a:xfrm>
            <a:off x="6903720" y="1115568"/>
            <a:ext cx="475488" cy="47548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A1628"/>
              </a:buClr>
              <a:buSzPts val="1600"/>
              <a:buFont typeface="Georgia"/>
              <a:buNone/>
            </a:pPr>
            <a:r>
              <a:rPr b="1" i="0" lang="en-GB" sz="1600" u="none" cap="none" strike="noStrike">
                <a:solidFill>
                  <a:srgbClr val="0A1628"/>
                </a:solidFill>
                <a:latin typeface="Georgia"/>
                <a:ea typeface="Georgia"/>
                <a:cs typeface="Georgia"/>
                <a:sym typeface="Georgia"/>
              </a:rPr>
              <a:t>4</a:t>
            </a:r>
            <a:endParaRPr b="0" i="0" sz="1600" u="none" cap="none" strike="noStrike">
              <a:solidFill>
                <a:schemeClr val="dk1"/>
              </a:solidFill>
              <a:latin typeface="Calibri"/>
              <a:ea typeface="Calibri"/>
              <a:cs typeface="Calibri"/>
              <a:sym typeface="Calibri"/>
            </a:endParaRPr>
          </a:p>
        </p:txBody>
      </p:sp>
      <p:sp>
        <p:nvSpPr>
          <p:cNvPr id="150" name="Google Shape;150;p18"/>
          <p:cNvSpPr/>
          <p:nvPr/>
        </p:nvSpPr>
        <p:spPr>
          <a:xfrm>
            <a:off x="7452360" y="1143000"/>
            <a:ext cx="1234440"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1628"/>
              </a:buClr>
              <a:buSzPts val="1250"/>
              <a:buFont typeface="Georgia"/>
              <a:buNone/>
            </a:pPr>
            <a:r>
              <a:rPr b="1" i="0" lang="en-GB" sz="1250" u="none" cap="none" strike="noStrike">
                <a:solidFill>
                  <a:srgbClr val="0A1628"/>
                </a:solidFill>
                <a:latin typeface="Georgia"/>
                <a:ea typeface="Georgia"/>
                <a:cs typeface="Georgia"/>
                <a:sym typeface="Georgia"/>
              </a:rPr>
              <a:t>Analysis </a:t>
            </a:r>
            <a:endParaRPr b="0" i="0" sz="1250" u="none" cap="none" strike="noStrike">
              <a:solidFill>
                <a:schemeClr val="dk1"/>
              </a:solidFill>
              <a:latin typeface="Calibri"/>
              <a:ea typeface="Calibri"/>
              <a:cs typeface="Calibri"/>
              <a:sym typeface="Calibri"/>
            </a:endParaRPr>
          </a:p>
        </p:txBody>
      </p:sp>
      <p:sp>
        <p:nvSpPr>
          <p:cNvPr id="151" name="Google Shape;151;p18"/>
          <p:cNvSpPr/>
          <p:nvPr/>
        </p:nvSpPr>
        <p:spPr>
          <a:xfrm>
            <a:off x="6903720" y="1664208"/>
            <a:ext cx="1783080" cy="29992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44444"/>
              </a:buClr>
              <a:buSzPts val="1050"/>
              <a:buFont typeface="Calibri"/>
              <a:buNone/>
            </a:pPr>
            <a:r>
              <a:rPr b="0" i="0" lang="en-GB" sz="1050" u="none" cap="none" strike="noStrike">
                <a:solidFill>
                  <a:srgbClr val="444444"/>
                </a:solidFill>
                <a:latin typeface="Calibri"/>
                <a:ea typeface="Calibri"/>
                <a:cs typeface="Calibri"/>
                <a:sym typeface="Calibri"/>
              </a:rPr>
              <a:t>Correlation analysis across 11 clutch metrics.</a:t>
            </a:r>
            <a:endParaRPr b="0" i="0" sz="1050" u="none" cap="none" strike="noStrike">
              <a:solidFill>
                <a:srgbClr val="444444"/>
              </a:solidFill>
              <a:latin typeface="Calibri"/>
              <a:ea typeface="Calibri"/>
              <a:cs typeface="Calibri"/>
              <a:sym typeface="Calibri"/>
            </a:endParaRPr>
          </a:p>
          <a:p>
            <a:pPr indent="0" lvl="0" marL="0" marR="0" rtl="0" algn="l">
              <a:spcBef>
                <a:spcPts val="0"/>
              </a:spcBef>
              <a:spcAft>
                <a:spcPts val="0"/>
              </a:spcAft>
              <a:buClr>
                <a:srgbClr val="444444"/>
              </a:buClr>
              <a:buSzPts val="1050"/>
              <a:buFont typeface="Calibri"/>
              <a:buNone/>
            </a:pPr>
            <a:r>
              <a:t/>
            </a:r>
            <a:endParaRPr sz="1050">
              <a:solidFill>
                <a:srgbClr val="444444"/>
              </a:solidFill>
              <a:latin typeface="Calibri"/>
              <a:ea typeface="Calibri"/>
              <a:cs typeface="Calibri"/>
              <a:sym typeface="Calibri"/>
            </a:endParaRPr>
          </a:p>
          <a:p>
            <a:pPr indent="0" lvl="0" marL="0" marR="0" rtl="0" algn="l">
              <a:spcBef>
                <a:spcPts val="0"/>
              </a:spcBef>
              <a:spcAft>
                <a:spcPts val="0"/>
              </a:spcAft>
              <a:buClr>
                <a:srgbClr val="444444"/>
              </a:buClr>
              <a:buSzPts val="1050"/>
              <a:buFont typeface="Calibri"/>
              <a:buNone/>
            </a:pPr>
            <a:r>
              <a:rPr b="0" i="0" lang="en-GB" sz="1050" u="none" cap="none" strike="noStrike">
                <a:solidFill>
                  <a:srgbClr val="444444"/>
                </a:solidFill>
                <a:latin typeface="Calibri"/>
                <a:ea typeface="Calibri"/>
                <a:cs typeface="Calibri"/>
                <a:sym typeface="Calibri"/>
              </a:rPr>
              <a:t>All visualizations produced in matplotlib:</a:t>
            </a:r>
            <a:endParaRPr b="0" i="0" sz="1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444444"/>
              </a:buClr>
              <a:buSzPts val="1050"/>
              <a:buFont typeface="Calibri"/>
              <a:buNone/>
            </a:pPr>
            <a:r>
              <a:rPr b="0" i="0" lang="en-GB" sz="1050" u="none" cap="none" strike="noStrike">
                <a:solidFill>
                  <a:srgbClr val="444444"/>
                </a:solidFill>
                <a:latin typeface="Calibri"/>
                <a:ea typeface="Calibri"/>
                <a:cs typeface="Calibri"/>
                <a:sym typeface="Calibri"/>
              </a:rPr>
              <a:t>• Scatter plots</a:t>
            </a:r>
            <a:endParaRPr b="0" i="0" sz="1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444444"/>
              </a:buClr>
              <a:buSzPts val="1050"/>
              <a:buFont typeface="Calibri"/>
              <a:buNone/>
            </a:pPr>
            <a:r>
              <a:rPr b="0" i="0" lang="en-GB" sz="1050" u="none" cap="none" strike="noStrike">
                <a:solidFill>
                  <a:srgbClr val="444444"/>
                </a:solidFill>
                <a:latin typeface="Calibri"/>
                <a:ea typeface="Calibri"/>
                <a:cs typeface="Calibri"/>
                <a:sym typeface="Calibri"/>
              </a:rPr>
              <a:t>• Bar charts</a:t>
            </a:r>
            <a:endParaRPr b="0" i="0" sz="1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444444"/>
              </a:buClr>
              <a:buSzPts val="1050"/>
              <a:buFont typeface="Calibri"/>
              <a:buNone/>
            </a:pPr>
            <a:r>
              <a:rPr b="0" i="0" lang="en-GB" sz="1050" u="none" cap="none" strike="noStrike">
                <a:solidFill>
                  <a:srgbClr val="444444"/>
                </a:solidFill>
                <a:latin typeface="Calibri"/>
                <a:ea typeface="Calibri"/>
                <a:cs typeface="Calibri"/>
                <a:sym typeface="Calibri"/>
              </a:rPr>
              <a:t>• Heatmap</a:t>
            </a:r>
            <a:endParaRPr b="0" i="0" sz="1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444444"/>
              </a:buClr>
              <a:buSzPts val="1050"/>
              <a:buFont typeface="Calibri"/>
              <a:buNone/>
            </a:pPr>
            <a:r>
              <a:rPr b="0" i="0" lang="en-GB" sz="1050" u="none" cap="none" strike="noStrike">
                <a:solidFill>
                  <a:srgbClr val="444444"/>
                </a:solidFill>
                <a:latin typeface="Calibri"/>
                <a:ea typeface="Calibri"/>
                <a:cs typeface="Calibri"/>
                <a:sym typeface="Calibri"/>
              </a:rPr>
              <a:t>• Slope charts</a:t>
            </a:r>
            <a:endParaRPr b="0" i="0" sz="1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444444"/>
              </a:buClr>
              <a:buSzPts val="1050"/>
              <a:buFont typeface="Calibri"/>
              <a:buNone/>
            </a:pPr>
            <a:r>
              <a:rPr b="0" i="0" lang="en-GB" sz="1050" u="none" cap="none" strike="noStrike">
                <a:solidFill>
                  <a:srgbClr val="444444"/>
                </a:solidFill>
                <a:latin typeface="Calibri"/>
                <a:ea typeface="Calibri"/>
                <a:cs typeface="Calibri"/>
                <a:sym typeface="Calibri"/>
              </a:rPr>
              <a:t>• Dumbbell plot</a:t>
            </a:r>
            <a:endParaRPr b="0" i="0" sz="1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444444"/>
              </a:buClr>
              <a:buSzPts val="1050"/>
              <a:buFont typeface="Calibri"/>
              <a:buNone/>
            </a:pPr>
            <a:r>
              <a:rPr b="0" i="0" lang="en-GB" sz="1050" u="none" cap="none" strike="noStrike">
                <a:solidFill>
                  <a:srgbClr val="444444"/>
                </a:solidFill>
                <a:latin typeface="Calibri"/>
                <a:ea typeface="Calibri"/>
                <a:cs typeface="Calibri"/>
                <a:sym typeface="Calibri"/>
              </a:rPr>
              <a:t>• Dot plots</a:t>
            </a:r>
            <a:endParaRPr b="0" i="0" sz="1050" u="none" cap="none" strike="noStrike">
              <a:solidFill>
                <a:schemeClr val="dk1"/>
              </a:solidFill>
              <a:latin typeface="Calibri"/>
              <a:ea typeface="Calibri"/>
              <a:cs typeface="Calibri"/>
              <a:sym typeface="Calibri"/>
            </a:endParaRPr>
          </a:p>
        </p:txBody>
      </p:sp>
      <p:sp>
        <p:nvSpPr>
          <p:cNvPr id="152" name="Google Shape;152;p18"/>
          <p:cNvSpPr/>
          <p:nvPr/>
        </p:nvSpPr>
        <p:spPr>
          <a:xfrm>
            <a:off x="2313432" y="2468880"/>
            <a:ext cx="201168" cy="228600"/>
          </a:xfrm>
          <a:prstGeom prst="rightArrow">
            <a:avLst>
              <a:gd fmla="val 50000" name="adj1"/>
              <a:gd fmla="val 50000" name="adj2"/>
            </a:avLst>
          </a:prstGeom>
          <a:solidFill>
            <a:srgbClr val="C8A84B"/>
          </a:solidFill>
          <a:ln cap="flat" cmpd="sng" w="12700">
            <a:solidFill>
              <a:srgbClr val="C8A84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8"/>
          <p:cNvSpPr/>
          <p:nvPr/>
        </p:nvSpPr>
        <p:spPr>
          <a:xfrm>
            <a:off x="4462272" y="2468880"/>
            <a:ext cx="201168" cy="228600"/>
          </a:xfrm>
          <a:prstGeom prst="rightArrow">
            <a:avLst>
              <a:gd fmla="val 50000" name="adj1"/>
              <a:gd fmla="val 50000" name="adj2"/>
            </a:avLst>
          </a:prstGeom>
          <a:solidFill>
            <a:srgbClr val="C8A84B"/>
          </a:solidFill>
          <a:ln cap="flat" cmpd="sng" w="12700">
            <a:solidFill>
              <a:srgbClr val="C8A84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18"/>
          <p:cNvSpPr/>
          <p:nvPr/>
        </p:nvSpPr>
        <p:spPr>
          <a:xfrm>
            <a:off x="6611112" y="2468880"/>
            <a:ext cx="201168" cy="228600"/>
          </a:xfrm>
          <a:prstGeom prst="rightArrow">
            <a:avLst>
              <a:gd fmla="val 50000" name="adj1"/>
              <a:gd fmla="val 50000" name="adj2"/>
            </a:avLst>
          </a:prstGeom>
          <a:solidFill>
            <a:srgbClr val="C8A84B"/>
          </a:solidFill>
          <a:ln cap="flat" cmpd="sng" w="12700">
            <a:solidFill>
              <a:srgbClr val="C8A84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18"/>
          <p:cNvSpPr/>
          <p:nvPr/>
        </p:nvSpPr>
        <p:spPr>
          <a:xfrm>
            <a:off x="0" y="4892040"/>
            <a:ext cx="9144000" cy="2286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94A3B8"/>
              </a:buClr>
              <a:buSzPts val="950"/>
              <a:buFont typeface="Calibri"/>
              <a:buNone/>
            </a:pPr>
            <a:r>
              <a:rPr b="0" i="0" lang="en-GB" sz="950" u="none" cap="none" strike="noStrike">
                <a:solidFill>
                  <a:srgbClr val="94A3B8"/>
                </a:solidFill>
                <a:latin typeface="Calibri"/>
                <a:ea typeface="Calibri"/>
                <a:cs typeface="Calibri"/>
                <a:sym typeface="Calibri"/>
              </a:rPr>
              <a:t>Tools: Python 3  •  pandas  •  matplotlib  •  nba_api  •  Season: 2024–25 Regular Season</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19"/>
          <p:cNvSpPr/>
          <p:nvPr/>
        </p:nvSpPr>
        <p:spPr>
          <a:xfrm>
            <a:off x="0" y="0"/>
            <a:ext cx="9144000" cy="914400"/>
          </a:xfrm>
          <a:prstGeom prst="rect">
            <a:avLst/>
          </a:prstGeom>
          <a:solidFill>
            <a:srgbClr val="122040"/>
          </a:solidFill>
          <a:ln cap="flat" cmpd="sng" w="12700">
            <a:solidFill>
              <a:srgbClr val="1220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9"/>
          <p:cNvSpPr/>
          <p:nvPr/>
        </p:nvSpPr>
        <p:spPr>
          <a:xfrm>
            <a:off x="0" y="0"/>
            <a:ext cx="1097400" cy="914400"/>
          </a:xfrm>
          <a:prstGeom prst="rect">
            <a:avLst/>
          </a:prstGeom>
          <a:solidFill>
            <a:srgbClr val="1E3A6E"/>
          </a:solidFill>
          <a:ln cap="flat" cmpd="sng" w="12700">
            <a:solidFill>
              <a:srgbClr val="1E3A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9"/>
          <p:cNvSpPr/>
          <p:nvPr/>
        </p:nvSpPr>
        <p:spPr>
          <a:xfrm>
            <a:off x="0" y="0"/>
            <a:ext cx="1097400" cy="914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A84B"/>
              </a:buClr>
              <a:buSzPts val="1300"/>
              <a:buFont typeface="Calibri"/>
              <a:buNone/>
            </a:pPr>
            <a:r>
              <a:rPr b="1" lang="en-GB" sz="1300">
                <a:solidFill>
                  <a:srgbClr val="C8A84B"/>
                </a:solidFill>
                <a:latin typeface="Calibri"/>
                <a:ea typeface="Calibri"/>
                <a:cs typeface="Calibri"/>
                <a:sym typeface="Calibri"/>
              </a:rPr>
              <a:t>3.1</a:t>
            </a:r>
            <a:endParaRPr b="1" sz="1300">
              <a:solidFill>
                <a:srgbClr val="C8A84B"/>
              </a:solidFill>
              <a:latin typeface="Calibri"/>
              <a:ea typeface="Calibri"/>
              <a:cs typeface="Calibri"/>
              <a:sym typeface="Calibri"/>
            </a:endParaRPr>
          </a:p>
        </p:txBody>
      </p:sp>
      <p:sp>
        <p:nvSpPr>
          <p:cNvPr id="163" name="Google Shape;163;p19"/>
          <p:cNvSpPr/>
          <p:nvPr/>
        </p:nvSpPr>
        <p:spPr>
          <a:xfrm>
            <a:off x="1234440" y="137160"/>
            <a:ext cx="82296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300"/>
              <a:buFont typeface="Georgia"/>
              <a:buNone/>
            </a:pPr>
            <a:r>
              <a:rPr b="1" lang="en-GB" sz="2300">
                <a:solidFill>
                  <a:srgbClr val="FFFFFF"/>
                </a:solidFill>
                <a:latin typeface="Georgia"/>
                <a:ea typeface="Georgia"/>
                <a:cs typeface="Georgia"/>
                <a:sym typeface="Georgia"/>
              </a:rPr>
              <a:t>Dataset </a:t>
            </a:r>
            <a:endParaRPr b="0" i="0" sz="2300" u="none" cap="none" strike="noStrike">
              <a:solidFill>
                <a:schemeClr val="dk1"/>
              </a:solidFill>
              <a:latin typeface="Calibri"/>
              <a:ea typeface="Calibri"/>
              <a:cs typeface="Calibri"/>
              <a:sym typeface="Calibri"/>
            </a:endParaRPr>
          </a:p>
        </p:txBody>
      </p:sp>
      <p:pic>
        <p:nvPicPr>
          <p:cNvPr id="164" name="Google Shape;164;p19"/>
          <p:cNvPicPr preferRelativeResize="0"/>
          <p:nvPr/>
        </p:nvPicPr>
        <p:blipFill>
          <a:blip r:embed="rId3">
            <a:alphaModFix/>
          </a:blip>
          <a:stretch>
            <a:fillRect/>
          </a:stretch>
        </p:blipFill>
        <p:spPr>
          <a:xfrm>
            <a:off x="152400" y="1232225"/>
            <a:ext cx="8839199" cy="3187874"/>
          </a:xfrm>
          <a:prstGeom prst="rect">
            <a:avLst/>
          </a:prstGeom>
          <a:noFill/>
          <a:ln>
            <a:noFill/>
          </a:ln>
        </p:spPr>
      </p:pic>
      <p:sp>
        <p:nvSpPr>
          <p:cNvPr id="165" name="Google Shape;165;p19"/>
          <p:cNvSpPr txBox="1"/>
          <p:nvPr/>
        </p:nvSpPr>
        <p:spPr>
          <a:xfrm>
            <a:off x="206700" y="4579075"/>
            <a:ext cx="8744700" cy="29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050">
                <a:solidFill>
                  <a:srgbClr val="444444"/>
                </a:solidFill>
                <a:latin typeface="Calibri"/>
                <a:ea typeface="Calibri"/>
                <a:cs typeface="Calibri"/>
                <a:sym typeface="Calibri"/>
              </a:rPr>
              <a:t>                                                                                                  Final merged dataset used for visualization</a:t>
            </a:r>
            <a:endParaRPr sz="1050">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B"/>
        </a:solidFill>
      </p:bgPr>
    </p:bg>
    <p:spTree>
      <p:nvGrpSpPr>
        <p:cNvPr id="170" name="Shape 170"/>
        <p:cNvGrpSpPr/>
        <p:nvPr/>
      </p:nvGrpSpPr>
      <p:grpSpPr>
        <a:xfrm>
          <a:off x="0" y="0"/>
          <a:ext cx="0" cy="0"/>
          <a:chOff x="0" y="0"/>
          <a:chExt cx="0" cy="0"/>
        </a:xfrm>
      </p:grpSpPr>
      <p:sp>
        <p:nvSpPr>
          <p:cNvPr id="171" name="Google Shape;171;p20"/>
          <p:cNvSpPr/>
          <p:nvPr/>
        </p:nvSpPr>
        <p:spPr>
          <a:xfrm>
            <a:off x="0" y="0"/>
            <a:ext cx="9144000" cy="914400"/>
          </a:xfrm>
          <a:prstGeom prst="rect">
            <a:avLst/>
          </a:prstGeom>
          <a:solidFill>
            <a:srgbClr val="122040"/>
          </a:solidFill>
          <a:ln cap="flat" cmpd="sng" w="12700">
            <a:solidFill>
              <a:srgbClr val="1220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20"/>
          <p:cNvSpPr/>
          <p:nvPr/>
        </p:nvSpPr>
        <p:spPr>
          <a:xfrm>
            <a:off x="0" y="0"/>
            <a:ext cx="1097280" cy="914400"/>
          </a:xfrm>
          <a:prstGeom prst="rect">
            <a:avLst/>
          </a:prstGeom>
          <a:solidFill>
            <a:srgbClr val="1E3A6E"/>
          </a:solidFill>
          <a:ln cap="flat" cmpd="sng" w="12700">
            <a:solidFill>
              <a:srgbClr val="1E3A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20"/>
          <p:cNvSpPr/>
          <p:nvPr/>
        </p:nvSpPr>
        <p:spPr>
          <a:xfrm>
            <a:off x="0" y="0"/>
            <a:ext cx="1097280" cy="914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A84B"/>
              </a:buClr>
              <a:buSzPts val="1300"/>
              <a:buFont typeface="Calibri"/>
              <a:buNone/>
            </a:pPr>
            <a:r>
              <a:rPr b="1" i="0" lang="en-GB" sz="1300" u="none" cap="none" strike="noStrike">
                <a:solidFill>
                  <a:srgbClr val="C8A84B"/>
                </a:solidFill>
                <a:latin typeface="Calibri"/>
                <a:ea typeface="Calibri"/>
                <a:cs typeface="Calibri"/>
                <a:sym typeface="Calibri"/>
              </a:rPr>
              <a:t>04</a:t>
            </a:r>
            <a:endParaRPr b="0" i="0" sz="1300" u="none" cap="none" strike="noStrike">
              <a:solidFill>
                <a:schemeClr val="dk1"/>
              </a:solidFill>
              <a:latin typeface="Calibri"/>
              <a:ea typeface="Calibri"/>
              <a:cs typeface="Calibri"/>
              <a:sym typeface="Calibri"/>
            </a:endParaRPr>
          </a:p>
        </p:txBody>
      </p:sp>
      <p:sp>
        <p:nvSpPr>
          <p:cNvPr id="174" name="Google Shape;174;p20"/>
          <p:cNvSpPr/>
          <p:nvPr/>
        </p:nvSpPr>
        <p:spPr>
          <a:xfrm>
            <a:off x="1234440" y="137160"/>
            <a:ext cx="82296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300"/>
              <a:buFont typeface="Georgia"/>
              <a:buNone/>
            </a:pPr>
            <a:r>
              <a:rPr b="1" i="0" lang="en-GB" sz="2300" u="none" cap="none" strike="noStrike">
                <a:solidFill>
                  <a:srgbClr val="FFFFFF"/>
                </a:solidFill>
                <a:latin typeface="Georgia"/>
                <a:ea typeface="Georgia"/>
                <a:cs typeface="Georgia"/>
                <a:sym typeface="Georgia"/>
              </a:rPr>
              <a:t>Research Questions</a:t>
            </a:r>
            <a:endParaRPr b="0" i="0" sz="2300" u="none" cap="none" strike="noStrike">
              <a:solidFill>
                <a:schemeClr val="dk1"/>
              </a:solidFill>
              <a:latin typeface="Calibri"/>
              <a:ea typeface="Calibri"/>
              <a:cs typeface="Calibri"/>
              <a:sym typeface="Calibri"/>
            </a:endParaRPr>
          </a:p>
        </p:txBody>
      </p:sp>
      <p:sp>
        <p:nvSpPr>
          <p:cNvPr id="175" name="Google Shape;175;p20"/>
          <p:cNvSpPr/>
          <p:nvPr/>
        </p:nvSpPr>
        <p:spPr>
          <a:xfrm>
            <a:off x="365760" y="1005840"/>
            <a:ext cx="8412480" cy="1261872"/>
          </a:xfrm>
          <a:prstGeom prst="rect">
            <a:avLst/>
          </a:prstGeom>
          <a:solidFill>
            <a:srgbClr val="FFFFFF"/>
          </a:solidFill>
          <a:ln cap="flat" cmpd="sng" w="12700">
            <a:solidFill>
              <a:srgbClr val="DDDDDD"/>
            </a:solidFill>
            <a:prstDash val="solid"/>
            <a:round/>
            <a:headEnd len="sm" w="sm" type="none"/>
            <a:tailEnd len="sm" w="sm" type="none"/>
          </a:ln>
          <a:effectLst>
            <a:outerShdw blurRad="1016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20"/>
          <p:cNvSpPr/>
          <p:nvPr/>
        </p:nvSpPr>
        <p:spPr>
          <a:xfrm>
            <a:off x="365760" y="1005840"/>
            <a:ext cx="8412480" cy="50292"/>
          </a:xfrm>
          <a:prstGeom prst="rect">
            <a:avLst/>
          </a:prstGeom>
          <a:solidFill>
            <a:srgbClr val="C8A84B"/>
          </a:solidFill>
          <a:ln cap="flat" cmpd="sng" w="12700">
            <a:solidFill>
              <a:srgbClr val="C8A84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20"/>
          <p:cNvSpPr/>
          <p:nvPr/>
        </p:nvSpPr>
        <p:spPr>
          <a:xfrm>
            <a:off x="365760" y="1005840"/>
            <a:ext cx="822960" cy="1261872"/>
          </a:xfrm>
          <a:prstGeom prst="rect">
            <a:avLst/>
          </a:prstGeom>
          <a:solidFill>
            <a:srgbClr val="1E3A6E"/>
          </a:solidFill>
          <a:ln cap="flat" cmpd="sng" w="12700">
            <a:solidFill>
              <a:srgbClr val="1E3A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20"/>
          <p:cNvSpPr/>
          <p:nvPr/>
        </p:nvSpPr>
        <p:spPr>
          <a:xfrm>
            <a:off x="365760" y="1005840"/>
            <a:ext cx="822960" cy="50292"/>
          </a:xfrm>
          <a:prstGeom prst="rect">
            <a:avLst/>
          </a:prstGeom>
          <a:solidFill>
            <a:srgbClr val="C8A84B"/>
          </a:solidFill>
          <a:ln cap="flat" cmpd="sng" w="12700">
            <a:solidFill>
              <a:srgbClr val="C8A84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20"/>
          <p:cNvSpPr/>
          <p:nvPr/>
        </p:nvSpPr>
        <p:spPr>
          <a:xfrm>
            <a:off x="365760" y="1005840"/>
            <a:ext cx="822960" cy="126187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A84B"/>
              </a:buClr>
              <a:buSzPts val="1400"/>
              <a:buFont typeface="Georgia"/>
              <a:buNone/>
            </a:pPr>
            <a:r>
              <a:rPr b="1" i="0" lang="en-GB" sz="1400" u="none" cap="none" strike="noStrike">
                <a:solidFill>
                  <a:srgbClr val="C8A84B"/>
                </a:solidFill>
                <a:latin typeface="Georgia"/>
                <a:ea typeface="Georgia"/>
                <a:cs typeface="Georgia"/>
                <a:sym typeface="Georgia"/>
              </a:rPr>
              <a:t>RQ1</a:t>
            </a:r>
            <a:endParaRPr b="0" i="0" sz="1400" u="none" cap="none" strike="noStrike">
              <a:solidFill>
                <a:schemeClr val="dk1"/>
              </a:solidFill>
              <a:latin typeface="Calibri"/>
              <a:ea typeface="Calibri"/>
              <a:cs typeface="Calibri"/>
              <a:sym typeface="Calibri"/>
            </a:endParaRPr>
          </a:p>
        </p:txBody>
      </p:sp>
      <p:sp>
        <p:nvSpPr>
          <p:cNvPr id="180" name="Google Shape;180;p20"/>
          <p:cNvSpPr/>
          <p:nvPr/>
        </p:nvSpPr>
        <p:spPr>
          <a:xfrm>
            <a:off x="1298448" y="1078992"/>
            <a:ext cx="4023360" cy="68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A1628"/>
              </a:buClr>
              <a:buSzPts val="1150"/>
              <a:buFont typeface="Calibri"/>
              <a:buNone/>
            </a:pPr>
            <a:r>
              <a:rPr b="0" i="1" lang="en-GB" sz="1150" u="none" cap="none" strike="noStrike">
                <a:solidFill>
                  <a:srgbClr val="0A1628"/>
                </a:solidFill>
                <a:latin typeface="Calibri"/>
                <a:ea typeface="Calibri"/>
                <a:cs typeface="Calibri"/>
                <a:sym typeface="Calibri"/>
              </a:rPr>
              <a:t>"Are the NBA's best regular-season teams also the most successful teams in clutch situations?"</a:t>
            </a:r>
            <a:endParaRPr b="0" i="0" sz="1150" u="none" cap="none" strike="noStrike">
              <a:solidFill>
                <a:schemeClr val="dk1"/>
              </a:solidFill>
              <a:latin typeface="Calibri"/>
              <a:ea typeface="Calibri"/>
              <a:cs typeface="Calibri"/>
              <a:sym typeface="Calibri"/>
            </a:endParaRPr>
          </a:p>
        </p:txBody>
      </p:sp>
      <p:sp>
        <p:nvSpPr>
          <p:cNvPr id="181" name="Google Shape;181;p20"/>
          <p:cNvSpPr/>
          <p:nvPr/>
        </p:nvSpPr>
        <p:spPr>
          <a:xfrm>
            <a:off x="1298448" y="1755648"/>
            <a:ext cx="5029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6E"/>
              </a:buClr>
              <a:buSzPts val="1000"/>
              <a:buFont typeface="Calibri"/>
              <a:buNone/>
            </a:pPr>
            <a:r>
              <a:rPr b="1" i="0" lang="en-GB" sz="1000" u="none" cap="none" strike="noStrike">
                <a:solidFill>
                  <a:srgbClr val="1E3A6E"/>
                </a:solidFill>
                <a:latin typeface="Calibri"/>
                <a:ea typeface="Calibri"/>
                <a:cs typeface="Calibri"/>
                <a:sym typeface="Calibri"/>
              </a:rPr>
              <a:t>Plots:</a:t>
            </a:r>
            <a:endParaRPr b="0" i="0" sz="1000" u="none" cap="none" strike="noStrike">
              <a:solidFill>
                <a:schemeClr val="dk1"/>
              </a:solidFill>
              <a:latin typeface="Calibri"/>
              <a:ea typeface="Calibri"/>
              <a:cs typeface="Calibri"/>
              <a:sym typeface="Calibri"/>
            </a:endParaRPr>
          </a:p>
        </p:txBody>
      </p:sp>
      <p:sp>
        <p:nvSpPr>
          <p:cNvPr id="182" name="Google Shape;182;p20"/>
          <p:cNvSpPr/>
          <p:nvPr/>
        </p:nvSpPr>
        <p:spPr>
          <a:xfrm>
            <a:off x="1801368" y="1755648"/>
            <a:ext cx="342900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44444"/>
              </a:buClr>
              <a:buSzPts val="950"/>
              <a:buFont typeface="Calibri"/>
              <a:buNone/>
            </a:pPr>
            <a:r>
              <a:rPr b="0" i="0" lang="en-GB" sz="950" u="none" cap="none" strike="noStrike">
                <a:solidFill>
                  <a:srgbClr val="444444"/>
                </a:solidFill>
                <a:latin typeface="Calibri"/>
                <a:ea typeface="Calibri"/>
                <a:cs typeface="Calibri"/>
                <a:sym typeface="Calibri"/>
              </a:rPr>
              <a:t>Plot 1: Scatter </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444444"/>
              </a:buClr>
              <a:buSzPts val="950"/>
              <a:buFont typeface="Calibri"/>
              <a:buNone/>
            </a:pPr>
            <a:r>
              <a:rPr b="0" i="0" lang="en-GB" sz="950" u="none" cap="none" strike="noStrike">
                <a:solidFill>
                  <a:srgbClr val="444444"/>
                </a:solidFill>
                <a:latin typeface="Calibri"/>
                <a:ea typeface="Calibri"/>
                <a:cs typeface="Calibri"/>
                <a:sym typeface="Calibri"/>
              </a:rPr>
              <a:t>Plot 2: Bar Chart </a:t>
            </a:r>
            <a:endParaRPr b="0" i="0" sz="950" u="none" cap="none" strike="noStrike">
              <a:solidFill>
                <a:schemeClr val="dk1"/>
              </a:solidFill>
              <a:latin typeface="Calibri"/>
              <a:ea typeface="Calibri"/>
              <a:cs typeface="Calibri"/>
              <a:sym typeface="Calibri"/>
            </a:endParaRPr>
          </a:p>
        </p:txBody>
      </p:sp>
      <p:sp>
        <p:nvSpPr>
          <p:cNvPr id="183" name="Google Shape;183;p20"/>
          <p:cNvSpPr/>
          <p:nvPr/>
        </p:nvSpPr>
        <p:spPr>
          <a:xfrm>
            <a:off x="365760" y="2331720"/>
            <a:ext cx="8412480" cy="1261872"/>
          </a:xfrm>
          <a:prstGeom prst="rect">
            <a:avLst/>
          </a:prstGeom>
          <a:solidFill>
            <a:srgbClr val="FFFFFF"/>
          </a:solidFill>
          <a:ln cap="flat" cmpd="sng" w="12700">
            <a:solidFill>
              <a:srgbClr val="DDDDDD"/>
            </a:solidFill>
            <a:prstDash val="solid"/>
            <a:round/>
            <a:headEnd len="sm" w="sm" type="none"/>
            <a:tailEnd len="sm" w="sm" type="none"/>
          </a:ln>
          <a:effectLst>
            <a:outerShdw blurRad="1016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20"/>
          <p:cNvSpPr/>
          <p:nvPr/>
        </p:nvSpPr>
        <p:spPr>
          <a:xfrm>
            <a:off x="365760" y="2331720"/>
            <a:ext cx="8412480" cy="50292"/>
          </a:xfrm>
          <a:prstGeom prst="rect">
            <a:avLst/>
          </a:prstGeom>
          <a:solidFill>
            <a:srgbClr val="C8A84B"/>
          </a:solidFill>
          <a:ln cap="flat" cmpd="sng" w="12700">
            <a:solidFill>
              <a:srgbClr val="C8A84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20"/>
          <p:cNvSpPr/>
          <p:nvPr/>
        </p:nvSpPr>
        <p:spPr>
          <a:xfrm>
            <a:off x="365760" y="2331720"/>
            <a:ext cx="822960" cy="1261872"/>
          </a:xfrm>
          <a:prstGeom prst="rect">
            <a:avLst/>
          </a:prstGeom>
          <a:solidFill>
            <a:srgbClr val="1E3A6E"/>
          </a:solidFill>
          <a:ln cap="flat" cmpd="sng" w="12700">
            <a:solidFill>
              <a:srgbClr val="1E3A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20"/>
          <p:cNvSpPr/>
          <p:nvPr/>
        </p:nvSpPr>
        <p:spPr>
          <a:xfrm>
            <a:off x="365760" y="2331720"/>
            <a:ext cx="822960" cy="50292"/>
          </a:xfrm>
          <a:prstGeom prst="rect">
            <a:avLst/>
          </a:prstGeom>
          <a:solidFill>
            <a:srgbClr val="C8A84B"/>
          </a:solidFill>
          <a:ln cap="flat" cmpd="sng" w="12700">
            <a:solidFill>
              <a:srgbClr val="C8A84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20"/>
          <p:cNvSpPr/>
          <p:nvPr/>
        </p:nvSpPr>
        <p:spPr>
          <a:xfrm>
            <a:off x="365760" y="2331720"/>
            <a:ext cx="822960" cy="126187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A84B"/>
              </a:buClr>
              <a:buSzPts val="1400"/>
              <a:buFont typeface="Georgia"/>
              <a:buNone/>
            </a:pPr>
            <a:r>
              <a:rPr b="1" i="0" lang="en-GB" sz="1400" u="none" cap="none" strike="noStrike">
                <a:solidFill>
                  <a:srgbClr val="C8A84B"/>
                </a:solidFill>
                <a:latin typeface="Georgia"/>
                <a:ea typeface="Georgia"/>
                <a:cs typeface="Georgia"/>
                <a:sym typeface="Georgia"/>
              </a:rPr>
              <a:t>RQ2</a:t>
            </a:r>
            <a:endParaRPr b="0" i="0" sz="1400" u="none" cap="none" strike="noStrike">
              <a:solidFill>
                <a:schemeClr val="dk1"/>
              </a:solidFill>
              <a:latin typeface="Calibri"/>
              <a:ea typeface="Calibri"/>
              <a:cs typeface="Calibri"/>
              <a:sym typeface="Calibri"/>
            </a:endParaRPr>
          </a:p>
        </p:txBody>
      </p:sp>
      <p:sp>
        <p:nvSpPr>
          <p:cNvPr id="188" name="Google Shape;188;p20"/>
          <p:cNvSpPr/>
          <p:nvPr/>
        </p:nvSpPr>
        <p:spPr>
          <a:xfrm>
            <a:off x="1298448" y="2404872"/>
            <a:ext cx="4023360" cy="68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A1628"/>
              </a:buClr>
              <a:buSzPts val="1150"/>
              <a:buFont typeface="Calibri"/>
              <a:buNone/>
            </a:pPr>
            <a:r>
              <a:rPr b="0" i="1" lang="en-GB" sz="1150" u="none" cap="none" strike="noStrike">
                <a:solidFill>
                  <a:srgbClr val="0A1628"/>
                </a:solidFill>
                <a:latin typeface="Calibri"/>
                <a:ea typeface="Calibri"/>
                <a:cs typeface="Calibri"/>
                <a:sym typeface="Calibri"/>
              </a:rPr>
              <a:t>"Which team-level factors most strongly explain clutch success: shooting efficiency, turnovers, rebounding, or free-throw generation?"</a:t>
            </a:r>
            <a:endParaRPr b="0" i="0" sz="1150" u="none" cap="none" strike="noStrike">
              <a:solidFill>
                <a:schemeClr val="dk1"/>
              </a:solidFill>
              <a:latin typeface="Calibri"/>
              <a:ea typeface="Calibri"/>
              <a:cs typeface="Calibri"/>
              <a:sym typeface="Calibri"/>
            </a:endParaRPr>
          </a:p>
        </p:txBody>
      </p:sp>
      <p:sp>
        <p:nvSpPr>
          <p:cNvPr id="189" name="Google Shape;189;p20"/>
          <p:cNvSpPr/>
          <p:nvPr/>
        </p:nvSpPr>
        <p:spPr>
          <a:xfrm>
            <a:off x="1298448" y="3081528"/>
            <a:ext cx="5029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6E"/>
              </a:buClr>
              <a:buSzPts val="1000"/>
              <a:buFont typeface="Calibri"/>
              <a:buNone/>
            </a:pPr>
            <a:r>
              <a:rPr b="1" i="0" lang="en-GB" sz="1000" u="none" cap="none" strike="noStrike">
                <a:solidFill>
                  <a:srgbClr val="1E3A6E"/>
                </a:solidFill>
                <a:latin typeface="Calibri"/>
                <a:ea typeface="Calibri"/>
                <a:cs typeface="Calibri"/>
                <a:sym typeface="Calibri"/>
              </a:rPr>
              <a:t>Plots:</a:t>
            </a:r>
            <a:endParaRPr b="0" i="0" sz="1000" u="none" cap="none" strike="noStrike">
              <a:solidFill>
                <a:schemeClr val="dk1"/>
              </a:solidFill>
              <a:latin typeface="Calibri"/>
              <a:ea typeface="Calibri"/>
              <a:cs typeface="Calibri"/>
              <a:sym typeface="Calibri"/>
            </a:endParaRPr>
          </a:p>
        </p:txBody>
      </p:sp>
      <p:sp>
        <p:nvSpPr>
          <p:cNvPr id="190" name="Google Shape;190;p20"/>
          <p:cNvSpPr/>
          <p:nvPr/>
        </p:nvSpPr>
        <p:spPr>
          <a:xfrm>
            <a:off x="1801375" y="3051211"/>
            <a:ext cx="3429000" cy="441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44444"/>
              </a:buClr>
              <a:buSzPts val="950"/>
              <a:buFont typeface="Calibri"/>
              <a:buNone/>
            </a:pPr>
            <a:r>
              <a:rPr b="0" i="0" lang="en-GB" sz="950" u="none" cap="none" strike="noStrike">
                <a:solidFill>
                  <a:srgbClr val="444444"/>
                </a:solidFill>
                <a:latin typeface="Calibri"/>
                <a:ea typeface="Calibri"/>
                <a:cs typeface="Calibri"/>
                <a:sym typeface="Calibri"/>
              </a:rPr>
              <a:t>Plot 1: Correlation Heatmap </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444444"/>
              </a:buClr>
              <a:buSzPts val="950"/>
              <a:buFont typeface="Calibri"/>
              <a:buNone/>
            </a:pPr>
            <a:r>
              <a:rPr b="0" i="0" lang="en-GB" sz="950" u="none" cap="none" strike="noStrike">
                <a:solidFill>
                  <a:srgbClr val="444444"/>
                </a:solidFill>
                <a:latin typeface="Calibri"/>
                <a:ea typeface="Calibri"/>
                <a:cs typeface="Calibri"/>
                <a:sym typeface="Calibri"/>
              </a:rPr>
              <a:t>Plot 2: Scatter </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444444"/>
              </a:buClr>
              <a:buSzPts val="950"/>
              <a:buFont typeface="Calibri"/>
              <a:buNone/>
            </a:pPr>
            <a:r>
              <a:rPr b="0" i="0" lang="en-GB" sz="950" u="none" cap="none" strike="noStrike">
                <a:solidFill>
                  <a:srgbClr val="444444"/>
                </a:solidFill>
                <a:latin typeface="Calibri"/>
                <a:ea typeface="Calibri"/>
                <a:cs typeface="Calibri"/>
                <a:sym typeface="Calibri"/>
              </a:rPr>
              <a:t>Plot 3: Quadrant </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444444"/>
              </a:buClr>
              <a:buSzPts val="950"/>
              <a:buFont typeface="Calibri"/>
              <a:buNone/>
            </a:pPr>
            <a:r>
              <a:rPr b="0" i="0" lang="en-GB" sz="950" u="none" cap="none" strike="noStrike">
                <a:solidFill>
                  <a:srgbClr val="444444"/>
                </a:solidFill>
                <a:latin typeface="Calibri"/>
                <a:ea typeface="Calibri"/>
                <a:cs typeface="Calibri"/>
                <a:sym typeface="Calibri"/>
              </a:rPr>
              <a:t>Plot 4: Dot Plot </a:t>
            </a:r>
            <a:endParaRPr b="0" i="0" sz="950" u="none" cap="none" strike="noStrike">
              <a:solidFill>
                <a:schemeClr val="dk1"/>
              </a:solidFill>
              <a:latin typeface="Calibri"/>
              <a:ea typeface="Calibri"/>
              <a:cs typeface="Calibri"/>
              <a:sym typeface="Calibri"/>
            </a:endParaRPr>
          </a:p>
        </p:txBody>
      </p:sp>
      <p:sp>
        <p:nvSpPr>
          <p:cNvPr id="191" name="Google Shape;191;p20"/>
          <p:cNvSpPr/>
          <p:nvPr/>
        </p:nvSpPr>
        <p:spPr>
          <a:xfrm>
            <a:off x="365760" y="3657600"/>
            <a:ext cx="8412480" cy="1261872"/>
          </a:xfrm>
          <a:prstGeom prst="rect">
            <a:avLst/>
          </a:prstGeom>
          <a:solidFill>
            <a:srgbClr val="FFFFFF"/>
          </a:solidFill>
          <a:ln cap="flat" cmpd="sng" w="12700">
            <a:solidFill>
              <a:srgbClr val="DDDDDD"/>
            </a:solidFill>
            <a:prstDash val="solid"/>
            <a:round/>
            <a:headEnd len="sm" w="sm" type="none"/>
            <a:tailEnd len="sm" w="sm" type="none"/>
          </a:ln>
          <a:effectLst>
            <a:outerShdw blurRad="1016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20"/>
          <p:cNvSpPr/>
          <p:nvPr/>
        </p:nvSpPr>
        <p:spPr>
          <a:xfrm>
            <a:off x="365760" y="3657600"/>
            <a:ext cx="8412480" cy="50292"/>
          </a:xfrm>
          <a:prstGeom prst="rect">
            <a:avLst/>
          </a:prstGeom>
          <a:solidFill>
            <a:srgbClr val="C8A84B"/>
          </a:solidFill>
          <a:ln cap="flat" cmpd="sng" w="12700">
            <a:solidFill>
              <a:srgbClr val="C8A84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20"/>
          <p:cNvSpPr/>
          <p:nvPr/>
        </p:nvSpPr>
        <p:spPr>
          <a:xfrm>
            <a:off x="365760" y="3657600"/>
            <a:ext cx="822960" cy="1261872"/>
          </a:xfrm>
          <a:prstGeom prst="rect">
            <a:avLst/>
          </a:prstGeom>
          <a:solidFill>
            <a:srgbClr val="1E3A6E"/>
          </a:solidFill>
          <a:ln cap="flat" cmpd="sng" w="12700">
            <a:solidFill>
              <a:srgbClr val="1E3A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20"/>
          <p:cNvSpPr/>
          <p:nvPr/>
        </p:nvSpPr>
        <p:spPr>
          <a:xfrm>
            <a:off x="365760" y="3657600"/>
            <a:ext cx="822960" cy="50292"/>
          </a:xfrm>
          <a:prstGeom prst="rect">
            <a:avLst/>
          </a:prstGeom>
          <a:solidFill>
            <a:srgbClr val="C8A84B"/>
          </a:solidFill>
          <a:ln cap="flat" cmpd="sng" w="12700">
            <a:solidFill>
              <a:srgbClr val="C8A84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20"/>
          <p:cNvSpPr/>
          <p:nvPr/>
        </p:nvSpPr>
        <p:spPr>
          <a:xfrm>
            <a:off x="365760" y="3657600"/>
            <a:ext cx="822960" cy="126187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A84B"/>
              </a:buClr>
              <a:buSzPts val="1400"/>
              <a:buFont typeface="Georgia"/>
              <a:buNone/>
            </a:pPr>
            <a:r>
              <a:rPr b="1" i="0" lang="en-GB" sz="1400" u="none" cap="none" strike="noStrike">
                <a:solidFill>
                  <a:srgbClr val="C8A84B"/>
                </a:solidFill>
                <a:latin typeface="Georgia"/>
                <a:ea typeface="Georgia"/>
                <a:cs typeface="Georgia"/>
                <a:sym typeface="Georgia"/>
              </a:rPr>
              <a:t>RQ3</a:t>
            </a:r>
            <a:endParaRPr b="0" i="0" sz="1400" u="none" cap="none" strike="noStrike">
              <a:solidFill>
                <a:schemeClr val="dk1"/>
              </a:solidFill>
              <a:latin typeface="Calibri"/>
              <a:ea typeface="Calibri"/>
              <a:cs typeface="Calibri"/>
              <a:sym typeface="Calibri"/>
            </a:endParaRPr>
          </a:p>
        </p:txBody>
      </p:sp>
      <p:sp>
        <p:nvSpPr>
          <p:cNvPr id="196" name="Google Shape;196;p20"/>
          <p:cNvSpPr/>
          <p:nvPr/>
        </p:nvSpPr>
        <p:spPr>
          <a:xfrm>
            <a:off x="1298448" y="3730752"/>
            <a:ext cx="4023360" cy="68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A1628"/>
              </a:buClr>
              <a:buSzPts val="1150"/>
              <a:buFont typeface="Calibri"/>
              <a:buNone/>
            </a:pPr>
            <a:r>
              <a:rPr b="0" i="1" lang="en-GB" sz="1150" u="none" cap="none" strike="noStrike">
                <a:solidFill>
                  <a:srgbClr val="0A1628"/>
                </a:solidFill>
                <a:latin typeface="Calibri"/>
                <a:ea typeface="Calibri"/>
                <a:cs typeface="Calibri"/>
                <a:sym typeface="Calibri"/>
              </a:rPr>
              <a:t>"</a:t>
            </a:r>
            <a:r>
              <a:rPr b="0" i="1" lang="en-GB" sz="1150" u="none" cap="none" strike="noStrike">
                <a:solidFill>
                  <a:srgbClr val="0A1628"/>
                </a:solidFill>
                <a:latin typeface="Calibri"/>
                <a:ea typeface="Calibri"/>
                <a:cs typeface="Calibri"/>
                <a:sym typeface="Calibri"/>
              </a:rPr>
              <a:t>How do</a:t>
            </a:r>
            <a:r>
              <a:rPr i="1" lang="en-GB" sz="1150">
                <a:solidFill>
                  <a:srgbClr val="0A1628"/>
                </a:solidFill>
                <a:latin typeface="Calibri"/>
                <a:ea typeface="Calibri"/>
                <a:cs typeface="Calibri"/>
                <a:sym typeface="Calibri"/>
              </a:rPr>
              <a:t>es shooting efficiency </a:t>
            </a:r>
            <a:r>
              <a:rPr b="0" i="1" lang="en-GB" sz="1150" u="none" cap="none" strike="noStrike">
                <a:solidFill>
                  <a:srgbClr val="0A1628"/>
                </a:solidFill>
                <a:latin typeface="Calibri"/>
                <a:ea typeface="Calibri"/>
                <a:cs typeface="Calibri"/>
                <a:sym typeface="Calibri"/>
              </a:rPr>
              <a:t>change from the regular season to clutch situations for t</a:t>
            </a:r>
            <a:r>
              <a:rPr b="0" i="1" lang="en-GB" sz="1150" u="none" cap="none" strike="noStrike">
                <a:solidFill>
                  <a:srgbClr val="0A1628"/>
                </a:solidFill>
                <a:latin typeface="Calibri"/>
                <a:ea typeface="Calibri"/>
                <a:cs typeface="Calibri"/>
                <a:sym typeface="Calibri"/>
              </a:rPr>
              <a:t>he top 10 clutch teams?"</a:t>
            </a:r>
            <a:endParaRPr b="0" i="0" sz="1150" u="none" cap="none" strike="noStrike">
              <a:solidFill>
                <a:schemeClr val="dk1"/>
              </a:solidFill>
              <a:latin typeface="Calibri"/>
              <a:ea typeface="Calibri"/>
              <a:cs typeface="Calibri"/>
              <a:sym typeface="Calibri"/>
            </a:endParaRPr>
          </a:p>
        </p:txBody>
      </p:sp>
      <p:sp>
        <p:nvSpPr>
          <p:cNvPr id="197" name="Google Shape;197;p20"/>
          <p:cNvSpPr/>
          <p:nvPr/>
        </p:nvSpPr>
        <p:spPr>
          <a:xfrm>
            <a:off x="1298448" y="4407408"/>
            <a:ext cx="5029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6E"/>
              </a:buClr>
              <a:buSzPts val="1000"/>
              <a:buFont typeface="Calibri"/>
              <a:buNone/>
            </a:pPr>
            <a:r>
              <a:rPr b="1" i="0" lang="en-GB" sz="1000" u="none" cap="none" strike="noStrike">
                <a:solidFill>
                  <a:srgbClr val="1E3A6E"/>
                </a:solidFill>
                <a:latin typeface="Calibri"/>
                <a:ea typeface="Calibri"/>
                <a:cs typeface="Calibri"/>
                <a:sym typeface="Calibri"/>
              </a:rPr>
              <a:t>Plots:</a:t>
            </a:r>
            <a:endParaRPr b="0" i="0" sz="1000" u="none" cap="none" strike="noStrike">
              <a:solidFill>
                <a:schemeClr val="dk1"/>
              </a:solidFill>
              <a:latin typeface="Calibri"/>
              <a:ea typeface="Calibri"/>
              <a:cs typeface="Calibri"/>
              <a:sym typeface="Calibri"/>
            </a:endParaRPr>
          </a:p>
        </p:txBody>
      </p:sp>
      <p:sp>
        <p:nvSpPr>
          <p:cNvPr id="198" name="Google Shape;198;p20"/>
          <p:cNvSpPr/>
          <p:nvPr/>
        </p:nvSpPr>
        <p:spPr>
          <a:xfrm>
            <a:off x="1801368" y="4407408"/>
            <a:ext cx="342900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44444"/>
              </a:buClr>
              <a:buSzPts val="950"/>
              <a:buFont typeface="Calibri"/>
              <a:buNone/>
            </a:pPr>
            <a:r>
              <a:rPr b="0" i="0" lang="en-GB" sz="950" u="none" cap="none" strike="noStrike">
                <a:solidFill>
                  <a:srgbClr val="444444"/>
                </a:solidFill>
                <a:latin typeface="Calibri"/>
                <a:ea typeface="Calibri"/>
                <a:cs typeface="Calibri"/>
                <a:sym typeface="Calibri"/>
              </a:rPr>
              <a:t>Plot 1: Slope Chart </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444444"/>
              </a:buClr>
              <a:buSzPts val="950"/>
              <a:buFont typeface="Calibri"/>
              <a:buNone/>
            </a:pPr>
            <a:r>
              <a:rPr b="0" i="0" lang="en-GB" sz="950" u="none" cap="none" strike="noStrike">
                <a:solidFill>
                  <a:srgbClr val="444444"/>
                </a:solidFill>
                <a:latin typeface="Calibri"/>
                <a:ea typeface="Calibri"/>
                <a:cs typeface="Calibri"/>
                <a:sym typeface="Calibri"/>
              </a:rPr>
              <a:t>Plot 2: Dumbbell Plot</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444444"/>
              </a:buClr>
              <a:buSzPts val="950"/>
              <a:buFont typeface="Calibri"/>
              <a:buNone/>
            </a:pPr>
            <a:r>
              <a:rPr b="0" i="0" lang="en-GB" sz="950" u="none" cap="none" strike="noStrike">
                <a:solidFill>
                  <a:srgbClr val="444444"/>
                </a:solidFill>
                <a:latin typeface="Calibri"/>
                <a:ea typeface="Calibri"/>
                <a:cs typeface="Calibri"/>
                <a:sym typeface="Calibri"/>
              </a:rPr>
              <a:t>Plot 3: Slope Chart </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B"/>
        </a:solidFill>
      </p:bgPr>
    </p:bg>
    <p:spTree>
      <p:nvGrpSpPr>
        <p:cNvPr id="203" name="Shape 203"/>
        <p:cNvGrpSpPr/>
        <p:nvPr/>
      </p:nvGrpSpPr>
      <p:grpSpPr>
        <a:xfrm>
          <a:off x="0" y="0"/>
          <a:ext cx="0" cy="0"/>
          <a:chOff x="0" y="0"/>
          <a:chExt cx="0" cy="0"/>
        </a:xfrm>
      </p:grpSpPr>
      <p:sp>
        <p:nvSpPr>
          <p:cNvPr id="204" name="Google Shape;204;p21"/>
          <p:cNvSpPr/>
          <p:nvPr/>
        </p:nvSpPr>
        <p:spPr>
          <a:xfrm>
            <a:off x="0" y="0"/>
            <a:ext cx="9144000" cy="914400"/>
          </a:xfrm>
          <a:prstGeom prst="rect">
            <a:avLst/>
          </a:prstGeom>
          <a:solidFill>
            <a:srgbClr val="122040"/>
          </a:solidFill>
          <a:ln cap="flat" cmpd="sng" w="12700">
            <a:solidFill>
              <a:srgbClr val="1220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21"/>
          <p:cNvSpPr/>
          <p:nvPr/>
        </p:nvSpPr>
        <p:spPr>
          <a:xfrm>
            <a:off x="0" y="0"/>
            <a:ext cx="1097280" cy="914400"/>
          </a:xfrm>
          <a:prstGeom prst="rect">
            <a:avLst/>
          </a:prstGeom>
          <a:solidFill>
            <a:srgbClr val="1E3A6E"/>
          </a:solidFill>
          <a:ln cap="flat" cmpd="sng" w="12700">
            <a:solidFill>
              <a:srgbClr val="1E3A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21"/>
          <p:cNvSpPr/>
          <p:nvPr/>
        </p:nvSpPr>
        <p:spPr>
          <a:xfrm>
            <a:off x="0" y="0"/>
            <a:ext cx="1097280" cy="914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A84B"/>
              </a:buClr>
              <a:buSzPts val="1300"/>
              <a:buFont typeface="Calibri"/>
              <a:buNone/>
            </a:pPr>
            <a:r>
              <a:rPr b="1" i="0" lang="en-GB" sz="1300" u="none" cap="none" strike="noStrike">
                <a:solidFill>
                  <a:srgbClr val="C8A84B"/>
                </a:solidFill>
                <a:latin typeface="Calibri"/>
                <a:ea typeface="Calibri"/>
                <a:cs typeface="Calibri"/>
                <a:sym typeface="Calibri"/>
              </a:rPr>
              <a:t>RQ1</a:t>
            </a:r>
            <a:endParaRPr b="0" i="0" sz="1300" u="none" cap="none" strike="noStrike">
              <a:solidFill>
                <a:schemeClr val="dk1"/>
              </a:solidFill>
              <a:latin typeface="Calibri"/>
              <a:ea typeface="Calibri"/>
              <a:cs typeface="Calibri"/>
              <a:sym typeface="Calibri"/>
            </a:endParaRPr>
          </a:p>
        </p:txBody>
      </p:sp>
      <p:sp>
        <p:nvSpPr>
          <p:cNvPr id="207" name="Google Shape;207;p21"/>
          <p:cNvSpPr/>
          <p:nvPr/>
        </p:nvSpPr>
        <p:spPr>
          <a:xfrm>
            <a:off x="1234440" y="137160"/>
            <a:ext cx="82296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300"/>
              <a:buFont typeface="Georgia"/>
              <a:buNone/>
            </a:pPr>
            <a:r>
              <a:rPr b="1" i="0" lang="en-GB" sz="2300" u="none" cap="none" strike="noStrike">
                <a:solidFill>
                  <a:srgbClr val="FFFFFF"/>
                </a:solidFill>
                <a:latin typeface="Georgia"/>
                <a:ea typeface="Georgia"/>
                <a:cs typeface="Georgia"/>
                <a:sym typeface="Georgia"/>
              </a:rPr>
              <a:t>Regular-Season Win% vs Clutch Win%  [Plot 1 of 2]</a:t>
            </a:r>
            <a:endParaRPr b="0" i="0" sz="2300" u="none" cap="none" strike="noStrike">
              <a:solidFill>
                <a:schemeClr val="dk1"/>
              </a:solidFill>
              <a:latin typeface="Calibri"/>
              <a:ea typeface="Calibri"/>
              <a:cs typeface="Calibri"/>
              <a:sym typeface="Calibri"/>
            </a:endParaRPr>
          </a:p>
        </p:txBody>
      </p:sp>
      <p:pic>
        <p:nvPicPr>
          <p:cNvPr descr="preencoded.png" id="208" name="Google Shape;208;p21"/>
          <p:cNvPicPr preferRelativeResize="0"/>
          <p:nvPr/>
        </p:nvPicPr>
        <p:blipFill rotWithShape="1">
          <a:blip r:embed="rId3">
            <a:alphaModFix/>
          </a:blip>
          <a:srcRect b="0" l="0" r="0" t="0"/>
          <a:stretch/>
        </p:blipFill>
        <p:spPr>
          <a:xfrm>
            <a:off x="139375" y="914390"/>
            <a:ext cx="8685275" cy="422046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B"/>
        </a:solidFill>
      </p:bgPr>
    </p:bg>
    <p:spTree>
      <p:nvGrpSpPr>
        <p:cNvPr id="213" name="Shape 213"/>
        <p:cNvGrpSpPr/>
        <p:nvPr/>
      </p:nvGrpSpPr>
      <p:grpSpPr>
        <a:xfrm>
          <a:off x="0" y="0"/>
          <a:ext cx="0" cy="0"/>
          <a:chOff x="0" y="0"/>
          <a:chExt cx="0" cy="0"/>
        </a:xfrm>
      </p:grpSpPr>
      <p:sp>
        <p:nvSpPr>
          <p:cNvPr id="214" name="Google Shape;214;p22"/>
          <p:cNvSpPr/>
          <p:nvPr/>
        </p:nvSpPr>
        <p:spPr>
          <a:xfrm>
            <a:off x="0" y="0"/>
            <a:ext cx="9144000" cy="914400"/>
          </a:xfrm>
          <a:prstGeom prst="rect">
            <a:avLst/>
          </a:prstGeom>
          <a:solidFill>
            <a:srgbClr val="122040"/>
          </a:solidFill>
          <a:ln cap="flat" cmpd="sng" w="12700">
            <a:solidFill>
              <a:srgbClr val="1220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22"/>
          <p:cNvSpPr/>
          <p:nvPr/>
        </p:nvSpPr>
        <p:spPr>
          <a:xfrm>
            <a:off x="0" y="0"/>
            <a:ext cx="1097280" cy="914400"/>
          </a:xfrm>
          <a:prstGeom prst="rect">
            <a:avLst/>
          </a:prstGeom>
          <a:solidFill>
            <a:srgbClr val="1E3A6E"/>
          </a:solidFill>
          <a:ln cap="flat" cmpd="sng" w="12700">
            <a:solidFill>
              <a:srgbClr val="1E3A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22"/>
          <p:cNvSpPr/>
          <p:nvPr/>
        </p:nvSpPr>
        <p:spPr>
          <a:xfrm>
            <a:off x="0" y="0"/>
            <a:ext cx="1097280" cy="914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A84B"/>
              </a:buClr>
              <a:buSzPts val="1300"/>
              <a:buFont typeface="Calibri"/>
              <a:buNone/>
            </a:pPr>
            <a:r>
              <a:rPr b="1" i="0" lang="en-GB" sz="1300" u="none" cap="none" strike="noStrike">
                <a:solidFill>
                  <a:srgbClr val="C8A84B"/>
                </a:solidFill>
                <a:latin typeface="Calibri"/>
                <a:ea typeface="Calibri"/>
                <a:cs typeface="Calibri"/>
                <a:sym typeface="Calibri"/>
              </a:rPr>
              <a:t>RQ1</a:t>
            </a:r>
            <a:endParaRPr b="0" i="0" sz="1300" u="none" cap="none" strike="noStrike">
              <a:solidFill>
                <a:schemeClr val="dk1"/>
              </a:solidFill>
              <a:latin typeface="Calibri"/>
              <a:ea typeface="Calibri"/>
              <a:cs typeface="Calibri"/>
              <a:sym typeface="Calibri"/>
            </a:endParaRPr>
          </a:p>
        </p:txBody>
      </p:sp>
      <p:sp>
        <p:nvSpPr>
          <p:cNvPr id="217" name="Google Shape;217;p22"/>
          <p:cNvSpPr/>
          <p:nvPr/>
        </p:nvSpPr>
        <p:spPr>
          <a:xfrm>
            <a:off x="1234440" y="137160"/>
            <a:ext cx="82296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300"/>
              <a:buFont typeface="Georgia"/>
              <a:buNone/>
            </a:pPr>
            <a:r>
              <a:rPr b="1" i="0" lang="en-GB" sz="2300" u="none" cap="none" strike="noStrike">
                <a:solidFill>
                  <a:srgbClr val="FFFFFF"/>
                </a:solidFill>
                <a:latin typeface="Georgia"/>
                <a:ea typeface="Georgia"/>
                <a:cs typeface="Georgia"/>
                <a:sym typeface="Georgia"/>
              </a:rPr>
              <a:t>Clutch Win% Minus Regular-Season Win% </a:t>
            </a:r>
            <a:endParaRPr b="0" i="0" sz="2300" u="none" cap="none" strike="noStrike">
              <a:solidFill>
                <a:schemeClr val="dk1"/>
              </a:solidFill>
              <a:latin typeface="Calibri"/>
              <a:ea typeface="Calibri"/>
              <a:cs typeface="Calibri"/>
              <a:sym typeface="Calibri"/>
            </a:endParaRPr>
          </a:p>
        </p:txBody>
      </p:sp>
      <p:pic>
        <p:nvPicPr>
          <p:cNvPr descr="preencoded.png" id="218" name="Google Shape;218;p22"/>
          <p:cNvPicPr preferRelativeResize="0"/>
          <p:nvPr/>
        </p:nvPicPr>
        <p:blipFill rotWithShape="1">
          <a:blip r:embed="rId3">
            <a:alphaModFix/>
          </a:blip>
          <a:srcRect b="0" l="0" r="0" t="0"/>
          <a:stretch/>
        </p:blipFill>
        <p:spPr>
          <a:xfrm>
            <a:off x="274325" y="987550"/>
            <a:ext cx="8778225" cy="4087376"/>
          </a:xfrm>
          <a:prstGeom prst="rect">
            <a:avLst/>
          </a:prstGeom>
          <a:noFill/>
          <a:ln>
            <a:noFill/>
          </a:ln>
        </p:spPr>
      </p:pic>
      <p:sp>
        <p:nvSpPr>
          <p:cNvPr id="219" name="Google Shape;219;p22"/>
          <p:cNvSpPr/>
          <p:nvPr/>
        </p:nvSpPr>
        <p:spPr>
          <a:xfrm>
            <a:off x="5961888" y="987552"/>
            <a:ext cx="3090672" cy="50292"/>
          </a:xfrm>
          <a:prstGeom prst="rect">
            <a:avLst/>
          </a:prstGeom>
          <a:solidFill>
            <a:srgbClr val="C8A84B"/>
          </a:solidFill>
          <a:ln cap="flat" cmpd="sng" w="12700">
            <a:solidFill>
              <a:srgbClr val="C8A84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B"/>
        </a:solidFill>
      </p:bgPr>
    </p:bg>
    <p:spTree>
      <p:nvGrpSpPr>
        <p:cNvPr id="224" name="Shape 224"/>
        <p:cNvGrpSpPr/>
        <p:nvPr/>
      </p:nvGrpSpPr>
      <p:grpSpPr>
        <a:xfrm>
          <a:off x="0" y="0"/>
          <a:ext cx="0" cy="0"/>
          <a:chOff x="0" y="0"/>
          <a:chExt cx="0" cy="0"/>
        </a:xfrm>
      </p:grpSpPr>
      <p:sp>
        <p:nvSpPr>
          <p:cNvPr id="225" name="Google Shape;225;p23"/>
          <p:cNvSpPr/>
          <p:nvPr/>
        </p:nvSpPr>
        <p:spPr>
          <a:xfrm>
            <a:off x="0" y="0"/>
            <a:ext cx="9144000" cy="914400"/>
          </a:xfrm>
          <a:prstGeom prst="rect">
            <a:avLst/>
          </a:prstGeom>
          <a:solidFill>
            <a:srgbClr val="122040"/>
          </a:solidFill>
          <a:ln cap="flat" cmpd="sng" w="12700">
            <a:solidFill>
              <a:srgbClr val="1220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23"/>
          <p:cNvSpPr/>
          <p:nvPr/>
        </p:nvSpPr>
        <p:spPr>
          <a:xfrm>
            <a:off x="0" y="0"/>
            <a:ext cx="1097280" cy="914400"/>
          </a:xfrm>
          <a:prstGeom prst="rect">
            <a:avLst/>
          </a:prstGeom>
          <a:solidFill>
            <a:srgbClr val="1E3A6E"/>
          </a:solidFill>
          <a:ln cap="flat" cmpd="sng" w="12700">
            <a:solidFill>
              <a:srgbClr val="1E3A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23"/>
          <p:cNvSpPr/>
          <p:nvPr/>
        </p:nvSpPr>
        <p:spPr>
          <a:xfrm>
            <a:off x="0" y="0"/>
            <a:ext cx="1097280" cy="914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A84B"/>
              </a:buClr>
              <a:buSzPts val="1300"/>
              <a:buFont typeface="Calibri"/>
              <a:buNone/>
            </a:pPr>
            <a:r>
              <a:rPr b="1" i="0" lang="en-GB" sz="1300" u="none" cap="none" strike="noStrike">
                <a:solidFill>
                  <a:srgbClr val="C8A84B"/>
                </a:solidFill>
                <a:latin typeface="Calibri"/>
                <a:ea typeface="Calibri"/>
                <a:cs typeface="Calibri"/>
                <a:sym typeface="Calibri"/>
              </a:rPr>
              <a:t>RQ2</a:t>
            </a:r>
            <a:endParaRPr b="0" i="0" sz="1300" u="none" cap="none" strike="noStrike">
              <a:solidFill>
                <a:schemeClr val="dk1"/>
              </a:solidFill>
              <a:latin typeface="Calibri"/>
              <a:ea typeface="Calibri"/>
              <a:cs typeface="Calibri"/>
              <a:sym typeface="Calibri"/>
            </a:endParaRPr>
          </a:p>
        </p:txBody>
      </p:sp>
      <p:sp>
        <p:nvSpPr>
          <p:cNvPr id="228" name="Google Shape;228;p23"/>
          <p:cNvSpPr/>
          <p:nvPr/>
        </p:nvSpPr>
        <p:spPr>
          <a:xfrm>
            <a:off x="1234440" y="137160"/>
            <a:ext cx="82296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300"/>
              <a:buFont typeface="Georgia"/>
              <a:buNone/>
            </a:pPr>
            <a:r>
              <a:rPr b="1" i="0" lang="en-GB" sz="2300" u="none" cap="none" strike="noStrike">
                <a:solidFill>
                  <a:srgbClr val="FFFFFF"/>
                </a:solidFill>
                <a:latin typeface="Georgia"/>
                <a:ea typeface="Georgia"/>
                <a:cs typeface="Georgia"/>
                <a:sym typeface="Georgia"/>
              </a:rPr>
              <a:t>Correlation Heatmap of Clutch Success Factors  </a:t>
            </a:r>
            <a:endParaRPr b="0" i="0" sz="2300" u="none" cap="none" strike="noStrike">
              <a:solidFill>
                <a:schemeClr val="dk1"/>
              </a:solidFill>
              <a:latin typeface="Calibri"/>
              <a:ea typeface="Calibri"/>
              <a:cs typeface="Calibri"/>
              <a:sym typeface="Calibri"/>
            </a:endParaRPr>
          </a:p>
        </p:txBody>
      </p:sp>
      <p:pic>
        <p:nvPicPr>
          <p:cNvPr descr="preencoded.png" id="229" name="Google Shape;229;p23"/>
          <p:cNvPicPr preferRelativeResize="0"/>
          <p:nvPr/>
        </p:nvPicPr>
        <p:blipFill rotWithShape="1">
          <a:blip r:embed="rId3">
            <a:alphaModFix/>
          </a:blip>
          <a:srcRect b="0" l="0" r="0" t="0"/>
          <a:stretch/>
        </p:blipFill>
        <p:spPr>
          <a:xfrm>
            <a:off x="274320" y="987552"/>
            <a:ext cx="5577840" cy="4087368"/>
          </a:xfrm>
          <a:prstGeom prst="rect">
            <a:avLst/>
          </a:prstGeom>
          <a:noFill/>
          <a:ln>
            <a:noFill/>
          </a:ln>
        </p:spPr>
      </p:pic>
      <p:sp>
        <p:nvSpPr>
          <p:cNvPr id="230" name="Google Shape;230;p23"/>
          <p:cNvSpPr/>
          <p:nvPr/>
        </p:nvSpPr>
        <p:spPr>
          <a:xfrm>
            <a:off x="5961888" y="987552"/>
            <a:ext cx="3090600" cy="4087500"/>
          </a:xfrm>
          <a:prstGeom prst="rect">
            <a:avLst/>
          </a:prstGeom>
          <a:solidFill>
            <a:srgbClr val="FFFFFF"/>
          </a:solidFill>
          <a:ln cap="flat" cmpd="sng" w="12700">
            <a:solidFill>
              <a:srgbClr val="DDDDDD"/>
            </a:solidFill>
            <a:prstDash val="solid"/>
            <a:round/>
            <a:headEnd len="sm" w="sm" type="none"/>
            <a:tailEnd len="sm" w="sm" type="none"/>
          </a:ln>
          <a:effectLst>
            <a:outerShdw blurRad="1016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23"/>
          <p:cNvSpPr/>
          <p:nvPr/>
        </p:nvSpPr>
        <p:spPr>
          <a:xfrm>
            <a:off x="5961888" y="987552"/>
            <a:ext cx="3090600" cy="50400"/>
          </a:xfrm>
          <a:prstGeom prst="rect">
            <a:avLst/>
          </a:prstGeom>
          <a:solidFill>
            <a:srgbClr val="C8A84B"/>
          </a:solidFill>
          <a:ln cap="flat" cmpd="sng" w="12700">
            <a:solidFill>
              <a:srgbClr val="C8A84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23"/>
          <p:cNvSpPr/>
          <p:nvPr/>
        </p:nvSpPr>
        <p:spPr>
          <a:xfrm>
            <a:off x="6099048" y="1078992"/>
            <a:ext cx="28164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1628"/>
              </a:buClr>
              <a:buSzPts val="1300"/>
              <a:buFont typeface="Georgia"/>
              <a:buNone/>
            </a:pPr>
            <a:r>
              <a:rPr b="1" i="0" lang="en-GB" sz="1300" u="none" cap="none" strike="noStrike">
                <a:solidFill>
                  <a:srgbClr val="0A1628"/>
                </a:solidFill>
                <a:latin typeface="Georgia"/>
                <a:ea typeface="Georgia"/>
                <a:cs typeface="Georgia"/>
                <a:sym typeface="Georgia"/>
              </a:rPr>
              <a:t>Correlation Summary</a:t>
            </a:r>
            <a:endParaRPr b="0" i="0" sz="1300" u="none" cap="none" strike="noStrike">
              <a:solidFill>
                <a:schemeClr val="dk1"/>
              </a:solidFill>
              <a:latin typeface="Calibri"/>
              <a:ea typeface="Calibri"/>
              <a:cs typeface="Calibri"/>
              <a:sym typeface="Calibri"/>
            </a:endParaRPr>
          </a:p>
        </p:txBody>
      </p:sp>
      <p:sp>
        <p:nvSpPr>
          <p:cNvPr id="233" name="Google Shape;233;p23"/>
          <p:cNvSpPr/>
          <p:nvPr/>
        </p:nvSpPr>
        <p:spPr>
          <a:xfrm>
            <a:off x="6099048" y="1508760"/>
            <a:ext cx="2816400" cy="3492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65F46"/>
              </a:buClr>
              <a:buSzPts val="1150"/>
              <a:buFont typeface="Calibri"/>
              <a:buNone/>
            </a:pPr>
            <a:r>
              <a:rPr b="1" i="0" lang="en-GB" sz="1150" u="none" cap="none" strike="noStrike">
                <a:solidFill>
                  <a:srgbClr val="065F46"/>
                </a:solidFill>
                <a:latin typeface="Calibri"/>
                <a:ea typeface="Calibri"/>
                <a:cs typeface="Calibri"/>
                <a:sym typeface="Calibri"/>
              </a:rPr>
              <a:t>Strongest POSITIVE correlates</a:t>
            </a:r>
            <a:br>
              <a:rPr b="1" i="0" lang="en-GB" sz="1150" u="none" cap="none" strike="noStrike">
                <a:solidFill>
                  <a:srgbClr val="065F46"/>
                </a:solidFill>
                <a:latin typeface="Calibri"/>
                <a:ea typeface="Calibri"/>
                <a:cs typeface="Calibri"/>
                <a:sym typeface="Calibri"/>
              </a:rPr>
            </a:br>
            <a:r>
              <a:rPr b="1" i="0" lang="en-GB" sz="1150" u="none" cap="none" strike="noStrike">
                <a:solidFill>
                  <a:srgbClr val="065F46"/>
                </a:solidFill>
                <a:latin typeface="Calibri"/>
                <a:ea typeface="Calibri"/>
                <a:cs typeface="Calibri"/>
                <a:sym typeface="Calibri"/>
              </a:rPr>
              <a:t>with clutch_win_pct:</a:t>
            </a:r>
            <a:br>
              <a:rPr b="1" i="0" lang="en-GB" sz="1150" u="none" cap="none" strike="noStrike">
                <a:solidFill>
                  <a:srgbClr val="065F46"/>
                </a:solidFill>
                <a:latin typeface="Calibri"/>
                <a:ea typeface="Calibri"/>
                <a:cs typeface="Calibri"/>
                <a:sym typeface="Calibri"/>
              </a:rPr>
            </a:br>
            <a:r>
              <a:rPr b="1" i="0" lang="en-GB" sz="1050" u="none" cap="none" strike="noStrike">
                <a:solidFill>
                  <a:srgbClr val="444444"/>
                </a:solidFill>
                <a:latin typeface="Consolas"/>
                <a:ea typeface="Consolas"/>
                <a:cs typeface="Consolas"/>
                <a:sym typeface="Consolas"/>
              </a:rPr>
              <a:t>c</a:t>
            </a:r>
            <a:r>
              <a:rPr b="1" i="0" lang="en-GB" sz="1050" u="none" cap="none" strike="noStrike">
                <a:solidFill>
                  <a:srgbClr val="444444"/>
                </a:solidFill>
                <a:latin typeface="Consolas"/>
                <a:ea typeface="Consolas"/>
                <a:cs typeface="Consolas"/>
                <a:sym typeface="Consolas"/>
              </a:rPr>
              <a:t>lutch_efg_pct    r = +0.51</a:t>
            </a:r>
            <a:br>
              <a:rPr b="0" i="0" lang="en-GB" sz="1050" u="none" cap="none" strike="noStrike">
                <a:solidFill>
                  <a:srgbClr val="444444"/>
                </a:solidFill>
                <a:latin typeface="Consolas"/>
                <a:ea typeface="Consolas"/>
                <a:cs typeface="Consolas"/>
                <a:sym typeface="Consolas"/>
              </a:rPr>
            </a:br>
            <a:r>
              <a:rPr b="0" i="0" lang="en-GB" sz="1050" u="none" cap="none" strike="noStrike">
                <a:solidFill>
                  <a:srgbClr val="444444"/>
                </a:solidFill>
                <a:latin typeface="Consolas"/>
                <a:ea typeface="Consolas"/>
                <a:cs typeface="Consolas"/>
                <a:sym typeface="Consolas"/>
              </a:rPr>
              <a:t>clutch_3p_pct     r = +0.41</a:t>
            </a:r>
            <a:br>
              <a:rPr b="0" i="0" lang="en-GB" sz="1050" u="none" cap="none" strike="noStrike">
                <a:solidFill>
                  <a:srgbClr val="444444"/>
                </a:solidFill>
                <a:latin typeface="Consolas"/>
                <a:ea typeface="Consolas"/>
                <a:cs typeface="Consolas"/>
                <a:sym typeface="Consolas"/>
              </a:rPr>
            </a:br>
            <a:r>
              <a:rPr b="0" i="0" lang="en-GB" sz="1050" u="none" cap="none" strike="noStrike">
                <a:solidFill>
                  <a:srgbClr val="444444"/>
                </a:solidFill>
                <a:latin typeface="Consolas"/>
                <a:ea typeface="Consolas"/>
                <a:cs typeface="Consolas"/>
                <a:sym typeface="Consolas"/>
              </a:rPr>
              <a:t>clutch_fg_pct     r = +0.40</a:t>
            </a:r>
            <a:br>
              <a:rPr b="0" i="0" lang="en-GB" sz="1050" u="none" cap="none" strike="noStrike">
                <a:solidFill>
                  <a:srgbClr val="444444"/>
                </a:solidFill>
                <a:latin typeface="Consolas"/>
                <a:ea typeface="Consolas"/>
                <a:cs typeface="Consolas"/>
                <a:sym typeface="Consolas"/>
              </a:rPr>
            </a:br>
            <a:r>
              <a:rPr b="0" i="0" lang="en-GB" sz="1050" u="none" cap="none" strike="noStrike">
                <a:solidFill>
                  <a:srgbClr val="444444"/>
                </a:solidFill>
                <a:latin typeface="Consolas"/>
                <a:ea typeface="Consolas"/>
                <a:cs typeface="Consolas"/>
                <a:sym typeface="Consolas"/>
              </a:rPr>
              <a:t>clutch_ft_rate    r = +0.39</a:t>
            </a:r>
            <a:br>
              <a:rPr b="0" i="0" lang="en-GB" sz="1050" u="none" cap="none" strike="noStrike">
                <a:solidFill>
                  <a:srgbClr val="444444"/>
                </a:solidFill>
                <a:latin typeface="Consolas"/>
                <a:ea typeface="Consolas"/>
                <a:cs typeface="Consolas"/>
                <a:sym typeface="Consolas"/>
              </a:rPr>
            </a:br>
            <a:r>
              <a:rPr b="0" i="0" lang="en-GB" sz="1050" u="none" cap="none" strike="noStrike">
                <a:solidFill>
                  <a:srgbClr val="444444"/>
                </a:solidFill>
                <a:latin typeface="Consolas"/>
                <a:ea typeface="Consolas"/>
                <a:cs typeface="Consolas"/>
                <a:sym typeface="Consolas"/>
              </a:rPr>
              <a:t>clutch_fta        r = +0.31</a:t>
            </a:r>
            <a:br>
              <a:rPr b="0" i="0" lang="en-GB" sz="1050" u="none" cap="none" strike="noStrike">
                <a:solidFill>
                  <a:srgbClr val="444444"/>
                </a:solidFill>
                <a:latin typeface="Consolas"/>
                <a:ea typeface="Consolas"/>
                <a:cs typeface="Consolas"/>
                <a:sym typeface="Consolas"/>
              </a:rPr>
            </a:br>
            <a:br>
              <a:rPr b="0" i="0" lang="en-GB" sz="1050" u="none" cap="none" strike="noStrike">
                <a:solidFill>
                  <a:srgbClr val="444444"/>
                </a:solidFill>
                <a:latin typeface="Consolas"/>
                <a:ea typeface="Consolas"/>
                <a:cs typeface="Consolas"/>
                <a:sym typeface="Consolas"/>
              </a:rPr>
            </a:br>
            <a:r>
              <a:rPr b="1" i="0" lang="en-GB" sz="1150" u="none" cap="none" strike="noStrike">
                <a:solidFill>
                  <a:srgbClr val="7F1D1D"/>
                </a:solidFill>
                <a:latin typeface="Calibri"/>
                <a:ea typeface="Calibri"/>
                <a:cs typeface="Calibri"/>
                <a:sym typeface="Calibri"/>
              </a:rPr>
              <a:t>Strongest NEGATIVE correlates</a:t>
            </a:r>
            <a:br>
              <a:rPr b="1" i="0" lang="en-GB" sz="1150" u="none" cap="none" strike="noStrike">
                <a:solidFill>
                  <a:srgbClr val="7F1D1D"/>
                </a:solidFill>
                <a:latin typeface="Calibri"/>
                <a:ea typeface="Calibri"/>
                <a:cs typeface="Calibri"/>
                <a:sym typeface="Calibri"/>
              </a:rPr>
            </a:br>
            <a:r>
              <a:rPr b="1" i="0" lang="en-GB" sz="1150" u="none" cap="none" strike="noStrike">
                <a:solidFill>
                  <a:srgbClr val="7F1D1D"/>
                </a:solidFill>
                <a:latin typeface="Calibri"/>
                <a:ea typeface="Calibri"/>
                <a:cs typeface="Calibri"/>
                <a:sym typeface="Calibri"/>
              </a:rPr>
              <a:t>with clutch_win_pct:</a:t>
            </a:r>
            <a:br>
              <a:rPr b="1" i="0" lang="en-GB" sz="1150" u="none" cap="none" strike="noStrike">
                <a:solidFill>
                  <a:srgbClr val="7F1D1D"/>
                </a:solidFill>
                <a:latin typeface="Calibri"/>
                <a:ea typeface="Calibri"/>
                <a:cs typeface="Calibri"/>
                <a:sym typeface="Calibri"/>
              </a:rPr>
            </a:br>
            <a:r>
              <a:rPr b="1" i="0" lang="en-GB" sz="1050" u="none" cap="none" strike="noStrike">
                <a:solidFill>
                  <a:srgbClr val="444444"/>
                </a:solidFill>
                <a:latin typeface="Consolas"/>
                <a:ea typeface="Consolas"/>
                <a:cs typeface="Consolas"/>
                <a:sym typeface="Consolas"/>
              </a:rPr>
              <a:t>clutch_tov        r = −0.50</a:t>
            </a:r>
            <a:br>
              <a:rPr b="0" i="0" lang="en-GB" sz="1050" u="none" cap="none" strike="noStrike">
                <a:solidFill>
                  <a:srgbClr val="444444"/>
                </a:solidFill>
                <a:latin typeface="Consolas"/>
                <a:ea typeface="Consolas"/>
                <a:cs typeface="Consolas"/>
                <a:sym typeface="Consolas"/>
              </a:rPr>
            </a:br>
            <a:r>
              <a:rPr b="0" i="0" lang="en-GB" sz="1050" u="none" cap="none" strike="noStrike">
                <a:solidFill>
                  <a:srgbClr val="444444"/>
                </a:solidFill>
                <a:latin typeface="Consolas"/>
                <a:ea typeface="Consolas"/>
                <a:cs typeface="Consolas"/>
                <a:sym typeface="Consolas"/>
              </a:rPr>
              <a:t>clutch_tov_pct    r = −0.47</a:t>
            </a:r>
            <a:br>
              <a:rPr b="0" i="0" lang="en-GB" sz="1050" u="none" cap="none" strike="noStrike">
                <a:solidFill>
                  <a:srgbClr val="444444"/>
                </a:solidFill>
                <a:latin typeface="Consolas"/>
                <a:ea typeface="Consolas"/>
                <a:cs typeface="Consolas"/>
                <a:sym typeface="Consolas"/>
              </a:rPr>
            </a:br>
            <a:r>
              <a:rPr b="0" i="0" lang="en-GB" sz="1050" u="none" cap="none" strike="noStrike">
                <a:solidFill>
                  <a:srgbClr val="444444"/>
                </a:solidFill>
                <a:latin typeface="Consolas"/>
                <a:ea typeface="Consolas"/>
                <a:cs typeface="Consolas"/>
                <a:sym typeface="Consolas"/>
              </a:rPr>
              <a:t>clutch_reb        r = −0.20</a:t>
            </a:r>
            <a:br>
              <a:rPr b="0" i="0" lang="en-GB" sz="1050" u="none" cap="none" strike="noStrike">
                <a:solidFill>
                  <a:srgbClr val="444444"/>
                </a:solidFill>
                <a:latin typeface="Consolas"/>
                <a:ea typeface="Consolas"/>
                <a:cs typeface="Consolas"/>
                <a:sym typeface="Consolas"/>
              </a:rPr>
            </a:br>
            <a:r>
              <a:rPr b="0" i="0" lang="en-GB" sz="1050" u="none" cap="none" strike="noStrike">
                <a:solidFill>
                  <a:srgbClr val="444444"/>
                </a:solidFill>
                <a:latin typeface="Consolas"/>
                <a:ea typeface="Consolas"/>
                <a:cs typeface="Consolas"/>
                <a:sym typeface="Consolas"/>
              </a:rPr>
              <a:t>clutch_orb_pct    r = −0.11</a:t>
            </a:r>
            <a:br>
              <a:rPr b="0" i="0" lang="en-GB" sz="1050" u="none" cap="none" strike="noStrike">
                <a:solidFill>
                  <a:srgbClr val="444444"/>
                </a:solidFill>
                <a:latin typeface="Consolas"/>
                <a:ea typeface="Consolas"/>
                <a:cs typeface="Consolas"/>
                <a:sym typeface="Consolas"/>
              </a:rPr>
            </a:br>
            <a:br>
              <a:rPr b="0" i="0" lang="en-GB" sz="1050" u="none" cap="none" strike="noStrike">
                <a:solidFill>
                  <a:srgbClr val="444444"/>
                </a:solidFill>
                <a:latin typeface="Consolas"/>
                <a:ea typeface="Consolas"/>
                <a:cs typeface="Consolas"/>
                <a:sym typeface="Consolas"/>
              </a:rPr>
            </a:br>
            <a:r>
              <a:rPr b="1" i="1" lang="en-GB" sz="1150" u="none" cap="none" strike="noStrike">
                <a:solidFill>
                  <a:srgbClr val="122040"/>
                </a:solidFill>
                <a:latin typeface="Calibri"/>
                <a:ea typeface="Calibri"/>
                <a:cs typeface="Calibri"/>
                <a:sym typeface="Calibri"/>
              </a:rPr>
              <a:t>Shooting efficiency and ball security dominate. </a:t>
            </a:r>
            <a:endParaRPr b="1" i="1" sz="1150" u="none" cap="none" strike="noStrike">
              <a:solidFill>
                <a:srgbClr val="122040"/>
              </a:solidFill>
              <a:latin typeface="Calibri"/>
              <a:ea typeface="Calibri"/>
              <a:cs typeface="Calibri"/>
              <a:sym typeface="Calibri"/>
            </a:endParaRPr>
          </a:p>
          <a:p>
            <a:pPr indent="0" lvl="0" marL="0" marR="0" rtl="0" algn="l">
              <a:spcBef>
                <a:spcPts val="0"/>
              </a:spcBef>
              <a:spcAft>
                <a:spcPts val="0"/>
              </a:spcAft>
              <a:buClr>
                <a:srgbClr val="065F46"/>
              </a:buClr>
              <a:buSzPts val="1150"/>
              <a:buFont typeface="Calibri"/>
              <a:buNone/>
            </a:pPr>
            <a:r>
              <a:rPr b="1" i="1" lang="en-GB" sz="1150" u="none" cap="none" strike="noStrike">
                <a:solidFill>
                  <a:srgbClr val="122040"/>
                </a:solidFill>
                <a:latin typeface="Calibri"/>
                <a:ea typeface="Calibri"/>
                <a:cs typeface="Calibri"/>
                <a:sym typeface="Calibri"/>
              </a:rPr>
              <a:t>Rebounding has minimal impact.</a:t>
            </a:r>
            <a:endParaRPr b="1" i="0" sz="1150" u="none" cap="none" strike="noStrike">
              <a:solidFill>
                <a:srgbClr val="122040"/>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B"/>
        </a:solidFill>
      </p:bgPr>
    </p:bg>
    <p:spTree>
      <p:nvGrpSpPr>
        <p:cNvPr id="238" name="Shape 238"/>
        <p:cNvGrpSpPr/>
        <p:nvPr/>
      </p:nvGrpSpPr>
      <p:grpSpPr>
        <a:xfrm>
          <a:off x="0" y="0"/>
          <a:ext cx="0" cy="0"/>
          <a:chOff x="0" y="0"/>
          <a:chExt cx="0" cy="0"/>
        </a:xfrm>
      </p:grpSpPr>
      <p:sp>
        <p:nvSpPr>
          <p:cNvPr id="239" name="Google Shape;239;p24"/>
          <p:cNvSpPr/>
          <p:nvPr/>
        </p:nvSpPr>
        <p:spPr>
          <a:xfrm>
            <a:off x="0" y="0"/>
            <a:ext cx="9144000" cy="914400"/>
          </a:xfrm>
          <a:prstGeom prst="rect">
            <a:avLst/>
          </a:prstGeom>
          <a:solidFill>
            <a:srgbClr val="122040"/>
          </a:solidFill>
          <a:ln cap="flat" cmpd="sng" w="12700">
            <a:solidFill>
              <a:srgbClr val="1220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24"/>
          <p:cNvSpPr/>
          <p:nvPr/>
        </p:nvSpPr>
        <p:spPr>
          <a:xfrm>
            <a:off x="0" y="0"/>
            <a:ext cx="1097280" cy="914400"/>
          </a:xfrm>
          <a:prstGeom prst="rect">
            <a:avLst/>
          </a:prstGeom>
          <a:solidFill>
            <a:srgbClr val="1E3A6E"/>
          </a:solidFill>
          <a:ln cap="flat" cmpd="sng" w="12700">
            <a:solidFill>
              <a:srgbClr val="1E3A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24"/>
          <p:cNvSpPr/>
          <p:nvPr/>
        </p:nvSpPr>
        <p:spPr>
          <a:xfrm>
            <a:off x="0" y="0"/>
            <a:ext cx="1097280" cy="914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A84B"/>
              </a:buClr>
              <a:buSzPts val="1300"/>
              <a:buFont typeface="Calibri"/>
              <a:buNone/>
            </a:pPr>
            <a:r>
              <a:rPr b="1" i="0" lang="en-GB" sz="1300" u="none" cap="none" strike="noStrike">
                <a:solidFill>
                  <a:srgbClr val="C8A84B"/>
                </a:solidFill>
                <a:latin typeface="Calibri"/>
                <a:ea typeface="Calibri"/>
                <a:cs typeface="Calibri"/>
                <a:sym typeface="Calibri"/>
              </a:rPr>
              <a:t>RQ2</a:t>
            </a:r>
            <a:endParaRPr b="0" i="0" sz="1300" u="none" cap="none" strike="noStrike">
              <a:solidFill>
                <a:schemeClr val="dk1"/>
              </a:solidFill>
              <a:latin typeface="Calibri"/>
              <a:ea typeface="Calibri"/>
              <a:cs typeface="Calibri"/>
              <a:sym typeface="Calibri"/>
            </a:endParaRPr>
          </a:p>
        </p:txBody>
      </p:sp>
      <p:sp>
        <p:nvSpPr>
          <p:cNvPr id="242" name="Google Shape;242;p24"/>
          <p:cNvSpPr/>
          <p:nvPr/>
        </p:nvSpPr>
        <p:spPr>
          <a:xfrm>
            <a:off x="1234440" y="137160"/>
            <a:ext cx="82296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300"/>
              <a:buFont typeface="Georgia"/>
              <a:buNone/>
            </a:pPr>
            <a:r>
              <a:rPr b="1" i="0" lang="en-GB" sz="2300" u="none" cap="none" strike="noStrike">
                <a:solidFill>
                  <a:srgbClr val="FFFFFF"/>
                </a:solidFill>
                <a:latin typeface="Georgia"/>
                <a:ea typeface="Georgia"/>
                <a:cs typeface="Georgia"/>
                <a:sym typeface="Georgia"/>
              </a:rPr>
              <a:t>Clutch eFG% vs Win%  &amp;  eFG% vs TOV% Quadrant  </a:t>
            </a:r>
            <a:endParaRPr b="0" i="0" sz="2300" u="none" cap="none" strike="noStrike">
              <a:solidFill>
                <a:schemeClr val="dk1"/>
              </a:solidFill>
              <a:latin typeface="Calibri"/>
              <a:ea typeface="Calibri"/>
              <a:cs typeface="Calibri"/>
              <a:sym typeface="Calibri"/>
            </a:endParaRPr>
          </a:p>
        </p:txBody>
      </p:sp>
      <p:pic>
        <p:nvPicPr>
          <p:cNvPr descr="preencoded.png" id="243" name="Google Shape;243;p24"/>
          <p:cNvPicPr preferRelativeResize="0"/>
          <p:nvPr/>
        </p:nvPicPr>
        <p:blipFill rotWithShape="1">
          <a:blip r:embed="rId3">
            <a:alphaModFix/>
          </a:blip>
          <a:srcRect b="0" l="0" r="0" t="0"/>
          <a:stretch/>
        </p:blipFill>
        <p:spPr>
          <a:xfrm>
            <a:off x="274320" y="1005840"/>
            <a:ext cx="4297680" cy="3200400"/>
          </a:xfrm>
          <a:prstGeom prst="rect">
            <a:avLst/>
          </a:prstGeom>
          <a:noFill/>
          <a:ln>
            <a:noFill/>
          </a:ln>
        </p:spPr>
      </p:pic>
      <p:pic>
        <p:nvPicPr>
          <p:cNvPr descr="preencoded.png" id="244" name="Google Shape;244;p24"/>
          <p:cNvPicPr preferRelativeResize="0"/>
          <p:nvPr/>
        </p:nvPicPr>
        <p:blipFill rotWithShape="1">
          <a:blip r:embed="rId4">
            <a:alphaModFix/>
          </a:blip>
          <a:srcRect b="0" l="0" r="0" t="0"/>
          <a:stretch/>
        </p:blipFill>
        <p:spPr>
          <a:xfrm>
            <a:off x="4663440" y="1005840"/>
            <a:ext cx="4297680" cy="3200400"/>
          </a:xfrm>
          <a:prstGeom prst="rect">
            <a:avLst/>
          </a:prstGeom>
          <a:noFill/>
          <a:ln>
            <a:noFill/>
          </a:ln>
        </p:spPr>
      </p:pic>
      <p:sp>
        <p:nvSpPr>
          <p:cNvPr id="245" name="Google Shape;245;p24"/>
          <p:cNvSpPr/>
          <p:nvPr/>
        </p:nvSpPr>
        <p:spPr>
          <a:xfrm>
            <a:off x="274320" y="4279392"/>
            <a:ext cx="4297680" cy="64008"/>
          </a:xfrm>
          <a:prstGeom prst="rect">
            <a:avLst/>
          </a:prstGeom>
          <a:solidFill>
            <a:srgbClr val="C8A84B"/>
          </a:solidFill>
          <a:ln cap="flat" cmpd="sng" w="12700">
            <a:solidFill>
              <a:srgbClr val="C8A84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24"/>
          <p:cNvSpPr/>
          <p:nvPr/>
        </p:nvSpPr>
        <p:spPr>
          <a:xfrm>
            <a:off x="274320" y="4352544"/>
            <a:ext cx="429768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44444"/>
              </a:buClr>
              <a:buSzPts val="1050"/>
              <a:buFont typeface="Calibri"/>
              <a:buNone/>
            </a:pPr>
            <a:r>
              <a:rPr b="0" i="0" lang="en-GB" sz="1050" u="none" cap="none" strike="noStrike">
                <a:solidFill>
                  <a:srgbClr val="444444"/>
                </a:solidFill>
                <a:latin typeface="Calibri"/>
                <a:ea typeface="Calibri"/>
                <a:cs typeface="Calibri"/>
                <a:sym typeface="Calibri"/>
              </a:rPr>
              <a:t>Plot 2: Higher eFG% → higher clutch win%. Strongest single positive factor (r = +0.51).</a:t>
            </a:r>
            <a:endParaRPr b="0" i="0" sz="1050" u="none" cap="none" strike="noStrike">
              <a:solidFill>
                <a:schemeClr val="dk1"/>
              </a:solidFill>
              <a:latin typeface="Calibri"/>
              <a:ea typeface="Calibri"/>
              <a:cs typeface="Calibri"/>
              <a:sym typeface="Calibri"/>
            </a:endParaRPr>
          </a:p>
        </p:txBody>
      </p:sp>
      <p:sp>
        <p:nvSpPr>
          <p:cNvPr id="247" name="Google Shape;247;p24"/>
          <p:cNvSpPr/>
          <p:nvPr/>
        </p:nvSpPr>
        <p:spPr>
          <a:xfrm>
            <a:off x="4663440" y="4279392"/>
            <a:ext cx="4297680" cy="64008"/>
          </a:xfrm>
          <a:prstGeom prst="rect">
            <a:avLst/>
          </a:prstGeom>
          <a:solidFill>
            <a:srgbClr val="3B82F6"/>
          </a:solidFill>
          <a:ln cap="flat" cmpd="sng" w="12700">
            <a:solidFill>
              <a:srgbClr val="3B82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24"/>
          <p:cNvSpPr/>
          <p:nvPr/>
        </p:nvSpPr>
        <p:spPr>
          <a:xfrm>
            <a:off x="4663440" y="4352544"/>
            <a:ext cx="429768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44444"/>
              </a:buClr>
              <a:buSzPts val="1050"/>
              <a:buFont typeface="Calibri"/>
              <a:buNone/>
            </a:pPr>
            <a:r>
              <a:rPr b="0" i="0" lang="en-GB" sz="1050" u="none" cap="none" strike="noStrike">
                <a:solidFill>
                  <a:srgbClr val="444444"/>
                </a:solidFill>
                <a:latin typeface="Calibri"/>
                <a:ea typeface="Calibri"/>
                <a:cs typeface="Calibri"/>
                <a:sym typeface="Calibri"/>
              </a:rPr>
              <a:t>Plot 3: Teams in top-right (high eFG%, low TOV%) = best clutch profile. Thunder, Celtics, Pacers lead.</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B"/>
        </a:solidFill>
      </p:bgPr>
    </p:bg>
    <p:spTree>
      <p:nvGrpSpPr>
        <p:cNvPr id="253" name="Shape 253"/>
        <p:cNvGrpSpPr/>
        <p:nvPr/>
      </p:nvGrpSpPr>
      <p:grpSpPr>
        <a:xfrm>
          <a:off x="0" y="0"/>
          <a:ext cx="0" cy="0"/>
          <a:chOff x="0" y="0"/>
          <a:chExt cx="0" cy="0"/>
        </a:xfrm>
      </p:grpSpPr>
      <p:sp>
        <p:nvSpPr>
          <p:cNvPr id="254" name="Google Shape;254;p25"/>
          <p:cNvSpPr/>
          <p:nvPr/>
        </p:nvSpPr>
        <p:spPr>
          <a:xfrm>
            <a:off x="0" y="0"/>
            <a:ext cx="9144000" cy="914400"/>
          </a:xfrm>
          <a:prstGeom prst="rect">
            <a:avLst/>
          </a:prstGeom>
          <a:solidFill>
            <a:srgbClr val="122040"/>
          </a:solidFill>
          <a:ln cap="flat" cmpd="sng" w="12700">
            <a:solidFill>
              <a:srgbClr val="1220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25"/>
          <p:cNvSpPr/>
          <p:nvPr/>
        </p:nvSpPr>
        <p:spPr>
          <a:xfrm>
            <a:off x="0" y="0"/>
            <a:ext cx="1097280" cy="914400"/>
          </a:xfrm>
          <a:prstGeom prst="rect">
            <a:avLst/>
          </a:prstGeom>
          <a:solidFill>
            <a:srgbClr val="1E3A6E"/>
          </a:solidFill>
          <a:ln cap="flat" cmpd="sng" w="12700">
            <a:solidFill>
              <a:srgbClr val="1E3A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25"/>
          <p:cNvSpPr/>
          <p:nvPr/>
        </p:nvSpPr>
        <p:spPr>
          <a:xfrm>
            <a:off x="0" y="0"/>
            <a:ext cx="1097280" cy="914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A84B"/>
              </a:buClr>
              <a:buSzPts val="1300"/>
              <a:buFont typeface="Calibri"/>
              <a:buNone/>
            </a:pPr>
            <a:r>
              <a:rPr b="1" i="0" lang="en-GB" sz="1300" u="none" cap="none" strike="noStrike">
                <a:solidFill>
                  <a:srgbClr val="C8A84B"/>
                </a:solidFill>
                <a:latin typeface="Calibri"/>
                <a:ea typeface="Calibri"/>
                <a:cs typeface="Calibri"/>
                <a:sym typeface="Calibri"/>
              </a:rPr>
              <a:t>RQ2</a:t>
            </a:r>
            <a:endParaRPr b="0" i="0" sz="1300" u="none" cap="none" strike="noStrike">
              <a:solidFill>
                <a:schemeClr val="dk1"/>
              </a:solidFill>
              <a:latin typeface="Calibri"/>
              <a:ea typeface="Calibri"/>
              <a:cs typeface="Calibri"/>
              <a:sym typeface="Calibri"/>
            </a:endParaRPr>
          </a:p>
        </p:txBody>
      </p:sp>
      <p:sp>
        <p:nvSpPr>
          <p:cNvPr id="257" name="Google Shape;257;p25"/>
          <p:cNvSpPr/>
          <p:nvPr/>
        </p:nvSpPr>
        <p:spPr>
          <a:xfrm>
            <a:off x="1234440" y="137160"/>
            <a:ext cx="82296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300"/>
              <a:buFont typeface="Georgia"/>
              <a:buNone/>
            </a:pPr>
            <a:r>
              <a:rPr b="1" i="0" lang="en-GB" sz="2300" u="none" cap="none" strike="noStrike">
                <a:solidFill>
                  <a:srgbClr val="FFFFFF"/>
                </a:solidFill>
                <a:latin typeface="Georgia"/>
                <a:ea typeface="Georgia"/>
                <a:cs typeface="Georgia"/>
                <a:sym typeface="Georgia"/>
              </a:rPr>
              <a:t>Top 10 vs Bottom 10 Teams by Clutch Win%  </a:t>
            </a:r>
            <a:endParaRPr b="0" i="0" sz="2300" u="none" cap="none" strike="noStrike">
              <a:solidFill>
                <a:schemeClr val="dk1"/>
              </a:solidFill>
              <a:latin typeface="Calibri"/>
              <a:ea typeface="Calibri"/>
              <a:cs typeface="Calibri"/>
              <a:sym typeface="Calibri"/>
            </a:endParaRPr>
          </a:p>
        </p:txBody>
      </p:sp>
      <p:pic>
        <p:nvPicPr>
          <p:cNvPr descr="preencoded.png" id="258" name="Google Shape;258;p25"/>
          <p:cNvPicPr preferRelativeResize="0"/>
          <p:nvPr/>
        </p:nvPicPr>
        <p:blipFill rotWithShape="1">
          <a:blip r:embed="rId3">
            <a:alphaModFix/>
          </a:blip>
          <a:srcRect b="0" l="0" r="0" t="0"/>
          <a:stretch/>
        </p:blipFill>
        <p:spPr>
          <a:xfrm>
            <a:off x="182880" y="992127"/>
            <a:ext cx="8778240" cy="3657600"/>
          </a:xfrm>
          <a:prstGeom prst="rect">
            <a:avLst/>
          </a:prstGeom>
          <a:noFill/>
          <a:ln>
            <a:noFill/>
          </a:ln>
        </p:spPr>
      </p:pic>
      <p:sp>
        <p:nvSpPr>
          <p:cNvPr id="259" name="Google Shape;259;p25"/>
          <p:cNvSpPr/>
          <p:nvPr/>
        </p:nvSpPr>
        <p:spPr>
          <a:xfrm>
            <a:off x="0" y="4727448"/>
            <a:ext cx="9144000" cy="283464"/>
          </a:xfrm>
          <a:prstGeom prst="rect">
            <a:avLst/>
          </a:prstGeom>
          <a:solidFill>
            <a:srgbClr val="122040"/>
          </a:solidFill>
          <a:ln cap="flat" cmpd="sng" w="12700">
            <a:solidFill>
              <a:srgbClr val="1220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25"/>
          <p:cNvSpPr/>
          <p:nvPr/>
        </p:nvSpPr>
        <p:spPr>
          <a:xfrm>
            <a:off x="274320" y="4727448"/>
            <a:ext cx="8595360" cy="28346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000"/>
              <a:buFont typeface="Calibri"/>
              <a:buNone/>
            </a:pPr>
            <a:r>
              <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B"/>
        </a:solidFill>
      </p:bgPr>
    </p:bg>
    <p:spTree>
      <p:nvGrpSpPr>
        <p:cNvPr id="265" name="Shape 265"/>
        <p:cNvGrpSpPr/>
        <p:nvPr/>
      </p:nvGrpSpPr>
      <p:grpSpPr>
        <a:xfrm>
          <a:off x="0" y="0"/>
          <a:ext cx="0" cy="0"/>
          <a:chOff x="0" y="0"/>
          <a:chExt cx="0" cy="0"/>
        </a:xfrm>
      </p:grpSpPr>
      <p:sp>
        <p:nvSpPr>
          <p:cNvPr id="266" name="Google Shape;266;p26"/>
          <p:cNvSpPr/>
          <p:nvPr/>
        </p:nvSpPr>
        <p:spPr>
          <a:xfrm>
            <a:off x="0" y="0"/>
            <a:ext cx="9144000" cy="914400"/>
          </a:xfrm>
          <a:prstGeom prst="rect">
            <a:avLst/>
          </a:prstGeom>
          <a:solidFill>
            <a:srgbClr val="122040"/>
          </a:solidFill>
          <a:ln cap="flat" cmpd="sng" w="12700">
            <a:solidFill>
              <a:srgbClr val="1220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26"/>
          <p:cNvSpPr/>
          <p:nvPr/>
        </p:nvSpPr>
        <p:spPr>
          <a:xfrm>
            <a:off x="0" y="0"/>
            <a:ext cx="1097280" cy="914400"/>
          </a:xfrm>
          <a:prstGeom prst="rect">
            <a:avLst/>
          </a:prstGeom>
          <a:solidFill>
            <a:srgbClr val="1E3A6E"/>
          </a:solidFill>
          <a:ln cap="flat" cmpd="sng" w="12700">
            <a:solidFill>
              <a:srgbClr val="1E3A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26"/>
          <p:cNvSpPr/>
          <p:nvPr/>
        </p:nvSpPr>
        <p:spPr>
          <a:xfrm>
            <a:off x="0" y="0"/>
            <a:ext cx="1097280" cy="914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A84B"/>
              </a:buClr>
              <a:buSzPts val="1300"/>
              <a:buFont typeface="Calibri"/>
              <a:buNone/>
            </a:pPr>
            <a:r>
              <a:rPr b="1" i="0" lang="en-GB" sz="1300" u="none" cap="none" strike="noStrike">
                <a:solidFill>
                  <a:srgbClr val="C8A84B"/>
                </a:solidFill>
                <a:latin typeface="Calibri"/>
                <a:ea typeface="Calibri"/>
                <a:cs typeface="Calibri"/>
                <a:sym typeface="Calibri"/>
              </a:rPr>
              <a:t>RQ3</a:t>
            </a:r>
            <a:endParaRPr b="0" i="0" sz="1300" u="none" cap="none" strike="noStrike">
              <a:solidFill>
                <a:schemeClr val="dk1"/>
              </a:solidFill>
              <a:latin typeface="Calibri"/>
              <a:ea typeface="Calibri"/>
              <a:cs typeface="Calibri"/>
              <a:sym typeface="Calibri"/>
            </a:endParaRPr>
          </a:p>
        </p:txBody>
      </p:sp>
      <p:sp>
        <p:nvSpPr>
          <p:cNvPr id="269" name="Google Shape;269;p26"/>
          <p:cNvSpPr/>
          <p:nvPr/>
        </p:nvSpPr>
        <p:spPr>
          <a:xfrm>
            <a:off x="1234440" y="137160"/>
            <a:ext cx="82296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300"/>
              <a:buFont typeface="Georgia"/>
              <a:buNone/>
            </a:pPr>
            <a:r>
              <a:rPr b="1" i="0" lang="en-GB" sz="2300" u="none" cap="none" strike="noStrike">
                <a:solidFill>
                  <a:srgbClr val="FFFFFF"/>
                </a:solidFill>
                <a:latin typeface="Georgia"/>
                <a:ea typeface="Georgia"/>
                <a:cs typeface="Georgia"/>
                <a:sym typeface="Georgia"/>
              </a:rPr>
              <a:t>Reg-Season vs Clutch FG% &amp; FT% — Top 10 Clutch Team</a:t>
            </a:r>
            <a:r>
              <a:rPr b="1" i="0" lang="en-GB" sz="2300" u="none" cap="none" strike="noStrike">
                <a:solidFill>
                  <a:srgbClr val="FFFFFF"/>
                </a:solidFill>
                <a:latin typeface="Georgia"/>
                <a:ea typeface="Georgia"/>
                <a:cs typeface="Georgia"/>
                <a:sym typeface="Georgia"/>
              </a:rPr>
              <a:t>s  </a:t>
            </a:r>
            <a:endParaRPr b="0" i="0" sz="2300" u="none" cap="none" strike="noStrike">
              <a:solidFill>
                <a:schemeClr val="dk1"/>
              </a:solidFill>
              <a:latin typeface="Calibri"/>
              <a:ea typeface="Calibri"/>
              <a:cs typeface="Calibri"/>
              <a:sym typeface="Calibri"/>
            </a:endParaRPr>
          </a:p>
        </p:txBody>
      </p:sp>
      <p:pic>
        <p:nvPicPr>
          <p:cNvPr descr="preencoded.png" id="270" name="Google Shape;270;p26"/>
          <p:cNvPicPr preferRelativeResize="0"/>
          <p:nvPr/>
        </p:nvPicPr>
        <p:blipFill rotWithShape="1">
          <a:blip r:embed="rId3">
            <a:alphaModFix/>
          </a:blip>
          <a:srcRect b="0" l="0" r="0" t="0"/>
          <a:stretch/>
        </p:blipFill>
        <p:spPr>
          <a:xfrm>
            <a:off x="274320" y="1005840"/>
            <a:ext cx="4297680" cy="3200400"/>
          </a:xfrm>
          <a:prstGeom prst="rect">
            <a:avLst/>
          </a:prstGeom>
          <a:noFill/>
          <a:ln>
            <a:noFill/>
          </a:ln>
        </p:spPr>
      </p:pic>
      <p:pic>
        <p:nvPicPr>
          <p:cNvPr descr="preencoded.png" id="271" name="Google Shape;271;p26"/>
          <p:cNvPicPr preferRelativeResize="0"/>
          <p:nvPr/>
        </p:nvPicPr>
        <p:blipFill rotWithShape="1">
          <a:blip r:embed="rId4">
            <a:alphaModFix/>
          </a:blip>
          <a:srcRect b="0" l="0" r="0" t="0"/>
          <a:stretch/>
        </p:blipFill>
        <p:spPr>
          <a:xfrm>
            <a:off x="4663440" y="1005840"/>
            <a:ext cx="4297680" cy="3200400"/>
          </a:xfrm>
          <a:prstGeom prst="rect">
            <a:avLst/>
          </a:prstGeom>
          <a:noFill/>
          <a:ln>
            <a:noFill/>
          </a:ln>
        </p:spPr>
      </p:pic>
      <p:sp>
        <p:nvSpPr>
          <p:cNvPr id="272" name="Google Shape;272;p26"/>
          <p:cNvSpPr/>
          <p:nvPr/>
        </p:nvSpPr>
        <p:spPr>
          <a:xfrm>
            <a:off x="274320" y="4279392"/>
            <a:ext cx="4297680" cy="64008"/>
          </a:xfrm>
          <a:prstGeom prst="rect">
            <a:avLst/>
          </a:prstGeom>
          <a:solidFill>
            <a:srgbClr val="C8A84B"/>
          </a:solidFill>
          <a:ln cap="flat" cmpd="sng" w="12700">
            <a:solidFill>
              <a:srgbClr val="C8A84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26"/>
          <p:cNvSpPr/>
          <p:nvPr/>
        </p:nvSpPr>
        <p:spPr>
          <a:xfrm>
            <a:off x="274320" y="4352544"/>
            <a:ext cx="429768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44444"/>
              </a:buClr>
              <a:buSzPts val="1050"/>
              <a:buFont typeface="Calibri"/>
              <a:buNone/>
            </a:pPr>
            <a:r>
              <a:rPr b="0" i="0" lang="en-GB" sz="1050" u="none" cap="none" strike="noStrike">
                <a:solidFill>
                  <a:srgbClr val="444444"/>
                </a:solidFill>
                <a:latin typeface="Calibri"/>
                <a:ea typeface="Calibri"/>
                <a:cs typeface="Calibri"/>
                <a:sym typeface="Calibri"/>
              </a:rPr>
              <a:t>FG%: Most teams decline in clutch. Exception: Nuggets improve 0.506 → 0.531. Warriors &amp; Rockets drop sharply.</a:t>
            </a:r>
            <a:endParaRPr b="0" i="0" sz="1050" u="none" cap="none" strike="noStrike">
              <a:solidFill>
                <a:schemeClr val="dk1"/>
              </a:solidFill>
              <a:latin typeface="Calibri"/>
              <a:ea typeface="Calibri"/>
              <a:cs typeface="Calibri"/>
              <a:sym typeface="Calibri"/>
            </a:endParaRPr>
          </a:p>
        </p:txBody>
      </p:sp>
      <p:sp>
        <p:nvSpPr>
          <p:cNvPr id="274" name="Google Shape;274;p26"/>
          <p:cNvSpPr/>
          <p:nvPr/>
        </p:nvSpPr>
        <p:spPr>
          <a:xfrm>
            <a:off x="4663440" y="4279392"/>
            <a:ext cx="4297680" cy="64008"/>
          </a:xfrm>
          <a:prstGeom prst="rect">
            <a:avLst/>
          </a:prstGeom>
          <a:solidFill>
            <a:srgbClr val="3B82F6"/>
          </a:solidFill>
          <a:ln cap="flat" cmpd="sng" w="12700">
            <a:solidFill>
              <a:srgbClr val="3B82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26"/>
          <p:cNvSpPr/>
          <p:nvPr/>
        </p:nvSpPr>
        <p:spPr>
          <a:xfrm>
            <a:off x="4663440" y="4352544"/>
            <a:ext cx="429768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44444"/>
              </a:buClr>
              <a:buSzPts val="1050"/>
              <a:buFont typeface="Calibri"/>
              <a:buNone/>
            </a:pPr>
            <a:r>
              <a:rPr b="0" i="0" lang="en-GB" sz="1050" u="none" cap="none" strike="noStrike">
                <a:solidFill>
                  <a:srgbClr val="444444"/>
                </a:solidFill>
                <a:latin typeface="Calibri"/>
                <a:ea typeface="Calibri"/>
                <a:cs typeface="Calibri"/>
                <a:sym typeface="Calibri"/>
              </a:rPr>
              <a:t>FT%: Warriors &amp; Knicks improve to ~0.82. Thunder drop from 0.819 → 0.770 under pressure. High variability.</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B"/>
        </a:solidFill>
      </p:bgPr>
    </p:bg>
    <p:spTree>
      <p:nvGrpSpPr>
        <p:cNvPr id="280" name="Shape 280"/>
        <p:cNvGrpSpPr/>
        <p:nvPr/>
      </p:nvGrpSpPr>
      <p:grpSpPr>
        <a:xfrm>
          <a:off x="0" y="0"/>
          <a:ext cx="0" cy="0"/>
          <a:chOff x="0" y="0"/>
          <a:chExt cx="0" cy="0"/>
        </a:xfrm>
      </p:grpSpPr>
      <p:sp>
        <p:nvSpPr>
          <p:cNvPr id="281" name="Google Shape;281;p27"/>
          <p:cNvSpPr/>
          <p:nvPr/>
        </p:nvSpPr>
        <p:spPr>
          <a:xfrm>
            <a:off x="0" y="0"/>
            <a:ext cx="9144000" cy="914400"/>
          </a:xfrm>
          <a:prstGeom prst="rect">
            <a:avLst/>
          </a:prstGeom>
          <a:solidFill>
            <a:srgbClr val="122040"/>
          </a:solidFill>
          <a:ln cap="flat" cmpd="sng" w="12700">
            <a:solidFill>
              <a:srgbClr val="1220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27"/>
          <p:cNvSpPr/>
          <p:nvPr/>
        </p:nvSpPr>
        <p:spPr>
          <a:xfrm>
            <a:off x="0" y="0"/>
            <a:ext cx="1097280" cy="914400"/>
          </a:xfrm>
          <a:prstGeom prst="rect">
            <a:avLst/>
          </a:prstGeom>
          <a:solidFill>
            <a:srgbClr val="1E3A6E"/>
          </a:solidFill>
          <a:ln cap="flat" cmpd="sng" w="12700">
            <a:solidFill>
              <a:srgbClr val="1E3A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27"/>
          <p:cNvSpPr/>
          <p:nvPr/>
        </p:nvSpPr>
        <p:spPr>
          <a:xfrm>
            <a:off x="0" y="0"/>
            <a:ext cx="1097400" cy="914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A84B"/>
              </a:buClr>
              <a:buSzPts val="1300"/>
              <a:buFont typeface="Calibri"/>
              <a:buNone/>
            </a:pPr>
            <a:r>
              <a:rPr b="1" i="0" lang="en-GB" sz="1300" u="none" cap="none" strike="noStrike">
                <a:solidFill>
                  <a:srgbClr val="C8A84B"/>
                </a:solidFill>
                <a:latin typeface="Calibri"/>
                <a:ea typeface="Calibri"/>
                <a:cs typeface="Calibri"/>
                <a:sym typeface="Calibri"/>
              </a:rPr>
              <a:t>RQ3</a:t>
            </a:r>
            <a:endParaRPr b="0" i="0" sz="1300" u="none" cap="none" strike="noStrike">
              <a:solidFill>
                <a:schemeClr val="dk1"/>
              </a:solidFill>
              <a:latin typeface="Calibri"/>
              <a:ea typeface="Calibri"/>
              <a:cs typeface="Calibri"/>
              <a:sym typeface="Calibri"/>
            </a:endParaRPr>
          </a:p>
        </p:txBody>
      </p:sp>
      <p:sp>
        <p:nvSpPr>
          <p:cNvPr id="284" name="Google Shape;284;p27"/>
          <p:cNvSpPr/>
          <p:nvPr/>
        </p:nvSpPr>
        <p:spPr>
          <a:xfrm>
            <a:off x="1045540" y="137110"/>
            <a:ext cx="82296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300"/>
              <a:buFont typeface="Georgia"/>
              <a:buNone/>
            </a:pPr>
            <a:r>
              <a:rPr b="1" i="0" lang="en-GB" sz="2300" u="none" cap="none" strike="noStrike">
                <a:solidFill>
                  <a:srgbClr val="FFFFFF"/>
                </a:solidFill>
                <a:latin typeface="Georgia"/>
                <a:ea typeface="Georgia"/>
                <a:cs typeface="Georgia"/>
                <a:sym typeface="Georgia"/>
              </a:rPr>
              <a:t>Regular-Season vs Clutch 3P% — Top 10 Clutch Teams  </a:t>
            </a:r>
            <a:endParaRPr b="0" i="0" sz="2300" u="none" cap="none" strike="noStrike">
              <a:solidFill>
                <a:schemeClr val="dk1"/>
              </a:solidFill>
              <a:latin typeface="Calibri"/>
              <a:ea typeface="Calibri"/>
              <a:cs typeface="Calibri"/>
              <a:sym typeface="Calibri"/>
            </a:endParaRPr>
          </a:p>
        </p:txBody>
      </p:sp>
      <p:pic>
        <p:nvPicPr>
          <p:cNvPr descr="preencoded.png" id="285" name="Google Shape;285;p27"/>
          <p:cNvPicPr preferRelativeResize="0"/>
          <p:nvPr/>
        </p:nvPicPr>
        <p:blipFill rotWithShape="1">
          <a:blip r:embed="rId3">
            <a:alphaModFix/>
          </a:blip>
          <a:srcRect b="0" l="0" r="0" t="0"/>
          <a:stretch/>
        </p:blipFill>
        <p:spPr>
          <a:xfrm>
            <a:off x="274320" y="987552"/>
            <a:ext cx="5577840" cy="4087368"/>
          </a:xfrm>
          <a:prstGeom prst="rect">
            <a:avLst/>
          </a:prstGeom>
          <a:noFill/>
          <a:ln>
            <a:noFill/>
          </a:ln>
        </p:spPr>
      </p:pic>
      <p:sp>
        <p:nvSpPr>
          <p:cNvPr id="286" name="Google Shape;286;p27"/>
          <p:cNvSpPr/>
          <p:nvPr/>
        </p:nvSpPr>
        <p:spPr>
          <a:xfrm>
            <a:off x="5961888" y="987552"/>
            <a:ext cx="3090672" cy="4087368"/>
          </a:xfrm>
          <a:prstGeom prst="rect">
            <a:avLst/>
          </a:prstGeom>
          <a:solidFill>
            <a:srgbClr val="FFFFFF"/>
          </a:solidFill>
          <a:ln cap="flat" cmpd="sng" w="12700">
            <a:solidFill>
              <a:srgbClr val="DDDDDD"/>
            </a:solidFill>
            <a:prstDash val="solid"/>
            <a:round/>
            <a:headEnd len="sm" w="sm" type="none"/>
            <a:tailEnd len="sm" w="sm" type="none"/>
          </a:ln>
          <a:effectLst>
            <a:outerShdw blurRad="1016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27"/>
          <p:cNvSpPr/>
          <p:nvPr/>
        </p:nvSpPr>
        <p:spPr>
          <a:xfrm>
            <a:off x="5961888" y="987552"/>
            <a:ext cx="3090672" cy="50292"/>
          </a:xfrm>
          <a:prstGeom prst="rect">
            <a:avLst/>
          </a:prstGeom>
          <a:solidFill>
            <a:srgbClr val="C8A84B"/>
          </a:solidFill>
          <a:ln cap="flat" cmpd="sng" w="12700">
            <a:solidFill>
              <a:srgbClr val="C8A84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27"/>
          <p:cNvSpPr/>
          <p:nvPr/>
        </p:nvSpPr>
        <p:spPr>
          <a:xfrm>
            <a:off x="6099048" y="1078992"/>
            <a:ext cx="2816352"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1628"/>
              </a:buClr>
              <a:buSzPts val="1300"/>
              <a:buFont typeface="Georgia"/>
              <a:buNone/>
            </a:pPr>
            <a:r>
              <a:rPr b="1" i="0" lang="en-GB" sz="1300" u="none" cap="none" strike="noStrike">
                <a:solidFill>
                  <a:srgbClr val="0A1628"/>
                </a:solidFill>
                <a:latin typeface="Georgia"/>
                <a:ea typeface="Georgia"/>
                <a:cs typeface="Georgia"/>
                <a:sym typeface="Georgia"/>
              </a:rPr>
              <a:t>3P% Shifts</a:t>
            </a:r>
            <a:endParaRPr b="0" i="0" sz="1300" u="none" cap="none" strike="noStrike">
              <a:solidFill>
                <a:schemeClr val="dk1"/>
              </a:solidFill>
              <a:latin typeface="Calibri"/>
              <a:ea typeface="Calibri"/>
              <a:cs typeface="Calibri"/>
              <a:sym typeface="Calibri"/>
            </a:endParaRPr>
          </a:p>
        </p:txBody>
      </p:sp>
      <p:sp>
        <p:nvSpPr>
          <p:cNvPr id="289" name="Google Shape;289;p27"/>
          <p:cNvSpPr/>
          <p:nvPr/>
        </p:nvSpPr>
        <p:spPr>
          <a:xfrm>
            <a:off x="6099048" y="1508760"/>
            <a:ext cx="2816352" cy="34930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44444"/>
              </a:buClr>
              <a:buSzPts val="1150"/>
              <a:buFont typeface="Calibri"/>
              <a:buNone/>
            </a:pPr>
            <a:r>
              <a:rPr b="1" i="0" lang="en-GB" sz="1150" u="none" cap="none" strike="noStrike">
                <a:solidFill>
                  <a:srgbClr val="444444"/>
                </a:solidFill>
                <a:latin typeface="Calibri"/>
                <a:ea typeface="Calibri"/>
                <a:cs typeface="Calibri"/>
                <a:sym typeface="Calibri"/>
              </a:rPr>
              <a:t>Most volatile metric</a:t>
            </a:r>
            <a:br>
              <a:rPr b="1" i="0" lang="en-GB" sz="1150" u="none" cap="none" strike="noStrike">
                <a:solidFill>
                  <a:srgbClr val="444444"/>
                </a:solidFill>
                <a:latin typeface="Calibri"/>
                <a:ea typeface="Calibri"/>
                <a:cs typeface="Calibri"/>
                <a:sym typeface="Calibri"/>
              </a:rPr>
            </a:br>
            <a:r>
              <a:rPr b="0" i="0" lang="en-GB" sz="1150" u="none" cap="none" strike="noStrike">
                <a:solidFill>
                  <a:srgbClr val="444444"/>
                </a:solidFill>
                <a:latin typeface="Calibri"/>
                <a:ea typeface="Calibri"/>
                <a:cs typeface="Calibri"/>
                <a:sym typeface="Calibri"/>
              </a:rPr>
              <a:t>Three-point shooting fluctuates the most between regular season and clutch play.</a:t>
            </a:r>
            <a:br>
              <a:rPr b="0" i="0" lang="en-GB" sz="1150" u="none" cap="none" strike="noStrike">
                <a:solidFill>
                  <a:srgbClr val="444444"/>
                </a:solidFill>
                <a:latin typeface="Calibri"/>
                <a:ea typeface="Calibri"/>
                <a:cs typeface="Calibri"/>
                <a:sym typeface="Calibri"/>
              </a:rPr>
            </a:br>
            <a:br>
              <a:rPr b="0" i="0" lang="en-GB" sz="1150" u="none" cap="none" strike="noStrike">
                <a:solidFill>
                  <a:srgbClr val="444444"/>
                </a:solidFill>
                <a:latin typeface="Calibri"/>
                <a:ea typeface="Calibri"/>
                <a:cs typeface="Calibri"/>
                <a:sym typeface="Calibri"/>
              </a:rPr>
            </a:br>
            <a:r>
              <a:rPr b="1" i="0" lang="en-GB" sz="1150" u="none" cap="none" strike="noStrike">
                <a:solidFill>
                  <a:srgbClr val="065F46"/>
                </a:solidFill>
                <a:latin typeface="Calibri"/>
                <a:ea typeface="Calibri"/>
                <a:cs typeface="Calibri"/>
                <a:sym typeface="Calibri"/>
              </a:rPr>
              <a:t>Big CLUTCH improvers</a:t>
            </a:r>
            <a:br>
              <a:rPr b="1" i="0" lang="en-GB" sz="1150" u="none" cap="none" strike="noStrike">
                <a:solidFill>
                  <a:srgbClr val="065F46"/>
                </a:solidFill>
                <a:latin typeface="Calibri"/>
                <a:ea typeface="Calibri"/>
                <a:cs typeface="Calibri"/>
                <a:sym typeface="Calibri"/>
              </a:rPr>
            </a:br>
            <a:r>
              <a:rPr b="0" i="0" lang="en-GB" sz="1050" u="none" cap="none" strike="noStrike">
                <a:solidFill>
                  <a:srgbClr val="444444"/>
                </a:solidFill>
                <a:latin typeface="Consolas"/>
                <a:ea typeface="Consolas"/>
                <a:cs typeface="Consolas"/>
                <a:sym typeface="Consolas"/>
              </a:rPr>
              <a:t>Nuggets  +0.07 (0.370 → 0.443)</a:t>
            </a:r>
            <a:br>
              <a:rPr b="0" i="0" lang="en-GB" sz="1050" u="none" cap="none" strike="noStrike">
                <a:solidFill>
                  <a:srgbClr val="444444"/>
                </a:solidFill>
                <a:latin typeface="Consolas"/>
                <a:ea typeface="Consolas"/>
                <a:cs typeface="Consolas"/>
                <a:sym typeface="Consolas"/>
              </a:rPr>
            </a:br>
            <a:r>
              <a:rPr b="0" i="0" lang="en-GB" sz="1050" u="none" cap="none" strike="noStrike">
                <a:solidFill>
                  <a:srgbClr val="444444"/>
                </a:solidFill>
                <a:latin typeface="Consolas"/>
                <a:ea typeface="Consolas"/>
                <a:cs typeface="Consolas"/>
                <a:sym typeface="Consolas"/>
              </a:rPr>
              <a:t>Thunder  +0.06 (0.362 → 0.420)</a:t>
            </a:r>
            <a:br>
              <a:rPr b="0" i="0" lang="en-GB" sz="1050" u="none" cap="none" strike="noStrike">
                <a:solidFill>
                  <a:srgbClr val="444444"/>
                </a:solidFill>
                <a:latin typeface="Consolas"/>
                <a:ea typeface="Consolas"/>
                <a:cs typeface="Consolas"/>
                <a:sym typeface="Consolas"/>
              </a:rPr>
            </a:br>
            <a:r>
              <a:rPr b="0" i="0" lang="en-GB" sz="1050" u="none" cap="none" strike="noStrike">
                <a:solidFill>
                  <a:srgbClr val="444444"/>
                </a:solidFill>
                <a:latin typeface="Consolas"/>
                <a:ea typeface="Consolas"/>
                <a:cs typeface="Consolas"/>
                <a:sym typeface="Consolas"/>
              </a:rPr>
              <a:t>Lakers   +0.02 (0.361 → 0.383)</a:t>
            </a:r>
            <a:br>
              <a:rPr b="0" i="0" lang="en-GB" sz="1050" u="none" cap="none" strike="noStrike">
                <a:solidFill>
                  <a:srgbClr val="444444"/>
                </a:solidFill>
                <a:latin typeface="Consolas"/>
                <a:ea typeface="Consolas"/>
                <a:cs typeface="Consolas"/>
                <a:sym typeface="Consolas"/>
              </a:rPr>
            </a:br>
            <a:br>
              <a:rPr b="0" i="0" lang="en-GB" sz="1050" u="none" cap="none" strike="noStrike">
                <a:solidFill>
                  <a:srgbClr val="444444"/>
                </a:solidFill>
                <a:latin typeface="Consolas"/>
                <a:ea typeface="Consolas"/>
                <a:cs typeface="Consolas"/>
                <a:sym typeface="Consolas"/>
              </a:rPr>
            </a:br>
            <a:r>
              <a:rPr b="1" i="0" lang="en-GB" sz="1150" u="none" cap="none" strike="noStrike">
                <a:solidFill>
                  <a:srgbClr val="7F1D1D"/>
                </a:solidFill>
                <a:latin typeface="Calibri"/>
                <a:ea typeface="Calibri"/>
                <a:cs typeface="Calibri"/>
                <a:sym typeface="Calibri"/>
              </a:rPr>
              <a:t>Big CLUTCH decliners</a:t>
            </a:r>
            <a:br>
              <a:rPr b="1" i="0" lang="en-GB" sz="1150" u="none" cap="none" strike="noStrike">
                <a:solidFill>
                  <a:srgbClr val="7F1D1D"/>
                </a:solidFill>
                <a:latin typeface="Calibri"/>
                <a:ea typeface="Calibri"/>
                <a:cs typeface="Calibri"/>
                <a:sym typeface="Calibri"/>
              </a:rPr>
            </a:br>
            <a:r>
              <a:rPr b="0" i="0" lang="en-GB" sz="1050" u="none" cap="none" strike="noStrike">
                <a:solidFill>
                  <a:srgbClr val="444444"/>
                </a:solidFill>
                <a:latin typeface="Consolas"/>
                <a:ea typeface="Consolas"/>
                <a:cs typeface="Consolas"/>
                <a:sym typeface="Consolas"/>
              </a:rPr>
              <a:t>Knicks   −0.11 (0.381 → 0.271)</a:t>
            </a:r>
            <a:br>
              <a:rPr b="0" i="0" lang="en-GB" sz="1050" u="none" cap="none" strike="noStrike">
                <a:solidFill>
                  <a:srgbClr val="444444"/>
                </a:solidFill>
                <a:latin typeface="Consolas"/>
                <a:ea typeface="Consolas"/>
                <a:cs typeface="Consolas"/>
                <a:sym typeface="Consolas"/>
              </a:rPr>
            </a:br>
            <a:r>
              <a:rPr b="0" i="0" lang="en-GB" sz="1050" u="none" cap="none" strike="noStrike">
                <a:solidFill>
                  <a:srgbClr val="444444"/>
                </a:solidFill>
                <a:latin typeface="Consolas"/>
                <a:ea typeface="Consolas"/>
                <a:cs typeface="Consolas"/>
                <a:sym typeface="Consolas"/>
              </a:rPr>
              <a:t>Rockets  −0.08 (0.355 → 0.274)</a:t>
            </a:r>
            <a:br>
              <a:rPr b="0" i="0" lang="en-GB" sz="1050" u="none" cap="none" strike="noStrike">
                <a:solidFill>
                  <a:srgbClr val="444444"/>
                </a:solidFill>
                <a:latin typeface="Consolas"/>
                <a:ea typeface="Consolas"/>
                <a:cs typeface="Consolas"/>
                <a:sym typeface="Consolas"/>
              </a:rPr>
            </a:br>
            <a:r>
              <a:rPr b="0" i="0" lang="en-GB" sz="1050" u="none" cap="none" strike="noStrike">
                <a:solidFill>
                  <a:srgbClr val="444444"/>
                </a:solidFill>
                <a:latin typeface="Consolas"/>
                <a:ea typeface="Consolas"/>
                <a:cs typeface="Consolas"/>
                <a:sym typeface="Consolas"/>
              </a:rPr>
              <a:t>Warriors −0.05 (0.360 → 0.307)</a:t>
            </a:r>
            <a:br>
              <a:rPr b="0" i="0" lang="en-GB" sz="1050" u="none" cap="none" strike="noStrike">
                <a:solidFill>
                  <a:srgbClr val="444444"/>
                </a:solidFill>
                <a:latin typeface="Consolas"/>
                <a:ea typeface="Consolas"/>
                <a:cs typeface="Consolas"/>
                <a:sym typeface="Consolas"/>
              </a:rPr>
            </a:br>
            <a:br>
              <a:rPr b="0" i="0" lang="en-GB" sz="1050" u="none" cap="none" strike="noStrike">
                <a:solidFill>
                  <a:srgbClr val="444444"/>
                </a:solidFill>
                <a:latin typeface="Consolas"/>
                <a:ea typeface="Consolas"/>
                <a:cs typeface="Consolas"/>
                <a:sym typeface="Consolas"/>
              </a:rPr>
            </a:br>
            <a:r>
              <a:rPr b="0" i="1" lang="en-GB" sz="1150" u="none" cap="none" strike="noStrike">
                <a:solidFill>
                  <a:srgbClr val="94A3B8"/>
                </a:solidFill>
                <a:latin typeface="Calibri"/>
                <a:ea typeface="Calibri"/>
                <a:cs typeface="Calibri"/>
                <a:sym typeface="Calibri"/>
              </a:rPr>
              <a:t>Takeaway: Clutch 3P% reliability separates consistently elite clutch teams from those that are inconsistent under pressure.</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628"/>
        </a:solidFill>
      </p:bgPr>
    </p:bg>
    <p:spTree>
      <p:nvGrpSpPr>
        <p:cNvPr id="294" name="Shape 294"/>
        <p:cNvGrpSpPr/>
        <p:nvPr/>
      </p:nvGrpSpPr>
      <p:grpSpPr>
        <a:xfrm>
          <a:off x="0" y="0"/>
          <a:ext cx="0" cy="0"/>
          <a:chOff x="0" y="0"/>
          <a:chExt cx="0" cy="0"/>
        </a:xfrm>
      </p:grpSpPr>
      <p:sp>
        <p:nvSpPr>
          <p:cNvPr id="295" name="Google Shape;295;p28"/>
          <p:cNvSpPr/>
          <p:nvPr/>
        </p:nvSpPr>
        <p:spPr>
          <a:xfrm>
            <a:off x="0" y="0"/>
            <a:ext cx="9144000" cy="64008"/>
          </a:xfrm>
          <a:prstGeom prst="rect">
            <a:avLst/>
          </a:prstGeom>
          <a:solidFill>
            <a:srgbClr val="C8A84B"/>
          </a:solidFill>
          <a:ln cap="flat" cmpd="sng" w="12700">
            <a:solidFill>
              <a:srgbClr val="C8A84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28"/>
          <p:cNvSpPr/>
          <p:nvPr/>
        </p:nvSpPr>
        <p:spPr>
          <a:xfrm>
            <a:off x="502920" y="164592"/>
            <a:ext cx="8229600" cy="6217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000"/>
              <a:buFont typeface="Georgia"/>
              <a:buNone/>
            </a:pPr>
            <a:r>
              <a:rPr b="1" i="0" lang="en-GB" sz="3000" u="none" cap="none" strike="noStrike">
                <a:solidFill>
                  <a:srgbClr val="FFFFFF"/>
                </a:solidFill>
                <a:latin typeface="Georgia"/>
                <a:ea typeface="Georgia"/>
                <a:cs typeface="Georgia"/>
                <a:sym typeface="Georgia"/>
              </a:rPr>
              <a:t>Conclusion</a:t>
            </a:r>
            <a:endParaRPr b="0" i="0" sz="3000" u="none" cap="none" strike="noStrike">
              <a:solidFill>
                <a:schemeClr val="dk1"/>
              </a:solidFill>
              <a:latin typeface="Calibri"/>
              <a:ea typeface="Calibri"/>
              <a:cs typeface="Calibri"/>
              <a:sym typeface="Calibri"/>
            </a:endParaRPr>
          </a:p>
        </p:txBody>
      </p:sp>
      <p:sp>
        <p:nvSpPr>
          <p:cNvPr id="297" name="Google Shape;297;p28"/>
          <p:cNvSpPr/>
          <p:nvPr/>
        </p:nvSpPr>
        <p:spPr>
          <a:xfrm>
            <a:off x="502920" y="841248"/>
            <a:ext cx="8138160" cy="36576"/>
          </a:xfrm>
          <a:prstGeom prst="rect">
            <a:avLst/>
          </a:prstGeom>
          <a:solidFill>
            <a:srgbClr val="1E3A6E"/>
          </a:solidFill>
          <a:ln cap="flat" cmpd="sng" w="12700">
            <a:solidFill>
              <a:srgbClr val="1E3A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28"/>
          <p:cNvSpPr/>
          <p:nvPr/>
        </p:nvSpPr>
        <p:spPr>
          <a:xfrm>
            <a:off x="365760" y="941832"/>
            <a:ext cx="530352" cy="530352"/>
          </a:xfrm>
          <a:prstGeom prst="rect">
            <a:avLst/>
          </a:prstGeom>
          <a:solidFill>
            <a:srgbClr val="C8A84B"/>
          </a:solidFill>
          <a:ln cap="flat" cmpd="sng" w="12700">
            <a:solidFill>
              <a:srgbClr val="C8A84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28"/>
          <p:cNvSpPr/>
          <p:nvPr/>
        </p:nvSpPr>
        <p:spPr>
          <a:xfrm>
            <a:off x="365760" y="941832"/>
            <a:ext cx="530352" cy="53035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A1628"/>
              </a:buClr>
              <a:buSzPts val="1500"/>
              <a:buFont typeface="Georgia"/>
              <a:buNone/>
            </a:pPr>
            <a:r>
              <a:rPr b="1" i="0" lang="en-GB" sz="1500" u="none" cap="none" strike="noStrike">
                <a:solidFill>
                  <a:srgbClr val="0A1628"/>
                </a:solidFill>
                <a:latin typeface="Georgia"/>
                <a:ea typeface="Georgia"/>
                <a:cs typeface="Georgia"/>
                <a:sym typeface="Georgia"/>
              </a:rPr>
              <a:t>01</a:t>
            </a:r>
            <a:endParaRPr b="0" i="0" sz="1500" u="none" cap="none" strike="noStrike">
              <a:solidFill>
                <a:schemeClr val="dk1"/>
              </a:solidFill>
              <a:latin typeface="Calibri"/>
              <a:ea typeface="Calibri"/>
              <a:cs typeface="Calibri"/>
              <a:sym typeface="Calibri"/>
            </a:endParaRPr>
          </a:p>
        </p:txBody>
      </p:sp>
      <p:sp>
        <p:nvSpPr>
          <p:cNvPr id="300" name="Google Shape;300;p28"/>
          <p:cNvSpPr/>
          <p:nvPr/>
        </p:nvSpPr>
        <p:spPr>
          <a:xfrm>
            <a:off x="1005840" y="941832"/>
            <a:ext cx="530352" cy="246888"/>
          </a:xfrm>
          <a:prstGeom prst="rect">
            <a:avLst/>
          </a:prstGeom>
          <a:solidFill>
            <a:srgbClr val="1E3A6E"/>
          </a:solidFill>
          <a:ln cap="flat" cmpd="sng" w="12700">
            <a:solidFill>
              <a:srgbClr val="1E3A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28"/>
          <p:cNvSpPr/>
          <p:nvPr/>
        </p:nvSpPr>
        <p:spPr>
          <a:xfrm>
            <a:off x="1005840" y="941832"/>
            <a:ext cx="530352" cy="24688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E8C96A"/>
              </a:buClr>
              <a:buSzPts val="900"/>
              <a:buFont typeface="Calibri"/>
              <a:buNone/>
            </a:pPr>
            <a:r>
              <a:rPr b="1" i="0" lang="en-GB" sz="900" u="none" cap="none" strike="noStrike">
                <a:solidFill>
                  <a:srgbClr val="E8C96A"/>
                </a:solidFill>
                <a:latin typeface="Calibri"/>
                <a:ea typeface="Calibri"/>
                <a:cs typeface="Calibri"/>
                <a:sym typeface="Calibri"/>
              </a:rPr>
              <a:t>RQ1</a:t>
            </a:r>
            <a:endParaRPr b="0" i="0" sz="900" u="none" cap="none" strike="noStrike">
              <a:solidFill>
                <a:schemeClr val="dk1"/>
              </a:solidFill>
              <a:latin typeface="Calibri"/>
              <a:ea typeface="Calibri"/>
              <a:cs typeface="Calibri"/>
              <a:sym typeface="Calibri"/>
            </a:endParaRPr>
          </a:p>
        </p:txBody>
      </p:sp>
      <p:sp>
        <p:nvSpPr>
          <p:cNvPr id="302" name="Google Shape;302;p28"/>
          <p:cNvSpPr/>
          <p:nvPr/>
        </p:nvSpPr>
        <p:spPr>
          <a:xfrm>
            <a:off x="1627632" y="950976"/>
            <a:ext cx="7178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8A84B"/>
              </a:buClr>
              <a:buSzPts val="1300"/>
              <a:buFont typeface="Calibri"/>
              <a:buNone/>
            </a:pPr>
            <a:r>
              <a:rPr b="1" i="0" lang="en-GB" sz="1300" u="none" cap="none" strike="noStrike">
                <a:solidFill>
                  <a:srgbClr val="C8A84B"/>
                </a:solidFill>
                <a:latin typeface="Calibri"/>
                <a:ea typeface="Calibri"/>
                <a:cs typeface="Calibri"/>
                <a:sym typeface="Calibri"/>
              </a:rPr>
              <a:t>Regular-season record is a rough — not reliable — clutch predictor</a:t>
            </a:r>
            <a:endParaRPr b="0" i="0" sz="1300" u="none" cap="none" strike="noStrike">
              <a:solidFill>
                <a:schemeClr val="dk1"/>
              </a:solidFill>
              <a:latin typeface="Calibri"/>
              <a:ea typeface="Calibri"/>
              <a:cs typeface="Calibri"/>
              <a:sym typeface="Calibri"/>
            </a:endParaRPr>
          </a:p>
        </p:txBody>
      </p:sp>
      <p:sp>
        <p:nvSpPr>
          <p:cNvPr id="303" name="Google Shape;303;p28"/>
          <p:cNvSpPr/>
          <p:nvPr/>
        </p:nvSpPr>
        <p:spPr>
          <a:xfrm>
            <a:off x="1627632" y="1252728"/>
            <a:ext cx="71780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1100"/>
              <a:buFont typeface="Calibri"/>
              <a:buNone/>
            </a:pPr>
            <a:r>
              <a:rPr b="0" i="0" lang="en-GB" sz="1100" u="none" cap="none" strike="noStrike">
                <a:solidFill>
                  <a:srgbClr val="94A3B8"/>
                </a:solidFill>
                <a:latin typeface="Calibri"/>
                <a:ea typeface="Calibri"/>
                <a:cs typeface="Calibri"/>
                <a:sym typeface="Calibri"/>
              </a:rPr>
              <a:t>Positive correlation exists (teams like Celtics &amp; Thunder dominate both), but Wizards (+0.228) and Wolves (−0.163) show the relationship breaks down significantly at the extremes.</a:t>
            </a:r>
            <a:endParaRPr b="0" i="0" sz="1100" u="none" cap="none" strike="noStrike">
              <a:solidFill>
                <a:schemeClr val="dk1"/>
              </a:solidFill>
              <a:latin typeface="Calibri"/>
              <a:ea typeface="Calibri"/>
              <a:cs typeface="Calibri"/>
              <a:sym typeface="Calibri"/>
            </a:endParaRPr>
          </a:p>
        </p:txBody>
      </p:sp>
      <p:sp>
        <p:nvSpPr>
          <p:cNvPr id="304" name="Google Shape;304;p28"/>
          <p:cNvSpPr/>
          <p:nvPr/>
        </p:nvSpPr>
        <p:spPr>
          <a:xfrm>
            <a:off x="365760" y="1929384"/>
            <a:ext cx="530352" cy="530352"/>
          </a:xfrm>
          <a:prstGeom prst="rect">
            <a:avLst/>
          </a:prstGeom>
          <a:solidFill>
            <a:srgbClr val="C8A84B"/>
          </a:solidFill>
          <a:ln cap="flat" cmpd="sng" w="12700">
            <a:solidFill>
              <a:srgbClr val="C8A84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28"/>
          <p:cNvSpPr/>
          <p:nvPr/>
        </p:nvSpPr>
        <p:spPr>
          <a:xfrm>
            <a:off x="365760" y="1929384"/>
            <a:ext cx="530352" cy="53035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A1628"/>
              </a:buClr>
              <a:buSzPts val="1500"/>
              <a:buFont typeface="Georgia"/>
              <a:buNone/>
            </a:pPr>
            <a:r>
              <a:rPr b="1" i="0" lang="en-GB" sz="1500" u="none" cap="none" strike="noStrike">
                <a:solidFill>
                  <a:srgbClr val="0A1628"/>
                </a:solidFill>
                <a:latin typeface="Georgia"/>
                <a:ea typeface="Georgia"/>
                <a:cs typeface="Georgia"/>
                <a:sym typeface="Georgia"/>
              </a:rPr>
              <a:t>02</a:t>
            </a:r>
            <a:endParaRPr b="0" i="0" sz="1500" u="none" cap="none" strike="noStrike">
              <a:solidFill>
                <a:schemeClr val="dk1"/>
              </a:solidFill>
              <a:latin typeface="Calibri"/>
              <a:ea typeface="Calibri"/>
              <a:cs typeface="Calibri"/>
              <a:sym typeface="Calibri"/>
            </a:endParaRPr>
          </a:p>
        </p:txBody>
      </p:sp>
      <p:sp>
        <p:nvSpPr>
          <p:cNvPr id="306" name="Google Shape;306;p28"/>
          <p:cNvSpPr/>
          <p:nvPr/>
        </p:nvSpPr>
        <p:spPr>
          <a:xfrm>
            <a:off x="1005840" y="1929384"/>
            <a:ext cx="530352" cy="246888"/>
          </a:xfrm>
          <a:prstGeom prst="rect">
            <a:avLst/>
          </a:prstGeom>
          <a:solidFill>
            <a:srgbClr val="1E3A6E"/>
          </a:solidFill>
          <a:ln cap="flat" cmpd="sng" w="12700">
            <a:solidFill>
              <a:srgbClr val="1E3A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28"/>
          <p:cNvSpPr/>
          <p:nvPr/>
        </p:nvSpPr>
        <p:spPr>
          <a:xfrm>
            <a:off x="1005840" y="1929384"/>
            <a:ext cx="530352" cy="24688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E8C96A"/>
              </a:buClr>
              <a:buSzPts val="900"/>
              <a:buFont typeface="Calibri"/>
              <a:buNone/>
            </a:pPr>
            <a:r>
              <a:rPr b="1" i="0" lang="en-GB" sz="900" u="none" cap="none" strike="noStrike">
                <a:solidFill>
                  <a:srgbClr val="E8C96A"/>
                </a:solidFill>
                <a:latin typeface="Calibri"/>
                <a:ea typeface="Calibri"/>
                <a:cs typeface="Calibri"/>
                <a:sym typeface="Calibri"/>
              </a:rPr>
              <a:t>RQ2</a:t>
            </a:r>
            <a:endParaRPr b="0" i="0" sz="900" u="none" cap="none" strike="noStrike">
              <a:solidFill>
                <a:schemeClr val="dk1"/>
              </a:solidFill>
              <a:latin typeface="Calibri"/>
              <a:ea typeface="Calibri"/>
              <a:cs typeface="Calibri"/>
              <a:sym typeface="Calibri"/>
            </a:endParaRPr>
          </a:p>
        </p:txBody>
      </p:sp>
      <p:sp>
        <p:nvSpPr>
          <p:cNvPr id="308" name="Google Shape;308;p28"/>
          <p:cNvSpPr/>
          <p:nvPr/>
        </p:nvSpPr>
        <p:spPr>
          <a:xfrm>
            <a:off x="1627632" y="1938528"/>
            <a:ext cx="7178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8A84B"/>
              </a:buClr>
              <a:buSzPts val="1300"/>
              <a:buFont typeface="Calibri"/>
              <a:buNone/>
            </a:pPr>
            <a:r>
              <a:rPr b="1" i="0" lang="en-GB" sz="1300" u="none" cap="none" strike="noStrike">
                <a:solidFill>
                  <a:srgbClr val="C8A84B"/>
                </a:solidFill>
                <a:latin typeface="Calibri"/>
                <a:ea typeface="Calibri"/>
                <a:cs typeface="Calibri"/>
                <a:sym typeface="Calibri"/>
              </a:rPr>
              <a:t>Clutch eFG% is the single strongest explanatory factor  (r = +0.51)</a:t>
            </a:r>
            <a:endParaRPr b="0" i="0" sz="1300" u="none" cap="none" strike="noStrike">
              <a:solidFill>
                <a:schemeClr val="dk1"/>
              </a:solidFill>
              <a:latin typeface="Calibri"/>
              <a:ea typeface="Calibri"/>
              <a:cs typeface="Calibri"/>
              <a:sym typeface="Calibri"/>
            </a:endParaRPr>
          </a:p>
        </p:txBody>
      </p:sp>
      <p:sp>
        <p:nvSpPr>
          <p:cNvPr id="309" name="Google Shape;309;p28"/>
          <p:cNvSpPr/>
          <p:nvPr/>
        </p:nvSpPr>
        <p:spPr>
          <a:xfrm>
            <a:off x="1627632" y="2240280"/>
            <a:ext cx="71780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1100"/>
              <a:buFont typeface="Calibri"/>
              <a:buNone/>
            </a:pPr>
            <a:r>
              <a:rPr b="0" i="0" lang="en-GB" sz="1100" u="none" cap="none" strike="noStrike">
                <a:solidFill>
                  <a:srgbClr val="94A3B8"/>
                </a:solidFill>
                <a:latin typeface="Calibri"/>
                <a:ea typeface="Calibri"/>
                <a:cs typeface="Calibri"/>
                <a:sym typeface="Calibri"/>
              </a:rPr>
              <a:t>Efficient shooting under pressure drives clutch wins more than any other metric. eFG% captures both 2-point and 3-point efficiency in a single value and it matters most when the game is closest.</a:t>
            </a:r>
            <a:endParaRPr b="0" i="0" sz="1100" u="none" cap="none" strike="noStrike">
              <a:solidFill>
                <a:schemeClr val="dk1"/>
              </a:solidFill>
              <a:latin typeface="Calibri"/>
              <a:ea typeface="Calibri"/>
              <a:cs typeface="Calibri"/>
              <a:sym typeface="Calibri"/>
            </a:endParaRPr>
          </a:p>
        </p:txBody>
      </p:sp>
      <p:sp>
        <p:nvSpPr>
          <p:cNvPr id="310" name="Google Shape;310;p28"/>
          <p:cNvSpPr/>
          <p:nvPr/>
        </p:nvSpPr>
        <p:spPr>
          <a:xfrm>
            <a:off x="365760" y="2916936"/>
            <a:ext cx="530352" cy="530352"/>
          </a:xfrm>
          <a:prstGeom prst="rect">
            <a:avLst/>
          </a:prstGeom>
          <a:solidFill>
            <a:srgbClr val="C8A84B"/>
          </a:solidFill>
          <a:ln cap="flat" cmpd="sng" w="12700">
            <a:solidFill>
              <a:srgbClr val="C8A84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28"/>
          <p:cNvSpPr/>
          <p:nvPr/>
        </p:nvSpPr>
        <p:spPr>
          <a:xfrm>
            <a:off x="365760" y="2916936"/>
            <a:ext cx="530352" cy="53035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A1628"/>
              </a:buClr>
              <a:buSzPts val="1500"/>
              <a:buFont typeface="Georgia"/>
              <a:buNone/>
            </a:pPr>
            <a:r>
              <a:rPr b="1" i="0" lang="en-GB" sz="1500" u="none" cap="none" strike="noStrike">
                <a:solidFill>
                  <a:srgbClr val="0A1628"/>
                </a:solidFill>
                <a:latin typeface="Georgia"/>
                <a:ea typeface="Georgia"/>
                <a:cs typeface="Georgia"/>
                <a:sym typeface="Georgia"/>
              </a:rPr>
              <a:t>03</a:t>
            </a:r>
            <a:endParaRPr b="0" i="0" sz="1500" u="none" cap="none" strike="noStrike">
              <a:solidFill>
                <a:schemeClr val="dk1"/>
              </a:solidFill>
              <a:latin typeface="Calibri"/>
              <a:ea typeface="Calibri"/>
              <a:cs typeface="Calibri"/>
              <a:sym typeface="Calibri"/>
            </a:endParaRPr>
          </a:p>
        </p:txBody>
      </p:sp>
      <p:sp>
        <p:nvSpPr>
          <p:cNvPr id="312" name="Google Shape;312;p28"/>
          <p:cNvSpPr/>
          <p:nvPr/>
        </p:nvSpPr>
        <p:spPr>
          <a:xfrm>
            <a:off x="1005840" y="2916936"/>
            <a:ext cx="530352" cy="246888"/>
          </a:xfrm>
          <a:prstGeom prst="rect">
            <a:avLst/>
          </a:prstGeom>
          <a:solidFill>
            <a:srgbClr val="1E3A6E"/>
          </a:solidFill>
          <a:ln cap="flat" cmpd="sng" w="12700">
            <a:solidFill>
              <a:srgbClr val="1E3A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28"/>
          <p:cNvSpPr/>
          <p:nvPr/>
        </p:nvSpPr>
        <p:spPr>
          <a:xfrm>
            <a:off x="1005840" y="2916936"/>
            <a:ext cx="530352" cy="24688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E8C96A"/>
              </a:buClr>
              <a:buSzPts val="900"/>
              <a:buFont typeface="Calibri"/>
              <a:buNone/>
            </a:pPr>
            <a:r>
              <a:rPr b="1" i="0" lang="en-GB" sz="900" u="none" cap="none" strike="noStrike">
                <a:solidFill>
                  <a:srgbClr val="E8C96A"/>
                </a:solidFill>
                <a:latin typeface="Calibri"/>
                <a:ea typeface="Calibri"/>
                <a:cs typeface="Calibri"/>
                <a:sym typeface="Calibri"/>
              </a:rPr>
              <a:t>RQ2</a:t>
            </a:r>
            <a:endParaRPr b="0" i="0" sz="900" u="none" cap="none" strike="noStrike">
              <a:solidFill>
                <a:schemeClr val="dk1"/>
              </a:solidFill>
              <a:latin typeface="Calibri"/>
              <a:ea typeface="Calibri"/>
              <a:cs typeface="Calibri"/>
              <a:sym typeface="Calibri"/>
            </a:endParaRPr>
          </a:p>
        </p:txBody>
      </p:sp>
      <p:sp>
        <p:nvSpPr>
          <p:cNvPr id="314" name="Google Shape;314;p28"/>
          <p:cNvSpPr/>
          <p:nvPr/>
        </p:nvSpPr>
        <p:spPr>
          <a:xfrm>
            <a:off x="1627632" y="2926080"/>
            <a:ext cx="7178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8A84B"/>
              </a:buClr>
              <a:buSzPts val="1300"/>
              <a:buFont typeface="Calibri"/>
              <a:buNone/>
            </a:pPr>
            <a:r>
              <a:rPr b="1" i="0" lang="en-GB" sz="1300" u="none" cap="none" strike="noStrike">
                <a:solidFill>
                  <a:srgbClr val="C8A84B"/>
                </a:solidFill>
                <a:latin typeface="Calibri"/>
                <a:ea typeface="Calibri"/>
                <a:cs typeface="Calibri"/>
                <a:sym typeface="Calibri"/>
              </a:rPr>
              <a:t>Turnover control is the strongest negative factor  (r = −0.50)</a:t>
            </a:r>
            <a:endParaRPr b="0" i="0" sz="1300" u="none" cap="none" strike="noStrike">
              <a:solidFill>
                <a:schemeClr val="dk1"/>
              </a:solidFill>
              <a:latin typeface="Calibri"/>
              <a:ea typeface="Calibri"/>
              <a:cs typeface="Calibri"/>
              <a:sym typeface="Calibri"/>
            </a:endParaRPr>
          </a:p>
        </p:txBody>
      </p:sp>
      <p:sp>
        <p:nvSpPr>
          <p:cNvPr id="315" name="Google Shape;315;p28"/>
          <p:cNvSpPr/>
          <p:nvPr/>
        </p:nvSpPr>
        <p:spPr>
          <a:xfrm>
            <a:off x="1627632" y="3227832"/>
            <a:ext cx="71780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1100"/>
              <a:buFont typeface="Calibri"/>
              <a:buNone/>
            </a:pPr>
            <a:r>
              <a:rPr b="0" i="0" lang="en-GB" sz="1100" u="none" cap="none" strike="noStrike">
                <a:solidFill>
                  <a:srgbClr val="94A3B8"/>
                </a:solidFill>
                <a:latin typeface="Calibri"/>
                <a:ea typeface="Calibri"/>
                <a:cs typeface="Calibri"/>
                <a:sym typeface="Calibri"/>
              </a:rPr>
              <a:t>Clutch turnovers and clutch TOV% are equally important as shooting efficiency, just in the opposite direction. Teams that give the ball away in the final five minutes hand opponents free scoring opportunities.</a:t>
            </a:r>
            <a:endParaRPr b="0" i="0" sz="1100" u="none" cap="none" strike="noStrike">
              <a:solidFill>
                <a:schemeClr val="dk1"/>
              </a:solidFill>
              <a:latin typeface="Calibri"/>
              <a:ea typeface="Calibri"/>
              <a:cs typeface="Calibri"/>
              <a:sym typeface="Calibri"/>
            </a:endParaRPr>
          </a:p>
        </p:txBody>
      </p:sp>
      <p:sp>
        <p:nvSpPr>
          <p:cNvPr id="316" name="Google Shape;316;p28"/>
          <p:cNvSpPr/>
          <p:nvPr/>
        </p:nvSpPr>
        <p:spPr>
          <a:xfrm>
            <a:off x="365760" y="3904488"/>
            <a:ext cx="530352" cy="530352"/>
          </a:xfrm>
          <a:prstGeom prst="rect">
            <a:avLst/>
          </a:prstGeom>
          <a:solidFill>
            <a:srgbClr val="C8A84B"/>
          </a:solidFill>
          <a:ln cap="flat" cmpd="sng" w="12700">
            <a:solidFill>
              <a:srgbClr val="C8A84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28"/>
          <p:cNvSpPr/>
          <p:nvPr/>
        </p:nvSpPr>
        <p:spPr>
          <a:xfrm>
            <a:off x="365760" y="3904488"/>
            <a:ext cx="530352" cy="53035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A1628"/>
              </a:buClr>
              <a:buSzPts val="1500"/>
              <a:buFont typeface="Georgia"/>
              <a:buNone/>
            </a:pPr>
            <a:r>
              <a:rPr b="1" i="0" lang="en-GB" sz="1500" u="none" cap="none" strike="noStrike">
                <a:solidFill>
                  <a:srgbClr val="0A1628"/>
                </a:solidFill>
                <a:latin typeface="Georgia"/>
                <a:ea typeface="Georgia"/>
                <a:cs typeface="Georgia"/>
                <a:sym typeface="Georgia"/>
              </a:rPr>
              <a:t>04</a:t>
            </a:r>
            <a:endParaRPr b="0" i="0" sz="1500" u="none" cap="none" strike="noStrike">
              <a:solidFill>
                <a:schemeClr val="dk1"/>
              </a:solidFill>
              <a:latin typeface="Calibri"/>
              <a:ea typeface="Calibri"/>
              <a:cs typeface="Calibri"/>
              <a:sym typeface="Calibri"/>
            </a:endParaRPr>
          </a:p>
        </p:txBody>
      </p:sp>
      <p:sp>
        <p:nvSpPr>
          <p:cNvPr id="318" name="Google Shape;318;p28"/>
          <p:cNvSpPr/>
          <p:nvPr/>
        </p:nvSpPr>
        <p:spPr>
          <a:xfrm>
            <a:off x="1005840" y="3904488"/>
            <a:ext cx="530352" cy="246888"/>
          </a:xfrm>
          <a:prstGeom prst="rect">
            <a:avLst/>
          </a:prstGeom>
          <a:solidFill>
            <a:srgbClr val="1E3A6E"/>
          </a:solidFill>
          <a:ln cap="flat" cmpd="sng" w="12700">
            <a:solidFill>
              <a:srgbClr val="1E3A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28"/>
          <p:cNvSpPr/>
          <p:nvPr/>
        </p:nvSpPr>
        <p:spPr>
          <a:xfrm>
            <a:off x="1005840" y="3904488"/>
            <a:ext cx="530352" cy="24688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E8C96A"/>
              </a:buClr>
              <a:buSzPts val="900"/>
              <a:buFont typeface="Calibri"/>
              <a:buNone/>
            </a:pPr>
            <a:r>
              <a:rPr b="1" i="0" lang="en-GB" sz="900" u="none" cap="none" strike="noStrike">
                <a:solidFill>
                  <a:srgbClr val="E8C96A"/>
                </a:solidFill>
                <a:latin typeface="Calibri"/>
                <a:ea typeface="Calibri"/>
                <a:cs typeface="Calibri"/>
                <a:sym typeface="Calibri"/>
              </a:rPr>
              <a:t>RQ3</a:t>
            </a:r>
            <a:endParaRPr b="0" i="0" sz="900" u="none" cap="none" strike="noStrike">
              <a:solidFill>
                <a:schemeClr val="dk1"/>
              </a:solidFill>
              <a:latin typeface="Calibri"/>
              <a:ea typeface="Calibri"/>
              <a:cs typeface="Calibri"/>
              <a:sym typeface="Calibri"/>
            </a:endParaRPr>
          </a:p>
        </p:txBody>
      </p:sp>
      <p:sp>
        <p:nvSpPr>
          <p:cNvPr id="320" name="Google Shape;320;p28"/>
          <p:cNvSpPr/>
          <p:nvPr/>
        </p:nvSpPr>
        <p:spPr>
          <a:xfrm>
            <a:off x="1627632" y="3913632"/>
            <a:ext cx="7178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8A84B"/>
              </a:buClr>
              <a:buSzPts val="1300"/>
              <a:buFont typeface="Calibri"/>
              <a:buNone/>
            </a:pPr>
            <a:r>
              <a:rPr b="1" i="0" lang="en-GB" sz="1300" u="none" cap="none" strike="noStrike">
                <a:solidFill>
                  <a:srgbClr val="C8A84B"/>
                </a:solidFill>
                <a:latin typeface="Calibri"/>
                <a:ea typeface="Calibri"/>
                <a:cs typeface="Calibri"/>
                <a:sym typeface="Calibri"/>
              </a:rPr>
              <a:t>Top clutch teams experience real shooting shifts under pressure</a:t>
            </a:r>
            <a:endParaRPr b="0" i="0" sz="1300" u="none" cap="none" strike="noStrike">
              <a:solidFill>
                <a:schemeClr val="dk1"/>
              </a:solidFill>
              <a:latin typeface="Calibri"/>
              <a:ea typeface="Calibri"/>
              <a:cs typeface="Calibri"/>
              <a:sym typeface="Calibri"/>
            </a:endParaRPr>
          </a:p>
        </p:txBody>
      </p:sp>
      <p:sp>
        <p:nvSpPr>
          <p:cNvPr id="321" name="Google Shape;321;p28"/>
          <p:cNvSpPr/>
          <p:nvPr/>
        </p:nvSpPr>
        <p:spPr>
          <a:xfrm>
            <a:off x="1627632" y="4215384"/>
            <a:ext cx="71780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1100"/>
              <a:buFont typeface="Calibri"/>
              <a:buNone/>
            </a:pPr>
            <a:r>
              <a:rPr b="0" i="0" lang="en-GB" sz="1100" u="none" cap="none" strike="noStrike">
                <a:solidFill>
                  <a:srgbClr val="94A3B8"/>
                </a:solidFill>
                <a:latin typeface="Calibri"/>
                <a:ea typeface="Calibri"/>
                <a:cs typeface="Calibri"/>
                <a:sym typeface="Calibri"/>
              </a:rPr>
              <a:t>FG% dips for most. 3P% is highly volatile (Knicks −0.11; Nuggets +0.07). FT% can go either direction. Elite clutch teams are distinguished by their ability to maintain efficiency despite the pressure.</a:t>
            </a:r>
            <a:endParaRPr b="0" i="0" sz="1100" u="none" cap="none" strike="noStrike">
              <a:solidFill>
                <a:schemeClr val="dk1"/>
              </a:solidFill>
              <a:latin typeface="Calibri"/>
              <a:ea typeface="Calibri"/>
              <a:cs typeface="Calibri"/>
              <a:sym typeface="Calibri"/>
            </a:endParaRPr>
          </a:p>
        </p:txBody>
      </p:sp>
      <p:sp>
        <p:nvSpPr>
          <p:cNvPr id="322" name="Google Shape;322;p28"/>
          <p:cNvSpPr/>
          <p:nvPr/>
        </p:nvSpPr>
        <p:spPr>
          <a:xfrm>
            <a:off x="0" y="4946904"/>
            <a:ext cx="9144000" cy="196596"/>
          </a:xfrm>
          <a:prstGeom prst="rect">
            <a:avLst/>
          </a:prstGeom>
          <a:solidFill>
            <a:srgbClr val="1E3A6E"/>
          </a:solidFill>
          <a:ln cap="flat" cmpd="sng" w="12700">
            <a:solidFill>
              <a:srgbClr val="1E3A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28"/>
          <p:cNvSpPr/>
          <p:nvPr/>
        </p:nvSpPr>
        <p:spPr>
          <a:xfrm>
            <a:off x="0" y="4946904"/>
            <a:ext cx="9144000" cy="196596"/>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94A3B8"/>
              </a:buClr>
              <a:buSzPts val="900"/>
              <a:buFont typeface="Calibri"/>
              <a:buNone/>
            </a:pPr>
            <a:r>
              <a:rPr b="0" i="0" lang="en-GB" sz="900" u="none" cap="none" strike="noStrike">
                <a:solidFill>
                  <a:srgbClr val="94A3B8"/>
                </a:solidFill>
                <a:latin typeface="Calibri"/>
                <a:ea typeface="Calibri"/>
                <a:cs typeface="Calibri"/>
                <a:sym typeface="Calibri"/>
              </a:rPr>
              <a:t>NBA Clutch Performance Analysis  •  2024–25 Season  •  Data: NBA.com</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B"/>
        </a:solidFill>
      </p:bgPr>
    </p:bg>
    <p:spTree>
      <p:nvGrpSpPr>
        <p:cNvPr id="328" name="Shape 328"/>
        <p:cNvGrpSpPr/>
        <p:nvPr/>
      </p:nvGrpSpPr>
      <p:grpSpPr>
        <a:xfrm>
          <a:off x="0" y="0"/>
          <a:ext cx="0" cy="0"/>
          <a:chOff x="0" y="0"/>
          <a:chExt cx="0" cy="0"/>
        </a:xfrm>
      </p:grpSpPr>
      <p:sp>
        <p:nvSpPr>
          <p:cNvPr id="329" name="Google Shape;329;p29"/>
          <p:cNvSpPr/>
          <p:nvPr/>
        </p:nvSpPr>
        <p:spPr>
          <a:xfrm>
            <a:off x="0" y="0"/>
            <a:ext cx="9144000" cy="914400"/>
          </a:xfrm>
          <a:prstGeom prst="rect">
            <a:avLst/>
          </a:prstGeom>
          <a:solidFill>
            <a:srgbClr val="122040"/>
          </a:solidFill>
          <a:ln cap="flat" cmpd="sng" w="12700">
            <a:solidFill>
              <a:srgbClr val="1220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29"/>
          <p:cNvSpPr/>
          <p:nvPr/>
        </p:nvSpPr>
        <p:spPr>
          <a:xfrm>
            <a:off x="0" y="0"/>
            <a:ext cx="1097280" cy="914400"/>
          </a:xfrm>
          <a:prstGeom prst="rect">
            <a:avLst/>
          </a:prstGeom>
          <a:solidFill>
            <a:srgbClr val="1E3A6E"/>
          </a:solidFill>
          <a:ln cap="flat" cmpd="sng" w="12700">
            <a:solidFill>
              <a:srgbClr val="1E3A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29"/>
          <p:cNvSpPr/>
          <p:nvPr/>
        </p:nvSpPr>
        <p:spPr>
          <a:xfrm>
            <a:off x="0" y="0"/>
            <a:ext cx="1097280" cy="914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A84B"/>
              </a:buClr>
              <a:buSzPts val="1300"/>
              <a:buFont typeface="Calibri"/>
              <a:buNone/>
            </a:pPr>
            <a:r>
              <a:rPr b="1" i="0" lang="en-GB" sz="1300" u="none" cap="none" strike="noStrike">
                <a:solidFill>
                  <a:srgbClr val="C8A84B"/>
                </a:solidFill>
                <a:latin typeface="Calibri"/>
                <a:ea typeface="Calibri"/>
                <a:cs typeface="Calibri"/>
                <a:sym typeface="Calibri"/>
              </a:rPr>
              <a:t>09</a:t>
            </a:r>
            <a:endParaRPr b="0" i="0" sz="1300" u="none" cap="none" strike="noStrike">
              <a:solidFill>
                <a:schemeClr val="dk1"/>
              </a:solidFill>
              <a:latin typeface="Calibri"/>
              <a:ea typeface="Calibri"/>
              <a:cs typeface="Calibri"/>
              <a:sym typeface="Calibri"/>
            </a:endParaRPr>
          </a:p>
        </p:txBody>
      </p:sp>
      <p:sp>
        <p:nvSpPr>
          <p:cNvPr id="332" name="Google Shape;332;p29"/>
          <p:cNvSpPr/>
          <p:nvPr/>
        </p:nvSpPr>
        <p:spPr>
          <a:xfrm>
            <a:off x="1234440" y="137160"/>
            <a:ext cx="82296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300"/>
              <a:buFont typeface="Georgia"/>
              <a:buNone/>
            </a:pPr>
            <a:r>
              <a:rPr b="1" i="0" lang="en-GB" sz="2300" u="none" cap="none" strike="noStrike">
                <a:solidFill>
                  <a:srgbClr val="FFFFFF"/>
                </a:solidFill>
                <a:latin typeface="Georgia"/>
                <a:ea typeface="Georgia"/>
                <a:cs typeface="Georgia"/>
                <a:sym typeface="Georgia"/>
              </a:rPr>
              <a:t>Limitations</a:t>
            </a:r>
            <a:endParaRPr b="0" i="0" sz="2300" u="none" cap="none" strike="noStrike">
              <a:solidFill>
                <a:schemeClr val="dk1"/>
              </a:solidFill>
              <a:latin typeface="Calibri"/>
              <a:ea typeface="Calibri"/>
              <a:cs typeface="Calibri"/>
              <a:sym typeface="Calibri"/>
            </a:endParaRPr>
          </a:p>
        </p:txBody>
      </p:sp>
      <p:sp>
        <p:nvSpPr>
          <p:cNvPr id="333" name="Google Shape;333;p29"/>
          <p:cNvSpPr/>
          <p:nvPr/>
        </p:nvSpPr>
        <p:spPr>
          <a:xfrm>
            <a:off x="347472" y="1005840"/>
            <a:ext cx="2697480" cy="1920240"/>
          </a:xfrm>
          <a:prstGeom prst="rect">
            <a:avLst/>
          </a:prstGeom>
          <a:solidFill>
            <a:srgbClr val="FFFFFF"/>
          </a:solidFill>
          <a:ln cap="flat" cmpd="sng" w="12700">
            <a:solidFill>
              <a:srgbClr val="DDDDDD"/>
            </a:solidFill>
            <a:prstDash val="solid"/>
            <a:round/>
            <a:headEnd len="sm" w="sm" type="none"/>
            <a:tailEnd len="sm" w="sm" type="none"/>
          </a:ln>
          <a:effectLst>
            <a:outerShdw blurRad="1016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29"/>
          <p:cNvSpPr/>
          <p:nvPr/>
        </p:nvSpPr>
        <p:spPr>
          <a:xfrm>
            <a:off x="347472" y="1005840"/>
            <a:ext cx="2697480" cy="50292"/>
          </a:xfrm>
          <a:prstGeom prst="rect">
            <a:avLst/>
          </a:prstGeom>
          <a:solidFill>
            <a:srgbClr val="C8A84B"/>
          </a:solidFill>
          <a:ln cap="flat" cmpd="sng" w="12700">
            <a:solidFill>
              <a:srgbClr val="C8A84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29"/>
          <p:cNvSpPr/>
          <p:nvPr/>
        </p:nvSpPr>
        <p:spPr>
          <a:xfrm>
            <a:off x="484632" y="1097280"/>
            <a:ext cx="242316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1628"/>
              </a:buClr>
              <a:buSzPts val="1250"/>
              <a:buFont typeface="Georgia"/>
              <a:buNone/>
            </a:pPr>
            <a:r>
              <a:rPr b="1" i="0" lang="en-GB" sz="1250" u="none" cap="none" strike="noStrike">
                <a:solidFill>
                  <a:srgbClr val="0A1628"/>
                </a:solidFill>
                <a:latin typeface="Georgia"/>
                <a:ea typeface="Georgia"/>
                <a:cs typeface="Georgia"/>
                <a:sym typeface="Georgia"/>
              </a:rPr>
              <a:t>  Team-Level Only</a:t>
            </a:r>
            <a:endParaRPr b="0" i="0" sz="1250" u="none" cap="none" strike="noStrike">
              <a:solidFill>
                <a:schemeClr val="dk1"/>
              </a:solidFill>
              <a:latin typeface="Calibri"/>
              <a:ea typeface="Calibri"/>
              <a:cs typeface="Calibri"/>
              <a:sym typeface="Calibri"/>
            </a:endParaRPr>
          </a:p>
        </p:txBody>
      </p:sp>
      <p:sp>
        <p:nvSpPr>
          <p:cNvPr id="336" name="Google Shape;336;p29"/>
          <p:cNvSpPr/>
          <p:nvPr/>
        </p:nvSpPr>
        <p:spPr>
          <a:xfrm>
            <a:off x="484632" y="1527048"/>
            <a:ext cx="2423160" cy="12344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44444"/>
              </a:buClr>
              <a:buSzPts val="1050"/>
              <a:buFont typeface="Calibri"/>
              <a:buNone/>
            </a:pPr>
            <a:r>
              <a:rPr b="0" i="0" lang="en-GB" sz="1050" u="none" cap="none" strike="noStrike">
                <a:solidFill>
                  <a:srgbClr val="444444"/>
                </a:solidFill>
                <a:latin typeface="Calibri"/>
                <a:ea typeface="Calibri"/>
                <a:cs typeface="Calibri"/>
                <a:sym typeface="Calibri"/>
              </a:rPr>
              <a:t>All analysis is at the team level. Player-level contributions, lineup combinations, and individual performance in clutch moments are not captured. A star player's presence or absence could explain outliers.</a:t>
            </a:r>
            <a:endParaRPr b="0" i="0" sz="1050" u="none" cap="none" strike="noStrike">
              <a:solidFill>
                <a:schemeClr val="dk1"/>
              </a:solidFill>
              <a:latin typeface="Calibri"/>
              <a:ea typeface="Calibri"/>
              <a:cs typeface="Calibri"/>
              <a:sym typeface="Calibri"/>
            </a:endParaRPr>
          </a:p>
        </p:txBody>
      </p:sp>
      <p:sp>
        <p:nvSpPr>
          <p:cNvPr id="337" name="Google Shape;337;p29"/>
          <p:cNvSpPr/>
          <p:nvPr/>
        </p:nvSpPr>
        <p:spPr>
          <a:xfrm>
            <a:off x="3182112" y="1005840"/>
            <a:ext cx="2697480" cy="1920240"/>
          </a:xfrm>
          <a:prstGeom prst="rect">
            <a:avLst/>
          </a:prstGeom>
          <a:solidFill>
            <a:srgbClr val="FFFFFF"/>
          </a:solidFill>
          <a:ln cap="flat" cmpd="sng" w="12700">
            <a:solidFill>
              <a:srgbClr val="DDDDDD"/>
            </a:solidFill>
            <a:prstDash val="solid"/>
            <a:round/>
            <a:headEnd len="sm" w="sm" type="none"/>
            <a:tailEnd len="sm" w="sm" type="none"/>
          </a:ln>
          <a:effectLst>
            <a:outerShdw blurRad="1016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29"/>
          <p:cNvSpPr/>
          <p:nvPr/>
        </p:nvSpPr>
        <p:spPr>
          <a:xfrm>
            <a:off x="3182112" y="1005840"/>
            <a:ext cx="2697480" cy="50292"/>
          </a:xfrm>
          <a:prstGeom prst="rect">
            <a:avLst/>
          </a:prstGeom>
          <a:solidFill>
            <a:srgbClr val="C8A84B"/>
          </a:solidFill>
          <a:ln cap="flat" cmpd="sng" w="12700">
            <a:solidFill>
              <a:srgbClr val="C8A84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29"/>
          <p:cNvSpPr/>
          <p:nvPr/>
        </p:nvSpPr>
        <p:spPr>
          <a:xfrm>
            <a:off x="3319272" y="1097280"/>
            <a:ext cx="242316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1628"/>
              </a:buClr>
              <a:buSzPts val="1250"/>
              <a:buFont typeface="Georgia"/>
              <a:buNone/>
            </a:pPr>
            <a:r>
              <a:rPr b="1" i="0" lang="en-GB" sz="1250" u="none" cap="none" strike="noStrike">
                <a:solidFill>
                  <a:srgbClr val="0A1628"/>
                </a:solidFill>
                <a:latin typeface="Georgia"/>
                <a:ea typeface="Georgia"/>
                <a:cs typeface="Georgia"/>
                <a:sym typeface="Georgia"/>
              </a:rPr>
              <a:t>  Single Season</a:t>
            </a:r>
            <a:endParaRPr b="0" i="0" sz="1250" u="none" cap="none" strike="noStrike">
              <a:solidFill>
                <a:schemeClr val="dk1"/>
              </a:solidFill>
              <a:latin typeface="Calibri"/>
              <a:ea typeface="Calibri"/>
              <a:cs typeface="Calibri"/>
              <a:sym typeface="Calibri"/>
            </a:endParaRPr>
          </a:p>
        </p:txBody>
      </p:sp>
      <p:sp>
        <p:nvSpPr>
          <p:cNvPr id="340" name="Google Shape;340;p29"/>
          <p:cNvSpPr/>
          <p:nvPr/>
        </p:nvSpPr>
        <p:spPr>
          <a:xfrm>
            <a:off x="3319272" y="1527048"/>
            <a:ext cx="2423160" cy="12344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44444"/>
              </a:buClr>
              <a:buSzPts val="1050"/>
              <a:buFont typeface="Calibri"/>
              <a:buNone/>
            </a:pPr>
            <a:r>
              <a:rPr b="0" i="0" lang="en-GB" sz="1050" u="none" cap="none" strike="noStrike">
                <a:solidFill>
                  <a:srgbClr val="444444"/>
                </a:solidFill>
                <a:latin typeface="Calibri"/>
                <a:ea typeface="Calibri"/>
                <a:cs typeface="Calibri"/>
                <a:sym typeface="Calibri"/>
              </a:rPr>
              <a:t>Data covers only the 2024–25 Regular Season. Findings may not generalize across multiple seasons — a team's clutch performance can vary year-to-year based on roster changes and coaching.</a:t>
            </a:r>
            <a:endParaRPr b="0" i="0" sz="1050" u="none" cap="none" strike="noStrike">
              <a:solidFill>
                <a:schemeClr val="dk1"/>
              </a:solidFill>
              <a:latin typeface="Calibri"/>
              <a:ea typeface="Calibri"/>
              <a:cs typeface="Calibri"/>
              <a:sym typeface="Calibri"/>
            </a:endParaRPr>
          </a:p>
        </p:txBody>
      </p:sp>
      <p:sp>
        <p:nvSpPr>
          <p:cNvPr id="341" name="Google Shape;341;p29"/>
          <p:cNvSpPr/>
          <p:nvPr/>
        </p:nvSpPr>
        <p:spPr>
          <a:xfrm>
            <a:off x="6016752" y="1005840"/>
            <a:ext cx="2697480" cy="1920240"/>
          </a:xfrm>
          <a:prstGeom prst="rect">
            <a:avLst/>
          </a:prstGeom>
          <a:solidFill>
            <a:srgbClr val="FFFFFF"/>
          </a:solidFill>
          <a:ln cap="flat" cmpd="sng" w="12700">
            <a:solidFill>
              <a:srgbClr val="DDDDDD"/>
            </a:solidFill>
            <a:prstDash val="solid"/>
            <a:round/>
            <a:headEnd len="sm" w="sm" type="none"/>
            <a:tailEnd len="sm" w="sm" type="none"/>
          </a:ln>
          <a:effectLst>
            <a:outerShdw blurRad="1016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29"/>
          <p:cNvSpPr/>
          <p:nvPr/>
        </p:nvSpPr>
        <p:spPr>
          <a:xfrm>
            <a:off x="6016752" y="1005840"/>
            <a:ext cx="2697480" cy="50292"/>
          </a:xfrm>
          <a:prstGeom prst="rect">
            <a:avLst/>
          </a:prstGeom>
          <a:solidFill>
            <a:srgbClr val="C8A84B"/>
          </a:solidFill>
          <a:ln cap="flat" cmpd="sng" w="12700">
            <a:solidFill>
              <a:srgbClr val="C8A84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29"/>
          <p:cNvSpPr/>
          <p:nvPr/>
        </p:nvSpPr>
        <p:spPr>
          <a:xfrm>
            <a:off x="6153912" y="1097280"/>
            <a:ext cx="242316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1628"/>
              </a:buClr>
              <a:buSzPts val="1250"/>
              <a:buFont typeface="Georgia"/>
              <a:buNone/>
            </a:pPr>
            <a:r>
              <a:rPr b="1" i="0" lang="en-GB" sz="1250" u="none" cap="none" strike="noStrike">
                <a:solidFill>
                  <a:srgbClr val="0A1628"/>
                </a:solidFill>
                <a:latin typeface="Georgia"/>
                <a:ea typeface="Georgia"/>
                <a:cs typeface="Georgia"/>
                <a:sym typeface="Georgia"/>
              </a:rPr>
              <a:t> Clutch Definition is Fixed</a:t>
            </a:r>
            <a:endParaRPr b="0" i="0" sz="1250" u="none" cap="none" strike="noStrike">
              <a:solidFill>
                <a:schemeClr val="dk1"/>
              </a:solidFill>
              <a:latin typeface="Calibri"/>
              <a:ea typeface="Calibri"/>
              <a:cs typeface="Calibri"/>
              <a:sym typeface="Calibri"/>
            </a:endParaRPr>
          </a:p>
        </p:txBody>
      </p:sp>
      <p:sp>
        <p:nvSpPr>
          <p:cNvPr id="344" name="Google Shape;344;p29"/>
          <p:cNvSpPr/>
          <p:nvPr/>
        </p:nvSpPr>
        <p:spPr>
          <a:xfrm>
            <a:off x="6153912" y="1527048"/>
            <a:ext cx="2423160" cy="12344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44444"/>
              </a:buClr>
              <a:buSzPts val="1050"/>
              <a:buFont typeface="Calibri"/>
              <a:buNone/>
            </a:pPr>
            <a:r>
              <a:rPr b="0" i="0" lang="en-GB" sz="1050" u="none" cap="none" strike="noStrike">
                <a:solidFill>
                  <a:srgbClr val="444444"/>
                </a:solidFill>
                <a:latin typeface="Calibri"/>
                <a:ea typeface="Calibri"/>
                <a:cs typeface="Calibri"/>
                <a:sym typeface="Calibri"/>
              </a:rPr>
              <a:t>The NBA's definition (last 5 min, ±5 pts) is specific. A wider or narrower definition would yield different datasets and potentially different conclusions.</a:t>
            </a:r>
            <a:endParaRPr b="0" i="0" sz="1050" u="none" cap="none" strike="noStrike">
              <a:solidFill>
                <a:schemeClr val="dk1"/>
              </a:solidFill>
              <a:latin typeface="Calibri"/>
              <a:ea typeface="Calibri"/>
              <a:cs typeface="Calibri"/>
              <a:sym typeface="Calibri"/>
            </a:endParaRPr>
          </a:p>
        </p:txBody>
      </p:sp>
      <p:sp>
        <p:nvSpPr>
          <p:cNvPr id="345" name="Google Shape;345;p29"/>
          <p:cNvSpPr/>
          <p:nvPr/>
        </p:nvSpPr>
        <p:spPr>
          <a:xfrm>
            <a:off x="347472" y="3035808"/>
            <a:ext cx="2697480" cy="1920240"/>
          </a:xfrm>
          <a:prstGeom prst="rect">
            <a:avLst/>
          </a:prstGeom>
          <a:solidFill>
            <a:srgbClr val="FFFFFF"/>
          </a:solidFill>
          <a:ln cap="flat" cmpd="sng" w="12700">
            <a:solidFill>
              <a:srgbClr val="DDDDDD"/>
            </a:solidFill>
            <a:prstDash val="solid"/>
            <a:round/>
            <a:headEnd len="sm" w="sm" type="none"/>
            <a:tailEnd len="sm" w="sm" type="none"/>
          </a:ln>
          <a:effectLst>
            <a:outerShdw blurRad="1016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29"/>
          <p:cNvSpPr/>
          <p:nvPr/>
        </p:nvSpPr>
        <p:spPr>
          <a:xfrm>
            <a:off x="347472" y="3035808"/>
            <a:ext cx="2697480" cy="50292"/>
          </a:xfrm>
          <a:prstGeom prst="rect">
            <a:avLst/>
          </a:prstGeom>
          <a:solidFill>
            <a:srgbClr val="C8A84B"/>
          </a:solidFill>
          <a:ln cap="flat" cmpd="sng" w="12700">
            <a:solidFill>
              <a:srgbClr val="C8A84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29"/>
          <p:cNvSpPr/>
          <p:nvPr/>
        </p:nvSpPr>
        <p:spPr>
          <a:xfrm>
            <a:off x="484632" y="3127248"/>
            <a:ext cx="242316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1628"/>
              </a:buClr>
              <a:buSzPts val="1250"/>
              <a:buFont typeface="Georgia"/>
              <a:buNone/>
            </a:pPr>
            <a:r>
              <a:rPr b="1" i="0" lang="en-GB" sz="1250" u="none" cap="none" strike="noStrike">
                <a:solidFill>
                  <a:srgbClr val="0A1628"/>
                </a:solidFill>
                <a:latin typeface="Georgia"/>
                <a:ea typeface="Georgia"/>
                <a:cs typeface="Georgia"/>
                <a:sym typeface="Georgia"/>
              </a:rPr>
              <a:t>  Small Sample Size Per Team</a:t>
            </a:r>
            <a:endParaRPr b="0" i="0" sz="1250" u="none" cap="none" strike="noStrike">
              <a:solidFill>
                <a:schemeClr val="dk1"/>
              </a:solidFill>
              <a:latin typeface="Calibri"/>
              <a:ea typeface="Calibri"/>
              <a:cs typeface="Calibri"/>
              <a:sym typeface="Calibri"/>
            </a:endParaRPr>
          </a:p>
        </p:txBody>
      </p:sp>
      <p:sp>
        <p:nvSpPr>
          <p:cNvPr id="348" name="Google Shape;348;p29"/>
          <p:cNvSpPr/>
          <p:nvPr/>
        </p:nvSpPr>
        <p:spPr>
          <a:xfrm>
            <a:off x="484632" y="3557016"/>
            <a:ext cx="2423160" cy="12344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44444"/>
              </a:buClr>
              <a:buSzPts val="1050"/>
              <a:buFont typeface="Calibri"/>
              <a:buNone/>
            </a:pPr>
            <a:r>
              <a:rPr b="0" i="0" lang="en-GB" sz="1050" u="none" cap="none" strike="noStrike">
                <a:solidFill>
                  <a:srgbClr val="444444"/>
                </a:solidFill>
                <a:latin typeface="Calibri"/>
                <a:ea typeface="Calibri"/>
                <a:cs typeface="Calibri"/>
                <a:sym typeface="Calibri"/>
              </a:rPr>
              <a:t>Clutch game count ranges from 24 to 46 per team (~37 avg). This is a relatively small sample for statistical inference — some team-level patterns may reflect noise rather than true performance differences.</a:t>
            </a:r>
            <a:endParaRPr b="0" i="0" sz="1050" u="none" cap="none" strike="noStrike">
              <a:solidFill>
                <a:schemeClr val="dk1"/>
              </a:solidFill>
              <a:latin typeface="Calibri"/>
              <a:ea typeface="Calibri"/>
              <a:cs typeface="Calibri"/>
              <a:sym typeface="Calibri"/>
            </a:endParaRPr>
          </a:p>
        </p:txBody>
      </p:sp>
      <p:sp>
        <p:nvSpPr>
          <p:cNvPr id="349" name="Google Shape;349;p29"/>
          <p:cNvSpPr/>
          <p:nvPr/>
        </p:nvSpPr>
        <p:spPr>
          <a:xfrm>
            <a:off x="3182112" y="3035808"/>
            <a:ext cx="2697480" cy="1920240"/>
          </a:xfrm>
          <a:prstGeom prst="rect">
            <a:avLst/>
          </a:prstGeom>
          <a:solidFill>
            <a:srgbClr val="FFFFFF"/>
          </a:solidFill>
          <a:ln cap="flat" cmpd="sng" w="12700">
            <a:solidFill>
              <a:srgbClr val="DDDDDD"/>
            </a:solidFill>
            <a:prstDash val="solid"/>
            <a:round/>
            <a:headEnd len="sm" w="sm" type="none"/>
            <a:tailEnd len="sm" w="sm" type="none"/>
          </a:ln>
          <a:effectLst>
            <a:outerShdw blurRad="1016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29"/>
          <p:cNvSpPr/>
          <p:nvPr/>
        </p:nvSpPr>
        <p:spPr>
          <a:xfrm>
            <a:off x="3182112" y="3035808"/>
            <a:ext cx="2697480" cy="50292"/>
          </a:xfrm>
          <a:prstGeom prst="rect">
            <a:avLst/>
          </a:prstGeom>
          <a:solidFill>
            <a:srgbClr val="C8A84B"/>
          </a:solidFill>
          <a:ln cap="flat" cmpd="sng" w="12700">
            <a:solidFill>
              <a:srgbClr val="C8A84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29"/>
          <p:cNvSpPr/>
          <p:nvPr/>
        </p:nvSpPr>
        <p:spPr>
          <a:xfrm>
            <a:off x="3319272" y="3127248"/>
            <a:ext cx="242316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1628"/>
              </a:buClr>
              <a:buSzPts val="1250"/>
              <a:buFont typeface="Georgia"/>
              <a:buNone/>
            </a:pPr>
            <a:r>
              <a:rPr b="1" i="0" lang="en-GB" sz="1250" u="none" cap="none" strike="noStrike">
                <a:solidFill>
                  <a:srgbClr val="0A1628"/>
                </a:solidFill>
                <a:latin typeface="Georgia"/>
                <a:ea typeface="Georgia"/>
                <a:cs typeface="Georgia"/>
                <a:sym typeface="Georgia"/>
              </a:rPr>
              <a:t> Correlation ≠ Causation</a:t>
            </a:r>
            <a:endParaRPr b="0" i="0" sz="1250" u="none" cap="none" strike="noStrike">
              <a:solidFill>
                <a:schemeClr val="dk1"/>
              </a:solidFill>
              <a:latin typeface="Calibri"/>
              <a:ea typeface="Calibri"/>
              <a:cs typeface="Calibri"/>
              <a:sym typeface="Calibri"/>
            </a:endParaRPr>
          </a:p>
        </p:txBody>
      </p:sp>
      <p:sp>
        <p:nvSpPr>
          <p:cNvPr id="352" name="Google Shape;352;p29"/>
          <p:cNvSpPr/>
          <p:nvPr/>
        </p:nvSpPr>
        <p:spPr>
          <a:xfrm>
            <a:off x="3319272" y="3557016"/>
            <a:ext cx="2423160" cy="12344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44444"/>
              </a:buClr>
              <a:buSzPts val="1050"/>
              <a:buFont typeface="Calibri"/>
              <a:buNone/>
            </a:pPr>
            <a:r>
              <a:rPr b="0" i="0" lang="en-GB" sz="1050" u="none" cap="none" strike="noStrike">
                <a:solidFill>
                  <a:srgbClr val="444444"/>
                </a:solidFill>
                <a:latin typeface="Calibri"/>
                <a:ea typeface="Calibri"/>
                <a:cs typeface="Calibri"/>
                <a:sym typeface="Calibri"/>
              </a:rPr>
              <a:t>The correlation analysis identifies associations, not causal relationships. We cannot conclude that high eFG% causes clutch wins — both may be driven by underlying team quality or opponent strength.</a:t>
            </a:r>
            <a:endParaRPr b="0" i="0" sz="1050" u="none" cap="none" strike="noStrike">
              <a:solidFill>
                <a:schemeClr val="dk1"/>
              </a:solidFill>
              <a:latin typeface="Calibri"/>
              <a:ea typeface="Calibri"/>
              <a:cs typeface="Calibri"/>
              <a:sym typeface="Calibri"/>
            </a:endParaRPr>
          </a:p>
        </p:txBody>
      </p:sp>
      <p:sp>
        <p:nvSpPr>
          <p:cNvPr id="353" name="Google Shape;353;p29"/>
          <p:cNvSpPr/>
          <p:nvPr/>
        </p:nvSpPr>
        <p:spPr>
          <a:xfrm>
            <a:off x="6016752" y="3035808"/>
            <a:ext cx="2697480" cy="1920240"/>
          </a:xfrm>
          <a:prstGeom prst="rect">
            <a:avLst/>
          </a:prstGeom>
          <a:solidFill>
            <a:srgbClr val="FFFFFF"/>
          </a:solidFill>
          <a:ln cap="flat" cmpd="sng" w="12700">
            <a:solidFill>
              <a:srgbClr val="DDDDDD"/>
            </a:solidFill>
            <a:prstDash val="solid"/>
            <a:round/>
            <a:headEnd len="sm" w="sm" type="none"/>
            <a:tailEnd len="sm" w="sm" type="none"/>
          </a:ln>
          <a:effectLst>
            <a:outerShdw blurRad="1016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29"/>
          <p:cNvSpPr/>
          <p:nvPr/>
        </p:nvSpPr>
        <p:spPr>
          <a:xfrm>
            <a:off x="6016752" y="3035808"/>
            <a:ext cx="2697480" cy="50292"/>
          </a:xfrm>
          <a:prstGeom prst="rect">
            <a:avLst/>
          </a:prstGeom>
          <a:solidFill>
            <a:srgbClr val="C8A84B"/>
          </a:solidFill>
          <a:ln cap="flat" cmpd="sng" w="12700">
            <a:solidFill>
              <a:srgbClr val="C8A84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29"/>
          <p:cNvSpPr/>
          <p:nvPr/>
        </p:nvSpPr>
        <p:spPr>
          <a:xfrm>
            <a:off x="6153912" y="3127248"/>
            <a:ext cx="242316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1628"/>
              </a:buClr>
              <a:buSzPts val="1250"/>
              <a:buFont typeface="Georgia"/>
              <a:buNone/>
            </a:pPr>
            <a:r>
              <a:rPr b="1" i="0" lang="en-GB" sz="1250" u="none" cap="none" strike="noStrike">
                <a:solidFill>
                  <a:srgbClr val="0A1628"/>
                </a:solidFill>
                <a:latin typeface="Georgia"/>
                <a:ea typeface="Georgia"/>
                <a:cs typeface="Georgia"/>
                <a:sym typeface="Georgia"/>
              </a:rPr>
              <a:t>  No Opponent Adjustment</a:t>
            </a:r>
            <a:endParaRPr b="0" i="0" sz="1250" u="none" cap="none" strike="noStrike">
              <a:solidFill>
                <a:schemeClr val="dk1"/>
              </a:solidFill>
              <a:latin typeface="Calibri"/>
              <a:ea typeface="Calibri"/>
              <a:cs typeface="Calibri"/>
              <a:sym typeface="Calibri"/>
            </a:endParaRPr>
          </a:p>
        </p:txBody>
      </p:sp>
      <p:sp>
        <p:nvSpPr>
          <p:cNvPr id="356" name="Google Shape;356;p29"/>
          <p:cNvSpPr/>
          <p:nvPr/>
        </p:nvSpPr>
        <p:spPr>
          <a:xfrm>
            <a:off x="6153912" y="3557016"/>
            <a:ext cx="2423160" cy="12344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44444"/>
              </a:buClr>
              <a:buSzPts val="1050"/>
              <a:buFont typeface="Calibri"/>
              <a:buNone/>
            </a:pPr>
            <a:r>
              <a:rPr b="0" i="0" lang="en-GB" sz="1050" u="none" cap="none" strike="noStrike">
                <a:solidFill>
                  <a:srgbClr val="444444"/>
                </a:solidFill>
                <a:latin typeface="Calibri"/>
                <a:ea typeface="Calibri"/>
                <a:cs typeface="Calibri"/>
                <a:sym typeface="Calibri"/>
              </a:rPr>
              <a:t>Stats are not adjusted for opponent strength in clutch situations. A team facing weak opponents in clutch moments may inflate its clutch win% without being a genuinely elite clutch team.</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